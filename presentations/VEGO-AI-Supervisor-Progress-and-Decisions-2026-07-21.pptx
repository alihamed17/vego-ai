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e478c272142b2" /><Relationship Type="http://schemas.openxmlformats.org/officeDocument/2006/relationships/extended-properties" Target="/docProps/app.xml" Id="Re99ce62d31694e93" /><Relationship Type="http://schemas.openxmlformats.org/officeDocument/2006/relationships/officeDocument" Target="/ppt/presentation.xml" Id="R297c98b856e8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8eb72b6c0b4b3a"/>
  </p:sldMasterIdLst>
  <p:notesMasterIdLst>
    <p:notesMasterId xmlns:r="http://schemas.openxmlformats.org/officeDocument/2006/relationships" r:id="R4ac293f000234927"/>
  </p:notesMasterIdLst>
  <p:sldIdLst>
    <p:sldId xmlns:r="http://schemas.openxmlformats.org/officeDocument/2006/relationships" id="256" r:id="Rc3c95afb10f74360"/>
    <p:sldId xmlns:r="http://schemas.openxmlformats.org/officeDocument/2006/relationships" id="257" r:id="Re251899816a748c0"/>
    <p:sldId xmlns:r="http://schemas.openxmlformats.org/officeDocument/2006/relationships" id="258" r:id="Rc6141c34603e4b44"/>
    <p:sldId xmlns:r="http://schemas.openxmlformats.org/officeDocument/2006/relationships" id="259" r:id="R55a142284c6e44fc"/>
    <p:sldId xmlns:r="http://schemas.openxmlformats.org/officeDocument/2006/relationships" id="260" r:id="R15b9cbd283e542db"/>
    <p:sldId xmlns:r="http://schemas.openxmlformats.org/officeDocument/2006/relationships" id="261" r:id="Re67f84ddd59d42c2"/>
    <p:sldId xmlns:r="http://schemas.openxmlformats.org/officeDocument/2006/relationships" id="262" r:id="R0522424a405d4a39"/>
    <p:sldId xmlns:r="http://schemas.openxmlformats.org/officeDocument/2006/relationships" id="263" r:id="R474c9fa050d54728"/>
    <p:sldId xmlns:r="http://schemas.openxmlformats.org/officeDocument/2006/relationships" id="264" r:id="R85c721280a9f4604"/>
    <p:sldId xmlns:r="http://schemas.openxmlformats.org/officeDocument/2006/relationships" id="265" r:id="R5bb56207e80343ee"/>
    <p:sldId xmlns:r="http://schemas.openxmlformats.org/officeDocument/2006/relationships" id="266" r:id="R96b92a4d293b4b52"/>
    <p:sldId xmlns:r="http://schemas.openxmlformats.org/officeDocument/2006/relationships" id="267" r:id="Rb0e9ef9beadb4d1e"/>
    <p:sldId xmlns:r="http://schemas.openxmlformats.org/officeDocument/2006/relationships" id="268" r:id="R99ca338436a74049"/>
    <p:sldId xmlns:r="http://schemas.openxmlformats.org/officeDocument/2006/relationships" id="269" r:id="R10abd6e5beb44f19"/>
    <p:sldId xmlns:r="http://schemas.openxmlformats.org/officeDocument/2006/relationships" id="270" r:id="Rcfbf8ad62339492a"/>
    <p:sldId xmlns:r="http://schemas.openxmlformats.org/officeDocument/2006/relationships" id="271" r:id="R40827e88cb534010"/>
    <p:sldId xmlns:r="http://schemas.openxmlformats.org/officeDocument/2006/relationships" id="272" r:id="R7133dd65054f4367"/>
    <p:sldId xmlns:r="http://schemas.openxmlformats.org/officeDocument/2006/relationships" id="273" r:id="R31e61678eae7494e"/>
    <p:sldId xmlns:r="http://schemas.openxmlformats.org/officeDocument/2006/relationships" id="274" r:id="Rb910326ce7b24c78"/>
    <p:sldId xmlns:r="http://schemas.openxmlformats.org/officeDocument/2006/relationships" id="275" r:id="R5b912a30c87d49d0"/>
    <p:sldId xmlns:r="http://schemas.openxmlformats.org/officeDocument/2006/relationships" id="276" r:id="R7bda92b5ddf84d96"/>
    <p:sldId xmlns:r="http://schemas.openxmlformats.org/officeDocument/2006/relationships" id="277" r:id="R758df6b1f34749c0"/>
    <p:sldId xmlns:r="http://schemas.openxmlformats.org/officeDocument/2006/relationships" id="278" r:id="R29ab8b4c372e42f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7644e5a2af4e32" /><Relationship Type="http://schemas.openxmlformats.org/officeDocument/2006/relationships/slideMaster" Target="/ppt/slideMasters/slideMaster1.xml" Id="R6f8eb72b6c0b4b3a" /><Relationship Type="http://schemas.openxmlformats.org/officeDocument/2006/relationships/notesMaster" Target="/ppt/notesMasters/notesMaster1.xml" Id="R4ac293f000234927" /><Relationship Type="http://schemas.openxmlformats.org/officeDocument/2006/relationships/presProps" Target="/ppt/presProps.xml" Id="Rf9c73a32a7a54407" /><Relationship Type="http://schemas.openxmlformats.org/officeDocument/2006/relationships/tableStyles" Target="/ppt/tableStyles.xml" Id="R71cb79f0b05b4c46" /><Relationship Type="http://schemas.openxmlformats.org/officeDocument/2006/relationships/slide" Target="/ppt/slides/slide1.xml" Id="Rc3c95afb10f74360" /><Relationship Type="http://schemas.openxmlformats.org/officeDocument/2006/relationships/slide" Target="/ppt/slides/slide2.xml" Id="Re251899816a748c0" /><Relationship Type="http://schemas.openxmlformats.org/officeDocument/2006/relationships/slide" Target="/ppt/slides/slide3.xml" Id="Rc6141c34603e4b44" /><Relationship Type="http://schemas.openxmlformats.org/officeDocument/2006/relationships/slide" Target="/ppt/slides/slide4.xml" Id="R55a142284c6e44fc" /><Relationship Type="http://schemas.openxmlformats.org/officeDocument/2006/relationships/slide" Target="/ppt/slides/slide5.xml" Id="R15b9cbd283e542db" /><Relationship Type="http://schemas.openxmlformats.org/officeDocument/2006/relationships/slide" Target="/ppt/slides/slide6.xml" Id="Re67f84ddd59d42c2" /><Relationship Type="http://schemas.openxmlformats.org/officeDocument/2006/relationships/slide" Target="/ppt/slides/slide7.xml" Id="R0522424a405d4a39" /><Relationship Type="http://schemas.openxmlformats.org/officeDocument/2006/relationships/slide" Target="/ppt/slides/slide8.xml" Id="R474c9fa050d54728" /><Relationship Type="http://schemas.openxmlformats.org/officeDocument/2006/relationships/slide" Target="/ppt/slides/slide9.xml" Id="R85c721280a9f4604" /><Relationship Type="http://schemas.openxmlformats.org/officeDocument/2006/relationships/slide" Target="/ppt/slides/slide10.xml" Id="R5bb56207e80343ee" /><Relationship Type="http://schemas.openxmlformats.org/officeDocument/2006/relationships/slide" Target="/ppt/slides/slide11.xml" Id="R96b92a4d293b4b52" /><Relationship Type="http://schemas.openxmlformats.org/officeDocument/2006/relationships/slide" Target="/ppt/slides/slide12.xml" Id="Rb0e9ef9beadb4d1e" /><Relationship Type="http://schemas.openxmlformats.org/officeDocument/2006/relationships/slide" Target="/ppt/slides/slide13.xml" Id="R99ca338436a74049" /><Relationship Type="http://schemas.openxmlformats.org/officeDocument/2006/relationships/slide" Target="/ppt/slides/slide14.xml" Id="R10abd6e5beb44f19" /><Relationship Type="http://schemas.openxmlformats.org/officeDocument/2006/relationships/slide" Target="/ppt/slides/slide15.xml" Id="Rcfbf8ad62339492a" /><Relationship Type="http://schemas.openxmlformats.org/officeDocument/2006/relationships/slide" Target="/ppt/slides/slide16.xml" Id="R40827e88cb534010" /><Relationship Type="http://schemas.openxmlformats.org/officeDocument/2006/relationships/slide" Target="/ppt/slides/slide17.xml" Id="R7133dd65054f4367" /><Relationship Type="http://schemas.openxmlformats.org/officeDocument/2006/relationships/slide" Target="/ppt/slides/slide18.xml" Id="R31e61678eae7494e" /><Relationship Type="http://schemas.openxmlformats.org/officeDocument/2006/relationships/slide" Target="/ppt/slides/slide19.xml" Id="Rb910326ce7b24c78" /><Relationship Type="http://schemas.openxmlformats.org/officeDocument/2006/relationships/slide" Target="/ppt/slides/slide20.xml" Id="R5b912a30c87d49d0" /><Relationship Type="http://schemas.openxmlformats.org/officeDocument/2006/relationships/slide" Target="/ppt/slides/slide21.xml" Id="R7bda92b5ddf84d96" /><Relationship Type="http://schemas.openxmlformats.org/officeDocument/2006/relationships/slide" Target="/ppt/slides/slide22.xml" Id="R758df6b1f34749c0" /><Relationship Type="http://schemas.openxmlformats.org/officeDocument/2006/relationships/slide" Target="/ppt/slides/slide23.xml" Id="R29ab8b4c372e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5ee25c9fb49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ba01703f8b4621" /><Relationship Type="http://schemas.openxmlformats.org/officeDocument/2006/relationships/notesMaster" Target="/ppt/notesMasters/notesMaster1.xml" Id="Re9b44566dc6a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a723d93394ee5" /><Relationship Type="http://schemas.openxmlformats.org/officeDocument/2006/relationships/notesMaster" Target="/ppt/notesMasters/notesMaster1.xml" Id="R7324c060ce95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37b3f15c474bff" /><Relationship Type="http://schemas.openxmlformats.org/officeDocument/2006/relationships/notesMaster" Target="/ppt/notesMasters/notesMaster1.xml" Id="R1d8f9ccc58cc4a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9441d00ca4d88" /><Relationship Type="http://schemas.openxmlformats.org/officeDocument/2006/relationships/notesMaster" Target="/ppt/notesMasters/notesMaster1.xml" Id="R887f23ecbe654b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07238a1b114de4" /><Relationship Type="http://schemas.openxmlformats.org/officeDocument/2006/relationships/notesMaster" Target="/ppt/notesMasters/notesMaster1.xml" Id="Rf528432de2b04e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5915824f4c4f0d" /><Relationship Type="http://schemas.openxmlformats.org/officeDocument/2006/relationships/notesMaster" Target="/ppt/notesMasters/notesMaster1.xml" Id="Rc3f80b7a33124b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4059d22c241c0" /><Relationship Type="http://schemas.openxmlformats.org/officeDocument/2006/relationships/notesMaster" Target="/ppt/notesMasters/notesMaster1.xml" Id="R2052e50e95a748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acdd7ee3d64f13" /><Relationship Type="http://schemas.openxmlformats.org/officeDocument/2006/relationships/notesMaster" Target="/ppt/notesMasters/notesMaster1.xml" Id="R2122fe1db66242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00950b0a0f4d0c" /><Relationship Type="http://schemas.openxmlformats.org/officeDocument/2006/relationships/notesMaster" Target="/ppt/notesMasters/notesMaster1.xml" Id="R6573a6dcd18244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116b603714103" /><Relationship Type="http://schemas.openxmlformats.org/officeDocument/2006/relationships/notesMaster" Target="/ppt/notesMasters/notesMaster1.xml" Id="Rc436d54e9ad647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743e87756948ce" /><Relationship Type="http://schemas.openxmlformats.org/officeDocument/2006/relationships/notesMaster" Target="/ppt/notesMasters/notesMaster1.xml" Id="R356d16c242c548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e9f43cc28147b6" /><Relationship Type="http://schemas.openxmlformats.org/officeDocument/2006/relationships/notesMaster" Target="/ppt/notesMasters/notesMaster1.xml" Id="R4a80badaf7ed49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74e054b0ed485f" /><Relationship Type="http://schemas.openxmlformats.org/officeDocument/2006/relationships/notesMaster" Target="/ppt/notesMasters/notesMaster1.xml" Id="R55041b3fa5f845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8f7d4baac740b3" /><Relationship Type="http://schemas.openxmlformats.org/officeDocument/2006/relationships/notesMaster" Target="/ppt/notesMasters/notesMaster1.xml" Id="Rf2d4ba0a096740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e00bd187b943fa" /><Relationship Type="http://schemas.openxmlformats.org/officeDocument/2006/relationships/notesMaster" Target="/ppt/notesMasters/notesMaster1.xml" Id="Rdd3d23b7875a4b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77f56c9e77414e" /><Relationship Type="http://schemas.openxmlformats.org/officeDocument/2006/relationships/notesMaster" Target="/ppt/notesMasters/notesMaster1.xml" Id="Rfc7c7e956be34e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362f8dae5c434d" /><Relationship Type="http://schemas.openxmlformats.org/officeDocument/2006/relationships/notesMaster" Target="/ppt/notesMasters/notesMaster1.xml" Id="R993e298d73c84e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26bdb922d743fb" /><Relationship Type="http://schemas.openxmlformats.org/officeDocument/2006/relationships/notesMaster" Target="/ppt/notesMasters/notesMaster1.xml" Id="R95bac68df4c74d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432fefbf39437f" /><Relationship Type="http://schemas.openxmlformats.org/officeDocument/2006/relationships/notesMaster" Target="/ppt/notesMasters/notesMaster1.xml" Id="Ra4b9f91e39104a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6445b01e274a85" /><Relationship Type="http://schemas.openxmlformats.org/officeDocument/2006/relationships/notesMaster" Target="/ppt/notesMasters/notesMaster1.xml" Id="Rc8c4ee41205044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0fd01acae74c04" /><Relationship Type="http://schemas.openxmlformats.org/officeDocument/2006/relationships/notesMaster" Target="/ppt/notesMasters/notesMaster1.xml" Id="R5e392597db0342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a209c4dc8f474e" /><Relationship Type="http://schemas.openxmlformats.org/officeDocument/2006/relationships/notesMaster" Target="/ppt/notesMasters/notesMaster1.xml" Id="Reebcb7b3c67845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db5e6a98d94a5d" /><Relationship Type="http://schemas.openxmlformats.org/officeDocument/2006/relationships/notesMaster" Target="/ppt/notesMasters/notesMaster1.xml" Id="R792b12ab626b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1:15. Open with the meeting objective: confirm the July 1 record, review July 3–20 progress, and record M-02–M-06. State that silence is Deferred, not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1:30. Ask Iris and Arnon to accept, correct, qualify, or defer the D1–D12 paraphrases and attributed actions. Raw ASR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1:30. Explain the framework-first redirect: observe early, capture human judgment, verify it, and reuse only under human authority. Architecture remains proposal-only.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1:30. Separate the framework track from evaluation. EXP-005 has 24 candidates and 0 supplied labels; EXP-012 is not computable.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1:30. Show H1/H2/H3 and S1–S7 as provisional requirements. No final prompt text or live listener is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2:00. Report Iteration 14 and offline mechanism evidence. Say NEUTRAL/reliability-only. Do not imply accuracy, generalization, correctness, or reduced effort at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1:45. M-02: recommend Observer + Integrator while preserving visible H1/H2/H3 groupings. Record the actual outcome and rationale.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2:00. M-03: threshold_sev2 is a replay pilot candidate, retaining about 80% load. No uniform or adaptive cap is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1:45. M-04: recommend deterministic source checks first. Source families and two-round bound remain proposals. Persistent conflict goes to adjudication.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1:45. M-05: every phase-one correction requires human approval. Timeout preserves baseline and parks. Live hooks need both allowed-touch and implementation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1:15. M-06: keep education as the MSc empirical scope. MediVARIA is proposal-only future work with no clinical claim or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2:15. Read back M-01–M-06: outcome, selected value, rationale, approver, owner, due date, constraints, and affected artifacts. End here; do not use a generic thank-you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D1–D6 record matrix. Every row remains a machine-derived paraphrase pending M-01.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D7–D12 record matrix. Later deliverables and future proposals are not supervisor-approved.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Selected Hebrew ASR only. All excerpts remain unreviewed; English wording is paraphrase.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E1–E10 provisional event catalog. Offline design only; no live listener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E11–E15 and governed channels. E15 is evaluation-only and cannot produce a framework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S1–S7 grouping. Skill names and decomposition remain provisional pending M-02.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Prompt-requirements traceability. Requirements only; no final prompt text or runtime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Offline method and evidence classes. Synthetic fixtures are not human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EXP-005 stop/go gate. Twenty-four candidates, zero supplied labels, no accuracy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Future comparison design is parked until architecture approval, at least 20 safe labels, and supervisor go-ahead.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Appendix—use only if asked. MediVARIA is proposal-only future work; no transferability or clinical-performance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398079b8b432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0cd23f3894439" /><Relationship Type="http://schemas.openxmlformats.org/officeDocument/2006/relationships/slideLayout" Target="/ppt/slideLayouts/slideLayout1.xml" Id="R5af4dc8094c34b7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4dc8094c34b75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b5a142b194417" /><Relationship Type="http://schemas.openxmlformats.org/officeDocument/2006/relationships/notesSlide" Target="/ppt/notesSlides/notesSlide1.xml" Id="R86f676f452c0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ea84d2d114abd" /><Relationship Type="http://schemas.openxmlformats.org/officeDocument/2006/relationships/notesSlide" Target="/ppt/notesSlides/notesSlide2.xml" Id="R4b28fbe918f6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ce35493264e10" /><Relationship Type="http://schemas.openxmlformats.org/officeDocument/2006/relationships/notesSlide" Target="/ppt/notesSlides/notesSlide3.xml" Id="R9ebc9217ba79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552a1bf6e4ef1" /><Relationship Type="http://schemas.openxmlformats.org/officeDocument/2006/relationships/notesSlide" Target="/ppt/notesSlides/notesSlide4.xml" Id="R160e5b304544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5586c83534bfc" /><Relationship Type="http://schemas.openxmlformats.org/officeDocument/2006/relationships/notesSlide" Target="/ppt/notesSlides/notesSlide5.xml" Id="R4f535a781c1f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a1aa35849452f" /><Relationship Type="http://schemas.openxmlformats.org/officeDocument/2006/relationships/notesSlide" Target="/ppt/notesSlides/notesSlide6.xml" Id="Rb57ece225b9146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bff9e4bb4f4f" /><Relationship Type="http://schemas.openxmlformats.org/officeDocument/2006/relationships/notesSlide" Target="/ppt/notesSlides/notesSlide7.xml" Id="Rfb60701131f7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e3be9ca2f4f2f" /><Relationship Type="http://schemas.openxmlformats.org/officeDocument/2006/relationships/notesSlide" Target="/ppt/notesSlides/notesSlide8.xml" Id="R1fab3f560831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d69df5584463c" /><Relationship Type="http://schemas.openxmlformats.org/officeDocument/2006/relationships/notesSlide" Target="/ppt/notesSlides/notesSlide9.xml" Id="R03fa80bc6d26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e6b8efa3d49f4" /><Relationship Type="http://schemas.openxmlformats.org/officeDocument/2006/relationships/notesSlide" Target="/ppt/notesSlides/notesSlide10.xml" Id="R7bff7ca074064b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5acdfe3d4f00" /><Relationship Type="http://schemas.openxmlformats.org/officeDocument/2006/relationships/notesSlide" Target="/ppt/notesSlides/notesSlide11.xml" Id="R1e1fda8a6aef4d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0dbec442a47a4" /><Relationship Type="http://schemas.openxmlformats.org/officeDocument/2006/relationships/notesSlide" Target="/ppt/notesSlides/notesSlide12.xml" Id="R8681f484fa734b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c877915f247dd" /><Relationship Type="http://schemas.openxmlformats.org/officeDocument/2006/relationships/notesSlide" Target="/ppt/notesSlides/notesSlide13.xml" Id="R01c2af3795314c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8db413644b79" /><Relationship Type="http://schemas.openxmlformats.org/officeDocument/2006/relationships/notesSlide" Target="/ppt/notesSlides/notesSlide14.xml" Id="Rfa6488ea16df4e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d9e8664594473" /><Relationship Type="http://schemas.openxmlformats.org/officeDocument/2006/relationships/notesSlide" Target="/ppt/notesSlides/notesSlide15.xml" Id="R74c4b2426b644a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8d3507e63436c" /><Relationship Type="http://schemas.openxmlformats.org/officeDocument/2006/relationships/notesSlide" Target="/ppt/notesSlides/notesSlide16.xml" Id="Rd563afd6da3a4b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1388d23e240cd" /><Relationship Type="http://schemas.openxmlformats.org/officeDocument/2006/relationships/notesSlide" Target="/ppt/notesSlides/notesSlide17.xml" Id="Rd0c59457c9d647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e2c811d9a4b34" /><Relationship Type="http://schemas.openxmlformats.org/officeDocument/2006/relationships/notesSlide" Target="/ppt/notesSlides/notesSlide18.xml" Id="R2d24537501f642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e5e322dfd4be1" /><Relationship Type="http://schemas.openxmlformats.org/officeDocument/2006/relationships/notesSlide" Target="/ppt/notesSlides/notesSlide19.xml" Id="Rc2f395d04ea647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e16f780854444" /><Relationship Type="http://schemas.openxmlformats.org/officeDocument/2006/relationships/notesSlide" Target="/ppt/notesSlides/notesSlide20.xml" Id="Rd37bd181753f4b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60b3029ca4c9e" /><Relationship Type="http://schemas.openxmlformats.org/officeDocument/2006/relationships/notesSlide" Target="/ppt/notesSlides/notesSlide21.xml" Id="R42532399d86442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857db878422a" /><Relationship Type="http://schemas.openxmlformats.org/officeDocument/2006/relationships/notesSlide" Target="/ppt/notesSlides/notesSlide22.xml" Id="R370c2e3a949f4c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184f62d9e4c42" /><Relationship Type="http://schemas.openxmlformats.org/officeDocument/2006/relationships/notesSlide" Target="/ppt/notesSlides/notesSlide23.xml" Id="Rca9bd5c6927249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03D9B3-9498-4CFA-91FC-96D84F7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289536C-EAC0-4785-9EA7-7935917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B9CE89-5476-49E0-B639-949693B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14400"/>
            <a:ext cx="76809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VEGO-AI H-Layer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July 21 Decision Package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486EAF-FBED-42F4-94C0-A50E9122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Confirm the record, review progress, and decide M-02–M-06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11BCBF1-B447-4D72-851B-5599EDB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A855F7">
                <a:alpha val="40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829051-96C4-4BC7-9FCC-AFFA282D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Ali Hamed  |  Iris + Arnon follow-up  |  </a:t>
            </a: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21 July 2026</a:t>
            </a:r>
          </a:p>
        </p:txBody>
      </p:sp>
      <p:sp>
        <p:nvSpPr>
          <p:cNvPr id="8" name="provenance-footer-1">
            <a:extLst xmlns:a="http://schemas.openxmlformats.org/drawingml/2006/main">
              <a:ext uri="{FF2B5EF4-FFF2-40B4-BE49-F238E27FC236}">
                <a16:creationId xmlns:a16="http://schemas.microsoft.com/office/drawing/2014/main" id="{BAFE9694-2BA1-4227-8B72-E2B0772A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1 / 23</a:t>
            </a:r>
          </a:p>
        </p:txBody>
      </p:sp>
    </p:spTree>
    <p:extLst>
      <p:ext uri="{BB962C8B-B14F-4D97-AF65-F5344CB8AC3E}">
        <p14:creationId xmlns:p14="http://schemas.microsoft.com/office/powerpoint/2010/main" val="2142343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95FD20-1CC3-4649-918F-B27EDE0B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1510B5B-72EF-4E93-8BB3-99F1291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E4B57CD-440C-414F-9156-E16AF53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RECORD | Confirm or correct the July 1 account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758664A-1959-4903-81D2-44F16095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86868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B6504-C7BA-46B0-A979-E999C59A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051560"/>
            <a:ext cx="157276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35:12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A74697-FBDC-47D6-BEBC-A563247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57400"/>
            <a:ext cx="15727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Recording duration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raw source kept local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00516CF-4775-40BA-B64E-BDE4289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86868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2681AB-0626-4B59-B497-128F2B7F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1051560"/>
            <a:ext cx="157276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14BBCD-A880-442A-B4A3-EB23CAE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057400"/>
            <a:ext cx="15727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D1-D12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with timestamps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118EEDF-6F5E-4D76-BCD0-2372C08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86868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4C4E99-ADE0-4CEE-A398-CB9C920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1051560"/>
            <a:ext cx="157276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F43855-6B8C-4675-AD19-3F89AC7F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2057400"/>
            <a:ext cx="15727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Verified quotations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none yet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CC665D-CFD9-4B79-A38D-0A7468F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86868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C3502B7-AB51-445C-B5A1-6D2F50A9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051560"/>
            <a:ext cx="157276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5DBD1D-9518-48F1-85A7-31B3D7BD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2057400"/>
            <a:ext cx="15727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Chronology layers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record, drafts, decisions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7E62674-B201-480A-B734-9A2B6DF6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86868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958506C-0773-4A62-92E3-BEB660A2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1051560"/>
            <a:ext cx="157276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M-01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D0ABE9A-610A-45FD-977C-6C60C81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057400"/>
            <a:ext cx="15727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Decision today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accept, correct, qualify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A9983B2-EB68-4C3C-8D5A-B3E9FEC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246120"/>
            <a:ext cx="8503920" cy="146304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EFAB50A-3BD9-48EC-A8FF-7A4B0D4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Record status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5A4050-11AE-423F-B280-BA474500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Canonical machine-derived notes; not human-approved. Speaker labels are inferred and English is paraphrase. Confirm directives, actions, and attribution without changing raw ASR.</a:t>
            </a:r>
          </a:p>
        </p:txBody>
      </p:sp>
      <p:sp>
        <p:nvSpPr>
          <p:cNvPr id="23" name="provenance-footer-2">
            <a:extLst xmlns:a="http://schemas.openxmlformats.org/drawingml/2006/main">
              <a:ext uri="{FF2B5EF4-FFF2-40B4-BE49-F238E27FC236}">
                <a16:creationId xmlns:a16="http://schemas.microsoft.com/office/drawing/2014/main" id="{4C80A3F3-E8C3-44CF-9F7F-F6F7AB2B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RECORD  |  VEGO-AI supervisor package  |  2 / 23</a:t>
            </a:r>
          </a:p>
        </p:txBody>
      </p:sp>
    </p:spTree>
    <p:extLst>
      <p:ext uri="{BB962C8B-B14F-4D97-AF65-F5344CB8AC3E}">
        <p14:creationId xmlns:p14="http://schemas.microsoft.com/office/powerpoint/2010/main" val="1862772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79FCC1-77CA-4ABB-A083-7277AD6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3694C3-71C3-4AC8-AC65-30218EF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DC0EA1-D45F-402E-AA9E-336AB6D2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RECORD | The redirect makes the H-layer part of the framework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03E3D1-A959-4699-B994-24563CD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296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31E86D7-4500-4FD9-AB69-104DDFD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4510B3-650C-483A-936F-EE40E5EB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A1-A4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F74030A-4DDF-4988-B014-5D8A76E6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13898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Baseline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Agents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BDAF658-C704-4D72-8F2F-5BEA4B4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3898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4EA60B2-FCD5-4D79-B6DA-F666F0F2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1554480"/>
            <a:ext cx="210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E67A7A5-1CBC-41DC-BA37-DA4B8F6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82296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DE9BC43-C611-419E-A312-61B74563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73152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6366F1">
                <a:alpha val="2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3C56F4-DE1D-4E75-9118-127B079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7315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36C54C2-39CC-4789-A2EB-4BD128E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88720"/>
            <a:ext cx="13898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Listen +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Triage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76F519-2E83-408D-B92B-792E9F7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011680"/>
            <a:ext cx="13898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S1-S3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B4E7037-1616-43C9-8BB7-8F75C638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554480"/>
            <a:ext cx="210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AB5499F-47F4-4892-ADFA-7FB7374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82296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4754575-8AD6-438A-AEA1-43707723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3152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5F7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A855F7">
                <a:alpha val="25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F7CFE37-A294-4D0E-A00E-E33585BE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315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H2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7CD1C0-1FC6-40F0-960A-21040EF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88720"/>
            <a:ext cx="13898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Capture +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3D8BDC4-D0C5-4211-A611-04AFA9A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11680"/>
            <a:ext cx="13898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S4-S5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CE40A6-C25E-4CAC-A138-770AE67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1554480"/>
            <a:ext cx="210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4935043-03EF-443A-8646-68B12BC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82296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06B6D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9D50A5-109F-416F-BC8A-ACF364F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73152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06B6D4">
                <a:alpha val="2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A8E05FE-5546-4C4F-A48A-CD34379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7315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1363ED-67AF-41F1-A2D6-049A613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88720"/>
            <a:ext cx="13898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Integrate +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526D69-786E-4F22-AE0F-72883B64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011680"/>
            <a:ext cx="13898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S6-S7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E96F3EA-21F9-4D84-80A1-8941B55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554480"/>
            <a:ext cx="210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2C13A15-945D-458C-BD70-3C7F9E7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822960"/>
            <a:ext cx="1572768" cy="210312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C1551E2-EA2F-418A-BAAA-09BF8D8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73152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1C25815-A649-4AF9-BF93-1476779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7315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PARK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B72BE52-3472-408E-93F6-1B7AB0E5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188720"/>
            <a:ext cx="13898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Evaluation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Track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017EF29-3C96-4E43-B557-EA9D479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11680"/>
            <a:ext cx="13898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Later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6086DC5-1536-49CE-8822-AB34B47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154680"/>
            <a:ext cx="2011680" cy="54864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28E5098-4481-490F-BA66-AB4C49E1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15468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Human Reviewer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232E20F-D0A8-43D9-9265-9191287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816352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59E0B"/>
                </a:solidFill>
              </a:rPr>
              <a:t>↕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3A4D66-151F-40BC-A6A6-4682E55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Two communication circles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03B935F-DC04-43E5-A0AE-68F15A3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14800"/>
            <a:ext cx="1572768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8578F71-88CC-48A2-B9A7-0D3553C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14800"/>
            <a:ext cx="15727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Artifact exchange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CEA361F-A699-44E2-B0C5-2EFADBC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114800"/>
            <a:ext cx="1572768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5FC38B3-C98D-4315-8EEE-136D86B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114800"/>
            <a:ext cx="15727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Q&amp;A dialogue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8031C71-22E9-4F58-A852-6B55CADF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114800"/>
            <a:ext cx="1572768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B13EC2D-97AA-43A4-938A-6487EE8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114800"/>
            <a:ext cx="15727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Early intervention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E3CDBB9B-1F69-423A-B427-EEFA768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114800"/>
            <a:ext cx="1572768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220A84B-1603-463A-99EC-0B90BCE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114800"/>
            <a:ext cx="15727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Configurable dosage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95EF634-18FA-4640-B947-75DE181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114800"/>
            <a:ext cx="1572768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4AD075C-A393-49F6-92C1-BFCF0DD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114800"/>
            <a:ext cx="15727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Bounded convergence</a:t>
            </a:r>
          </a:p>
        </p:txBody>
      </p:sp>
      <p:sp>
        <p:nvSpPr>
          <p:cNvPr id="48" name="provenance-footer-3">
            <a:extLst xmlns:a="http://schemas.openxmlformats.org/drawingml/2006/main">
              <a:ext uri="{FF2B5EF4-FFF2-40B4-BE49-F238E27FC236}">
                <a16:creationId xmlns:a16="http://schemas.microsoft.com/office/drawing/2014/main" id="{802D6D02-5076-45C0-9C89-01DB9DC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RECORD  |  VEGO-AI supervisor package  |  3 / 23</a:t>
            </a:r>
          </a:p>
        </p:txBody>
      </p:sp>
    </p:spTree>
    <p:extLst>
      <p:ext uri="{BB962C8B-B14F-4D97-AF65-F5344CB8AC3E}">
        <p14:creationId xmlns:p14="http://schemas.microsoft.com/office/powerpoint/2010/main" val="148130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585AC08-4BCD-4334-A52A-A43397C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CB9F3D3-EB41-496A-B4DF-353D35F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ED5C48-EDF9-4B57-835C-FD45563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RECORD | Framework and evaluation are separate tracks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3EAB199-110D-49AB-A118-E7FA9DC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206240" cy="393192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270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892FEF0-AC1E-4283-B396-6295F0E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18288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46BBF4-786B-44CE-9896-36131A0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FRAMEWORK | OFFLINE DESIGN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37163A7-AD73-453A-8FE5-0C4EB45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F5DA1B-DDFB-48B2-99C9-5964EB9B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H-layer listens across both circles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D77BA9-FECF-47B3-8018-46927C5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DE04818-A99F-4DBC-BB88-495BBFB8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Intervention can occur before Agent 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673129-62C2-4740-8B2B-B875CEC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BD16535-00CB-496E-A185-0F10C43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H1/H2/H3 functions need a design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9FD236-FAE9-4252-85DF-8DD613BE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595527-2672-4DAD-9198-713FE65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Skills map and prompt requirements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A0DE75C-8157-41D1-9C31-ACE9D01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53936BB-AF2B-4096-B23A-229F3F5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75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Bidirectional interface and learning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DDA658-DC43-4F65-9275-B2CD296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B991B1F-3792-425A-A3FD-04C2CD0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Decisions M-02 through M-05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AF22047-3608-468F-98BD-2234B727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4206240" cy="393192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270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08A78A0-C411-43E4-8272-025296A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685800"/>
            <a:ext cx="18288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37B5AFA-5A54-4876-B210-B2BBBA2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6858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| PARKED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72CF16-D7D8-421F-A5D1-86165EAC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1887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5FE2D4D-1893-43B0-AB8E-4A76C15B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1887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Version 0 versus Version 1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7315115-240D-43BF-9FE8-DAE882F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459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8768F47-E980-4964-8CD9-0FAACBDA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459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Accuracy and generalization questions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9FFC632-6000-4CDD-BEA3-2577F72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1031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F12EC1F-8CB0-427A-A3CF-510D384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1031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Usability questionnaire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BF05EC5-C0FF-4374-B5F7-223487C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5603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B4F2C5A-2111-4A24-BCC5-5D429130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603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EXP-005 real-label gate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EE47E3-03BD-4828-87D2-7774DB7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0175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E6AFAD8-D195-4661-96DB-FD7E85B4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External pilots remain candidates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8F5D4AC-3D8C-4DA5-A1BE-B65C9E0B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47472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D31BD8F-19DA-4803-AEA9-07EBB4FC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747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Resume only after framework approval</a:t>
            </a:r>
          </a:p>
        </p:txBody>
      </p:sp>
      <p:sp>
        <p:nvSpPr>
          <p:cNvPr id="35" name="provenance-footer-4">
            <a:extLst xmlns:a="http://schemas.openxmlformats.org/drawingml/2006/main">
              <a:ext uri="{FF2B5EF4-FFF2-40B4-BE49-F238E27FC236}">
                <a16:creationId xmlns:a16="http://schemas.microsoft.com/office/drawing/2014/main" id="{E4E21A52-9B79-4D14-8898-F82CF9CB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4 / 23</a:t>
            </a:r>
          </a:p>
        </p:txBody>
      </p:sp>
    </p:spTree>
    <p:extLst>
      <p:ext uri="{BB962C8B-B14F-4D97-AF65-F5344CB8AC3E}">
        <p14:creationId xmlns:p14="http://schemas.microsoft.com/office/powerpoint/2010/main" val="907498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61C74F-A55E-4DEB-9E74-B8059F39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80F886-BA05-4CD3-8E59-A30110A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7A7808-6702-47FE-98AD-3B36494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WORKING DRAFT | The requested design package is ready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1DAB4C-CDE9-48F3-A5D0-A19DC1C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A20E20-7625-4B1B-A54C-5723D7B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4FA800-1353-4771-A303-FE607B3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D7F8D1-87D2-46DD-8BCA-F499ADF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6858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Skills map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C6A6D1-3956-4463-A271-3560D6AB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067EDF-38E3-46D6-ABEC-21C1385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E1-E15 events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CE5F19-C220-4D23-A95A-4C43DD9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Where the layer observes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D0985C-D4AC-4B47-B66F-7D7695A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5343BA7-1A45-47AD-AD70-CB24E94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S1-S7 skills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9AB9AA-CA6E-4B1F-96A5-A988FD4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Observe, triage, ask, capture, verify, propose, remember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9AE7BF9-DB00-4E3E-BBC4-43BDD4A3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176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E58B48-ED35-4AC3-B88B-B115BA2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Agent integration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2059AF-E093-4F15-98FB-D121F97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Interfaces with Agents 1-4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EBC362E-AF58-4813-8FAE-62AF879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64CF239-83B6-4077-8E3B-5D2D9D4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B909BCF-4A6A-41FF-B009-D43FB2CE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Draft for supervisor review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9143703-C161-44C4-A432-A645E74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2A00C3-0257-473C-911C-551424F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6366F1">
                <a:alpha val="2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2846A6-68D7-4959-AD19-E6FA0FE5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E04391C-E38D-4DEC-A309-34883A16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58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Prompt requirements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BCAB9D2-C6BE-4C9A-A5EB-EA9567E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14300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A70ACDA-68DD-4580-B607-91093B6C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Intent + required context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6AC935C-30BF-4B6A-8B63-6D7D61A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FF0D6E5-3BDD-461D-8633-C0AD557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Task + reasoning steps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4D2AE1A-B300-4730-B056-AA64C0F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2316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2B392D-FDAB-4888-939A-5C7FB2F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316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Guardrails + evidence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45B712A-D839-4AF8-A0C1-BE3DDF5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BA97EED-16E4-4806-827E-C4740BA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324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Convergence + failure modes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4A2E78D-CF31-4A58-9BEF-9084B822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9476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Requirements only - no final prompt text. Detailed specs and prototype remain provisional.</a:t>
            </a:r>
          </a:p>
        </p:txBody>
      </p:sp>
      <p:sp>
        <p:nvSpPr>
          <p:cNvPr id="34" name="provenance-footer-5">
            <a:extLst xmlns:a="http://schemas.openxmlformats.org/drawingml/2006/main">
              <a:ext uri="{FF2B5EF4-FFF2-40B4-BE49-F238E27FC236}">
                <a16:creationId xmlns:a16="http://schemas.microsoft.com/office/drawing/2014/main" id="{CAF7FB34-7F23-489F-A3AC-B4EA880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5 / 23</a:t>
            </a:r>
          </a:p>
        </p:txBody>
      </p:sp>
    </p:spTree>
    <p:extLst>
      <p:ext uri="{BB962C8B-B14F-4D97-AF65-F5344CB8AC3E}">
        <p14:creationId xmlns:p14="http://schemas.microsoft.com/office/powerpoint/2010/main" val="2140432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075C95D-6B73-419A-BF2B-B7170E9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EA8543-64AD-4E3F-9829-1FA8599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4B7702-C4D1-4BCC-8DAD-DF4CB69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OFFLINE EVIDENCE | What later work shows—and cannot show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D2628A9-AE06-4859-A88D-6C80A78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822960"/>
            <a:ext cx="4343400" cy="393192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B99D1F-D386-44FC-B114-D75DA39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393192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Accepted Iteration 14 replay
Run hlayer-20260720T173308Z-d79047f5e2
NEUTRAL / reliability-only</a:t>
            </a:r>
          </a:p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No live H-layer behavior was changed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The results expose observability and workload trade-offs. They do not validate quality, human behavior, generalization, accuracy, or clinical use.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CEC56E1-0D91-4686-B73C-D1D3145D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822960"/>
            <a:ext cx="3931920" cy="393192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209387-58DA-4557-B95D-D2463D3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9601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What the replays show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B7E7EE-885C-47AE-AD3D-B7F4184E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17320"/>
            <a:ext cx="3566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C7AD14-B47F-45AF-B326-C5CF3608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5544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6B237A-FA84-46D1-B52A-3880C2C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554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7C6571-8640-44AA-9DFE-CD4C7E20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047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481 captured/reconstructed + 20 gaps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A7828A5-ACDE-41A0-8B5D-C5484BB3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4792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501 contract records; not correctness evidence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8CDFCB0-5344-4772-A62F-222AEB3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94560"/>
            <a:ext cx="3566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A8D73CD-B3E2-4DF8-B2BB-6298884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331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18C90F-9E14-4074-BB5F-1FEA853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331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C5D69B6-A565-4405-9B18-D94EE43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771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160 unstable, never-reviewed guidelines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177D25-020A-4359-A963-16DDDC44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2032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EXP-008 denominator across four settings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45BDE07-EB88-48A1-8A14-B1728084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71800"/>
            <a:ext cx="3566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49CECE-13A5-46B6-BEC8-ADA71B5D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089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0CB1828-6908-480B-BED0-1C9045A9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089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227179-6535-482A-B610-54D8FC64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495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threshold_sev2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C960AD6-2818-4B9E-9DEE-A381014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19272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Load 0.799; high-severity coverage 1.0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49DD1F5-A5BB-47C5-9CE2-1C2DAD73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749040"/>
            <a:ext cx="3566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9C66B7B-1407-431F-81AD-A421E205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862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3C1D609-E940-4D03-BC6D-66878E6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862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2A5100D-FACB-4F1C-8DE6-D8FCC119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219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EXP-009 and EXP-010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F5832A4-6A9D-451F-8750-2C2E642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6512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Synthetic seeded tests of assumed rules only</a:t>
            </a:r>
          </a:p>
        </p:txBody>
      </p:sp>
      <p:sp>
        <p:nvSpPr>
          <p:cNvPr id="29" name="provenance-footer-6">
            <a:extLst xmlns:a="http://schemas.openxmlformats.org/drawingml/2006/main">
              <a:ext uri="{FF2B5EF4-FFF2-40B4-BE49-F238E27FC236}">
                <a16:creationId xmlns:a16="http://schemas.microsoft.com/office/drawing/2014/main" id="{CB385E87-B497-42D7-9C37-A46F5B1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 EVIDENCE  |  VEGO-AI supervisor package  |  6 / 23</a:t>
            </a:r>
          </a:p>
        </p:txBody>
      </p:sp>
    </p:spTree>
    <p:extLst>
      <p:ext uri="{BB962C8B-B14F-4D97-AF65-F5344CB8AC3E}">
        <p14:creationId xmlns:p14="http://schemas.microsoft.com/office/powerpoint/2010/main" val="804602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6C09BE-FB93-4C00-B6B2-DDA069D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87C518D-5476-465E-AB96-D862164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C61E18-D745-4975-9CC7-401B127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DECISION M-02 | Choose the H-layer decomposition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4BE5E7-A1D2-4D35-B24F-2959FD4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5B1ED8-93C3-4FA9-A4EA-6226DB2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659A9C-3F62-4279-A791-61D430E4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BCB3DA-EB72-4307-8ED7-9DA76CD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Three separate H-agents: one for each H1/H2/H3 function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B00543-AF91-4815-800F-7C6C031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9144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Maximum separation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B4CCA67-73B0-440B-9046-89ADBD4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EE6652-F93E-46D0-BD51-4D07DAA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Alternative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D1D2261-19EB-4EE8-9BB8-3ED31D3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488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D2103D6-64E0-453D-BEB4-5185060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30D8F1-C915-4146-9158-381673E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51F4926-CB3F-4335-BE22-C970C4F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Observer for H1 plus Integrator for H2 and H3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7D1AF9-54D0-401F-AF1B-DF68AF5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2860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Clear handoff; shared dialogue state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AD0D5BB-ECF8-48EA-A8A1-6D9912C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7432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F7B1978-4A10-44A9-8F7B-66436B0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743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Proposal only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85894B-7F03-4AE0-B7A0-37582BCF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204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AE7AEB-1892-417D-A86B-8B9B6CC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70B9D50-A56A-4B16-8F76-6B0FAF0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B4D6745-56FE-4C9B-8DBB-94B5A9E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One H-agent containing all S1-S7 skill modules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B69B3C-5F1A-4DD9-B076-0DD5F9E0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576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Simplest state; broad responsibility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05F6D87-4DEC-42F7-B09B-2893BD3F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1148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43F7336-495D-47C6-9C69-7D0EBAAA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1148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Alternative</a:t>
            </a:r>
          </a:p>
        </p:txBody>
      </p:sp>
      <p:sp>
        <p:nvSpPr>
          <p:cNvPr id="26" name="provenance-footer-7">
            <a:extLst xmlns:a="http://schemas.openxmlformats.org/drawingml/2006/main">
              <a:ext uri="{FF2B5EF4-FFF2-40B4-BE49-F238E27FC236}">
                <a16:creationId xmlns:a16="http://schemas.microsoft.com/office/drawing/2014/main" id="{406A9F33-8D79-43FC-AF7F-D3A1C79E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7 / 23</a:t>
            </a:r>
          </a:p>
        </p:txBody>
      </p:sp>
    </p:spTree>
    <p:extLst>
      <p:ext uri="{BB962C8B-B14F-4D97-AF65-F5344CB8AC3E}">
        <p14:creationId xmlns:p14="http://schemas.microsoft.com/office/powerpoint/2010/main" val="1287290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17DA40-4E96-417B-8E85-B20987F1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8499B-9998-4C37-984C-395B77E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D17EE4-CE63-460C-B420-22077EE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DECISION M-03 | Set active routing and dosage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7BD816-B55D-49E7-BBB9-F927229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8595360" cy="219456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477291-3C5E-42ED-81D8-E7EF5EA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Historical policy replay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D7CE44-0799-4DEF-8423-4CA2CAE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Mode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9D49C-721D-42AB-8AE0-C83A04F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3444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Load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F1293F-12DF-426D-96A4-147FE667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3444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High-sev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E77D8A-EDEC-4CC1-BE1E-881DCFF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3444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Active scope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9D6490-F139-4BFA-B576-371BAF1B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3444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3409BA-1330-4E6B-A597-349633A1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Every decision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864C6F-3479-4BDB-9907-D6B64C7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203606F-4609-4B26-A46A-8C43553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7C796FA-CC6F-4EA5-8570-13C37F26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0020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All events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DDEBDA-B10C-42AE-B939-CBBD5FAB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0020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121A47-B957-40A2-8A54-62CF252E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threshold_sev2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BFD78E-A9EE-470E-9CEB-8AF1D83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16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0.799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3B74E8-0ADB-4A98-AA5C-E855060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116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D9CCF0F-3AFA-4B8B-9AC0-057C4D3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168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Severity &gt;= 2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B46019E-E36A-4EA5-95C8-65FA103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01168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E80867-A2CC-4A93-84B7-82D3207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threshold_sev3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7A311D6-1312-462D-9FF8-32A0EBF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31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0.578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9F721C7-6A53-4478-849F-29490118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231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0.726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02EA6AF-ACA6-41A5-848D-E5B6875D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2316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Severity &gt;= 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1FC1EA-670F-49F5-AE24-1B71E30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231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Fails guardrail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FDD25CA-92BD-49EB-BBF2-24C192F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0"/>
            <a:ext cx="4114800" cy="15087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3E76A64-2484-4844-B458-ED0D0E9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Initial routing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81B75B6-B0B2-41D2-8007-68F2B83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365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Observe E1-E14 passively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Route E4, E6, E9, E11 first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Bundle related events per case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CC03C05-8E4F-41EE-9F6F-7FC16BC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4297680" cy="15087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EBA53A-7571-4FE8-8BD6-323E4E6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9184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Decision requested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944D776-898E-421C-9ED8-456F161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11880"/>
            <a:ext cx="3840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Approve the pilot candidate?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Uniform or adaptive cap?</a:t>
            </a:r>
          </a:p>
        </p:txBody>
      </p:sp>
      <p:sp>
        <p:nvSpPr>
          <p:cNvPr id="33" name="provenance-footer-8">
            <a:extLst xmlns:a="http://schemas.openxmlformats.org/drawingml/2006/main">
              <a:ext uri="{FF2B5EF4-FFF2-40B4-BE49-F238E27FC236}">
                <a16:creationId xmlns:a16="http://schemas.microsoft.com/office/drawing/2014/main" id="{EA2CA03C-6F77-4588-9E38-E9111969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8 / 23</a:t>
            </a:r>
          </a:p>
        </p:txBody>
      </p:sp>
    </p:spTree>
    <p:extLst>
      <p:ext uri="{BB962C8B-B14F-4D97-AF65-F5344CB8AC3E}">
        <p14:creationId xmlns:p14="http://schemas.microsoft.com/office/powerpoint/2010/main" val="1306758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2285CC-2769-434B-B15C-44F6E58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741AFA-189F-4E1F-B691-BB25168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6CDBDE-9624-4D1E-AA46-069129E7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DECISION M-04 | Set verification and convergence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888982-D0A9-41E1-9CB1-925E8143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3931920" cy="128016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95D0FBA-EFDD-4552-BD97-7C1ABF6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DF7B3D-3FE1-474B-A727-F3E0779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A3AE42-33D4-43CD-A37D-81DFDA1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Check proposed sources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43BE60-BA77-4748-B88B-7945406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Template, guidelines, domain, and prior judgments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160067-2E33-4E32-ACA7-EDE6E39A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914400"/>
            <a:ext cx="3931920" cy="128016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7B90B41-43D0-40B8-BC07-A6628EB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515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6BEB9C6-1A0F-495C-B4A0-A5DFAC99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515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BD0C81-F930-4638-BAB8-047EB550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0584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Ask one focused question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BB67D02-CFCD-4DAA-AF64-A88C6861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37160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Explain the conflict without simply complying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B9966DA-80D3-4545-9592-DD1E455E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68880"/>
            <a:ext cx="3931920" cy="128016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9AAB3C4-9E86-4D2E-8A84-135DEDD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06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CB304CD-418B-4EAB-BB96-3178E02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06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ED6858-95BE-45AD-8A92-2E9139E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Allow revision or rationale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A926D3-A841-450E-9196-A317DD9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Reviewer revises input or explains an override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93E6FEA-674A-492C-A948-0C5A7E2F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468880"/>
            <a:ext cx="3931920" cy="128016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0454BDD-0BA6-46F0-93E5-ED26A918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06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75C8B0-48E5-4B92-9AB1-62F95CC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06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72DFCAB-D5A9-4005-AC4D-B1988B6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56032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Close or escalate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D1E24B3-3285-4C86-B8A0-581AFCA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92608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Escalate unresolved conflict to human adjudication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495F0F-1387-4959-81F0-CE37C83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444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44BAF9D-E62F-4624-A424-3FC20C6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4884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↓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A09B9B-2FF9-4864-AD9A-61D5FD18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8892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←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B34402-135A-4272-A12D-4930181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14884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↑</a:t>
            </a:r>
          </a:p>
        </p:txBody>
      </p:sp>
      <p:sp>
        <p:nvSpPr>
          <p:cNvPr id="29" name="provenance-footer-9">
            <a:extLst xmlns:a="http://schemas.openxmlformats.org/drawingml/2006/main">
              <a:ext uri="{FF2B5EF4-FFF2-40B4-BE49-F238E27FC236}">
                <a16:creationId xmlns:a16="http://schemas.microsoft.com/office/drawing/2014/main" id="{B80C4E21-7D12-4D1C-A8E5-6E89B37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9 / 23</a:t>
            </a:r>
          </a:p>
        </p:txBody>
      </p:sp>
    </p:spTree>
    <p:extLst>
      <p:ext uri="{BB962C8B-B14F-4D97-AF65-F5344CB8AC3E}">
        <p14:creationId xmlns:p14="http://schemas.microsoft.com/office/powerpoint/2010/main" val="1269166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79A38B-CE2D-4DAB-83F3-4051838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507E519-07AE-48F4-9AC8-6476B4B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40BDD0-029A-40A3-8DDE-7082540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DECISION M-05 | Protect human authority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DD8DF61-B72B-4FF3-BB9F-76A037C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22960"/>
            <a:ext cx="2560320" cy="18288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D696D3-FA54-4962-B9BF-541EEE27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1520"/>
            <a:ext cx="2194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CE4785B-FBF4-474B-9410-16DF9AF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15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ruling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BF7A8D-119A-4CEE-BC6E-E73C72CF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22860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Real person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Named reviewer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BD4AA8C-A494-4679-831E-0AFCDF78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6304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3EF2C7B-D5FC-458D-86E7-78B084B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822960"/>
            <a:ext cx="2103120" cy="18288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1212E75-BBC4-41D2-8A80-926C79E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731520"/>
            <a:ext cx="17373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6366F1">
                <a:alpha val="25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81648B-31F4-4FD9-BC74-1028F8D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73152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Approval gate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C9876C-3CA0-42FF-8DC4-A059CE5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34440"/>
            <a:ext cx="1828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Every phase-one correction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explicitly approved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D262600-504E-467D-9FF9-2E9FDF9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6304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53FBB68-5FBC-48B3-9374-D20123A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822960"/>
            <a:ext cx="1828800" cy="18288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D7E8E9D-3981-43B6-B469-7EC60FE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73152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E01386C-F3E2-46F3-A46F-41F7D9A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73152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Timeout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4DE4EE-C04B-4663-9943-EDAA52D0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234440"/>
            <a:ext cx="1554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Preserve baseline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Park the review item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5BF920C-3A67-44E7-B6FA-132262E1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46304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11B5FF6-1155-4D38-8E4B-13ABFF32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822960"/>
            <a:ext cx="1684020" cy="18288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64095E9-20D3-48B4-B213-6909E6E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73152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F130D31-7FF3-4AF6-805D-3D5AD422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73152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hooks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83442DC-CD41-4B77-832D-80102A7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234440"/>
            <a:ext cx="15468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Only after allowed-touch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list approval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5D41FC7-93B1-43CB-BF28-02807924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26080"/>
            <a:ext cx="8595360" cy="173736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AC55B4-5469-41DE-8090-F0B1FF2D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Authority safeguards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FDA8713-AF17-4B13-B72B-D02D6C72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AB7DDDC-D7DD-48ED-9DC9-F231992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No automatic H3 advice on timeout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C9964A5-FDB6-4AFE-844D-6ECD297B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6248AFF-A200-4D65-9E26-4EF9649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90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Silent mode leaves baseline unchanged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618AEB-FEB0-4D81-BA07-E10964F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9A07EF5-FA04-4CA9-B1A3-D75C33B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Offline scaffold is non-production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3ABAD19-FA06-4763-A8E4-29F86E0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8328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D4FF1BC-0F61-4D04-AB3B-11D42FD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38328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Decide TA/course-staff low-risk role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3F3526D-581C-433D-907E-707A11F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4904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F528BDB-9220-4E68-A9C5-EEF96401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7490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Supervisors adjudicate conflicts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994639B-E230-48AC-8BA4-B7A9BCC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14800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8EAE615-10D1-4F29-9BDE-93AB641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11480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Protected framework paths stay frozen</a:t>
            </a:r>
          </a:p>
        </p:txBody>
      </p:sp>
      <p:sp>
        <p:nvSpPr>
          <p:cNvPr id="38" name="provenance-footer-10">
            <a:extLst xmlns:a="http://schemas.openxmlformats.org/drawingml/2006/main">
              <a:ext uri="{FF2B5EF4-FFF2-40B4-BE49-F238E27FC236}">
                <a16:creationId xmlns:a16="http://schemas.microsoft.com/office/drawing/2014/main" id="{2870C123-EFB7-49B1-BAC7-4BC790A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10 / 23</a:t>
            </a:r>
          </a:p>
        </p:txBody>
      </p:sp>
    </p:spTree>
    <p:extLst>
      <p:ext uri="{BB962C8B-B14F-4D97-AF65-F5344CB8AC3E}">
        <p14:creationId xmlns:p14="http://schemas.microsoft.com/office/powerpoint/2010/main" val="1387260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E93D8B-35F5-41A3-B5CC-B8081175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FC1D79-33D1-4A39-9C34-8010333C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7BD38E-4C01-493E-B97E-63BF3E3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DECISION M-06 | Lock the MSc and future scope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F4D6C1-971F-4B35-8ACA-CE50263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D2CB4C-D8C0-4EA5-98C3-01646E9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60ECB5-D2B2-444F-95F4-9E2BB53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MSc scope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A2F481-E1A0-45BE-B805-92D1277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Education domain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H-layer framework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No clinical study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6C32B7-96C0-4951-8C71-8185575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018613-D5D2-4381-8B97-81BEF5C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454987-0028-49FA-BBB6-1841EA8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287853-5E98-416E-92C3-D569721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question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8C6367-540F-4577-9FCC-73FFCC83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Revise now, or after M-02 through M-05 are settled?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EFF005-CA6F-4816-A536-819FE55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8BFCC7-33B0-401C-AE21-8F5C161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0F9D1B1-A327-4A97-BAD0-9C7521DB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5F7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A855F7">
                <a:alpha val="2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6BC60E-333E-4FD3-8F7C-F890E85B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Transfer-ready specs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447B42-A3B3-4398-9BEB-33E8277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Domain-parameterized wording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No empirical scope expansion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A9D18F3-0CDF-4DAF-86AF-7D74A2E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B84A54A-5447-4D3F-B45C-DF44ECB3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972BA9-5D44-4180-ACB2-457AB5E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3D56C4-EBBE-4D21-9A56-172315A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PhD concept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09B6AE-DCBA-41CB-A292-9CB2A31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MediVARIA pending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partner, ethics, endorsement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264CD0B-5F2D-499D-A793-13459B8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49040"/>
            <a:ext cx="8595360" cy="822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A9C4712-0442-4B5F-8474-D89E3CF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Decision boundary: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208B093-0145-4458-82D9-AF6B4692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Confirm the MSc framing now; keep MediVARIA future work unless explicitly endorsed.</a:t>
            </a:r>
          </a:p>
        </p:txBody>
      </p:sp>
      <p:sp>
        <p:nvSpPr>
          <p:cNvPr id="27" name="provenance-footer-11">
            <a:extLst xmlns:a="http://schemas.openxmlformats.org/drawingml/2006/main">
              <a:ext uri="{FF2B5EF4-FFF2-40B4-BE49-F238E27FC236}">
                <a16:creationId xmlns:a16="http://schemas.microsoft.com/office/drawing/2014/main" id="{82E3A016-0FD6-4A13-81CC-4DC050DE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DECISION REQUEST  |  VEGO-AI supervisor package  |  11 / 23</a:t>
            </a:r>
          </a:p>
        </p:txBody>
      </p:sp>
    </p:spTree>
    <p:extLst>
      <p:ext uri="{BB962C8B-B14F-4D97-AF65-F5344CB8AC3E}">
        <p14:creationId xmlns:p14="http://schemas.microsoft.com/office/powerpoint/2010/main" val="31313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BEF654-184C-459A-8A83-36C1535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693143-8109-44B9-9C09-F9C63E0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4037D3-C4D8-4AFC-8D42-820D780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OUTCOME | Read back decisions and owners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865DBD-3166-48BF-AA87-0DB45AB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4932566-3329-4DBA-B7AD-9901B8B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D96ED9-C828-47F7-B294-BDE52E32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EE2B3A-7475-41B4-A257-822E3DD7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296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M-01 Record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4736F9-2CBC-40D2-949C-70C504E2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128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Confirm corrections, actions, and attribution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5EBD54-C9C8-4A9C-B3AD-BC60FD2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91440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161235-4FE8-4B0E-991E-3197CDA7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9144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CFF6436-0CCC-49F2-854C-DE92801E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4B58C12-85B2-4415-8EB7-95C4C0C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05CE970-FA2D-480C-94A0-95FC039F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F38239-5316-4F7B-9615-F6D1480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M-02 Architecture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CFD5705-3041-4BAF-90ED-98CA49D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572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Select A, B, or C and preserve H1/H2/H3 visibility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63957-99A9-4029-A8FE-48B2E7F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4884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8AAAD7-9513-44DD-95CC-62F8A28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488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1F303F6-DFF1-402D-99EB-58A1C81E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4612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75E888-75BD-4C52-8CED-8B28DA6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999F1FF-54DC-41A2-9D24-9CA81584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52B72F0-A0E0-41FF-89CA-CC1AF4F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M-03 Routing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4928AF-4175-4BFF-AFF1-EF250F9C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016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Set pilot mode, event scope, and cap policy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840FE27-51CD-4235-ABB5-0812E8C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38328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6366F1">
                <a:alpha val="2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2063B82-2627-4D10-A8B9-99BEC2E2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3832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777BEFB-12B2-4D8D-96E5-7538598B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7724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2CEDD70-1314-44A5-8A3F-BEC8C1D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144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DC6F30A-6844-4D82-A01C-588E68B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144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9B8506A-FDD5-4780-9D0C-30BCF08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82296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M-04 Verify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F061C63-C9C8-481F-AD02-1534CEDB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6128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Set source family and round bound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3C27D7C-958E-4DB4-B008-8E1F9C4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91440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5F7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A855F7">
                <a:alpha val="2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7324F85-2AD8-472B-A0B7-30B0A2B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9144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E21B6A3-A6ED-48DC-B3F8-5E414502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01168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06B6D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D6E9D58-BB85-423A-9B1F-C01AF5E2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488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C023224-239E-4D75-8941-E77CFB41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2B0B975-10BA-467E-A7FF-4182848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05740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M-05 Authority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AA99CF1-1D5B-4CEA-AFE9-358BDCD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39572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Set approval, timeout, roles, and allowed paths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198EE5D-C799-4570-A8B2-89E5DA1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4884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06B6D4">
                <a:alpha val="25000"/>
              </a:srgbClr>
            </a:outerShdw>
          </a:effectLst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6CF0C80D-E37A-4311-883B-A39E1E54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488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8F5D709-FED6-4AF5-A706-49DBAAF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46120"/>
            <a:ext cx="416052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889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B6A601B-C64E-430E-9ACA-6B4C433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BF30601-EC29-4C7E-8472-10CEF40B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E977E9C-D144-4611-A5AD-E2C8A22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M-06 Scope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CFD993F9-BDE7-4383-A540-045516C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630168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Set thesis framing and future-work boundary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78F5B2E-091D-4705-8DDA-9B35A6EE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83280"/>
            <a:ext cx="9144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DEFD54A-246E-4441-9306-D2602E4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832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</a:t>
            </a:r>
          </a:p>
        </p:txBody>
      </p:sp>
      <p:sp>
        <p:nvSpPr>
          <p:cNvPr id="47" name="provenance-footer-12">
            <a:extLst xmlns:a="http://schemas.openxmlformats.org/drawingml/2006/main">
              <a:ext uri="{FF2B5EF4-FFF2-40B4-BE49-F238E27FC236}">
                <a16:creationId xmlns:a16="http://schemas.microsoft.com/office/drawing/2014/main" id="{E92AFF45-5E1E-49BA-9A03-D977A3B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OUTCOME  |  VEGO-AI supervisor package  |  12 / 23</a:t>
            </a:r>
          </a:p>
        </p:txBody>
      </p:sp>
    </p:spTree>
    <p:extLst>
      <p:ext uri="{BB962C8B-B14F-4D97-AF65-F5344CB8AC3E}">
        <p14:creationId xmlns:p14="http://schemas.microsoft.com/office/powerpoint/2010/main" val="426367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614F09-485F-4FF7-A23F-9E0E224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058929-26BA-4746-9392-04CB45F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CCC9C-6CAA-4238-99C8-333F3062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RECORD | D1-D6 evidence matrix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4C1D2E-0890-421D-BA61-77BD8A4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Directive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F8968C-4338-407B-96EC-7C027C7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Timestamp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A0742E-81BF-4EF7-BAF0-56E0B62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7724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Record status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350D7F-DAA9-4327-A723-64CFE04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BD4D58-3598-493D-BF14-23462A5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 Both circles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AAE12D-E411-4217-9AA5-B5484F3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02:38-04:24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32FB1D-EC17-452F-BD0B-523DD24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887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Proposal — not approved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029B3-D2CD-4155-A19A-635E57A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D2 Earlier stages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FC2F47-3B7C-4870-8CF4-BCDEA13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02:55-03:20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C3665A-A822-4E63-8DC9-9E561B6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308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Offline design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6EB0BA-8B13-4DB9-940A-DBAA5979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7744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09912A0-EF1E-4D9D-9331-F3F92C0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D3 H naming + decomposition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E5232E-6EF9-48F7-9968-A6ABD51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13:03-14:08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AADD4-03EC-42F5-8013-3326140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Proposal — not approved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B9AB04-E849-423A-BCCB-82261E47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D4 Separate evaluation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1040AE-B529-4EE2-B949-B19DB98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11:13-13:09; 22:36-22:59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0B9BA9-6B0E-47A6-82C3-DDD117B3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Documented — parked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3F7DB86-602E-4607-8C6F-FF2955F3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6616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1CBAF8-B55C-409D-A8B6-AD427C5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D5 Real human judgment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D7C68A-78DC-4E93-803A-A95D3D0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05:35-08:15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1C59DE-F340-4BBC-9A40-F965B7D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616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Blocked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B71A2BF-7CDE-4954-B730-AF4FA51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D6 Configurable dosage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7C05FF6-330F-49E7-9A3F-5DAD855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14:08-17:29; 19:51-21:19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A894255-F524-435A-B93B-15573144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05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Proposal — not approved</a:t>
            </a:r>
          </a:p>
        </p:txBody>
      </p:sp>
      <p:sp>
        <p:nvSpPr>
          <p:cNvPr id="29" name="provenance-footer-13">
            <a:extLst xmlns:a="http://schemas.openxmlformats.org/drawingml/2006/main">
              <a:ext uri="{FF2B5EF4-FFF2-40B4-BE49-F238E27FC236}">
                <a16:creationId xmlns:a16="http://schemas.microsoft.com/office/drawing/2014/main" id="{4E3202C8-7E8D-476B-9774-E04AB62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RECORD  |  VEGO-AI supervisor package  |  13 / 23</a:t>
            </a:r>
          </a:p>
        </p:txBody>
      </p:sp>
    </p:spTree>
    <p:extLst>
      <p:ext uri="{BB962C8B-B14F-4D97-AF65-F5344CB8AC3E}">
        <p14:creationId xmlns:p14="http://schemas.microsoft.com/office/powerpoint/2010/main" val="518069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614F09-485F-4FF7-A23F-9E0E224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058929-26BA-4746-9392-04CB45F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CCC9C-6CAA-4238-99C8-333F3062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RECORD | D7-D12 evidence matrix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4C1D2E-0890-421D-BA61-77BD8A4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Directive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F8968C-4338-407B-96EC-7C027C7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Timestamp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A0742E-81BF-4EF7-BAF0-56E0B62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7724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Record status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350D7F-DAA9-4327-A723-64CFE04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BD4D58-3598-493D-BF14-23462A5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D7 Bidirectional interface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AAE12D-E411-4217-9AA5-B5484F3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15:26-15:59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32FB1D-EC17-452F-BD0B-523DD24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887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Offline design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029B3-D2CD-4155-A19A-635E57A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D8 Learn beyond storage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FC2F47-3B7C-4870-8CF4-BCDEA13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15:59-17:29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C3665A-A822-4E63-8DC9-9E561B6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308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Proposal — not approved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6EB0BA-8B13-4DB9-940A-DBAA5979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7744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09912A0-EF1E-4D9D-9331-F3F92C0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D9 Verify human feedback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E5232E-6EF9-48F7-9968-A6ABD51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17:29-19:48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AADD4-03EC-42F5-8013-3326140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Offline evidence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B9AB04-E849-423A-BCCB-82261E47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D10 Converge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1040AE-B529-4EE2-B949-B19DB98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05:17-05:34; 18:38-18:57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0B9BA9-6B0E-47A6-82C3-DDD117B3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Proposal — not approved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3F7DB86-602E-4607-8C6F-FF2955F3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6616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1CBAF8-B55C-409D-A8B6-AD427C5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D11 Requested deliverables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D7C68A-78DC-4E93-803A-A95D3D0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21:19-22:21; 27:30-27:57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1C59DE-F340-4BBC-9A40-F965B7D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616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Delivered — provisional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B71A2BF-7CDE-4954-B730-AF4FA51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D12 Survey + future direction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7C05FF6-330F-49E7-9A3F-5DAD855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23:03-27:30; 28:42-33:57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A894255-F524-435A-B93B-15573144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05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Delivered — provisional</a:t>
            </a:r>
          </a:p>
        </p:txBody>
      </p:sp>
      <p:sp>
        <p:nvSpPr>
          <p:cNvPr id="29" name="provenance-footer-14">
            <a:extLst xmlns:a="http://schemas.openxmlformats.org/drawingml/2006/main">
              <a:ext uri="{FF2B5EF4-FFF2-40B4-BE49-F238E27FC236}">
                <a16:creationId xmlns:a16="http://schemas.microsoft.com/office/drawing/2014/main" id="{7C7FB717-AE12-41D1-98AD-1B71DB9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RECORD  |  VEGO-AI supervisor package  |  14 / 23</a:t>
            </a:r>
          </a:p>
        </p:txBody>
      </p:sp>
    </p:spTree>
    <p:extLst>
      <p:ext uri="{BB962C8B-B14F-4D97-AF65-F5344CB8AC3E}">
        <p14:creationId xmlns:p14="http://schemas.microsoft.com/office/powerpoint/2010/main" val="5180699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DEFB07-B07B-4DFC-838B-93B0D40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6D77433-914C-4389-A768-CD8259A2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C0B4A3-FD78-4E3B-9B5F-6057653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RECORD | Selected Hebrew evidence + glossary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3FB31A-452E-4ACA-A71D-4C8F687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66F4B9-2D90-435A-8596-E052ACF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DF6298-6767-4589-AB9F-2D39FBF5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2D1DEA-C4E7-4326-A73D-D1AC9D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02:38  לשני המעגלים האלה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170EF6-1149-4939-9950-B1E5F75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BD049A-E329-4FA2-9584-602D4BA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UNREVIEWED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E31B80-6C69-481C-B78F-7DC4A74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53F47F4-65C2-4B88-A011-A9D5292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F9A4CF-4C70-4A00-8DE4-C71FDFD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7E0278-E686-4E08-9C40-443E6CB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05:35  זה ה-human אקספרט. זה הבן אדם.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3E1B4A2-7739-4D69-87AF-03515A7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308975-DE6E-42C0-AEBA-5471DD65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UNREVIEWED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A0DA1AF-19A0-465D-99E7-77FCA9D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604D220-0ACF-4AC7-911D-4F87A7C6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299812-3C01-4BB1-A007-267DA8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E6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7DEC5D-9C0D-4A6B-BC25-03EBFA4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18:06  בודק את X ביחס למקורות שלו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F9D3857-4FE9-4F6E-B734-9B7FC34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6FE2D9-A17F-44D3-A0E3-35BFCB6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UNREVIEWED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7D0C8C2-3F1C-47C2-8378-46BFF3E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E41100-B8FD-4A8A-9CAE-137BB085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BB9074-317E-4DF0-8588-C76C1BDD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E7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7240EE4-A36D-4EE7-9B28-D5E6DB59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19:51  הארכיטקטורה צריכה להיות פלקסבילית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D6DE399-17B7-4EF8-992E-7E0E768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7B64E6E-6A9E-4009-A498-9B00998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UNREVIEWED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8F427D4-D713-4D73-AC47-1D79EA7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1EB848E-9EFB-47DB-BA9E-DE6731F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1640FC-B6AC-4BEB-B667-017CA69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EFA0A79-1B61-48D6-81B5-DAD5040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Selected Hebrew remains machine ASR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A7902FE-FF98-4386-8FD2-F08D643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50A004A-FCC3-445B-968D-A5EA96D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UNREVIEWED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9265E8D-6EE5-4A1F-8E05-39C6790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C358542-EC18-431B-A689-539D43C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57D3C36-87AB-4A6D-BFB6-BD47020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F67B3B8-D556-4AFC-B3E0-E755B96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Speaker labels are inferred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FAAD5D4-F056-4385-AB10-B12DA83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FFA127E-F25C-4EC9-9FF5-2B6551B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6BFC97E-70EA-49F9-8799-14B6E88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5D5DF40-7BA8-4632-AFAF-7BD99DE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D31F795-71C3-4603-A29E-DDF46F3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F54DC35-308E-4064-A78D-D3E65967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English wording is paraphrase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8208EAC-F3B3-4319-AC0F-B0D05EF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57934A9-3904-45FD-9861-AA3DAB5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CC60FF3-7274-48E3-BDCE-8D178E5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FF02E60A-2DF5-4535-BA97-FE44ADA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9E6846F-7F5F-4967-A499-A00EF9F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60E684D-9EC9-44A4-A245-0315455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No verified quotation exists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4B1DF5E-0EBD-4D23-9435-0B8FF97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3A132489-FC45-4100-80B1-3CFC1FB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1D58F53-3BE8-4F1F-9E13-B0E3D25C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5486299A-77B7-45AB-B8FD-2478393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94DE286-D511-4859-B084-ABA8FDB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26183C1-A6F5-488F-98BB-3B7A39D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External sites are candidates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DB4EA87-307B-4C45-AF8E-08F0E24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0371DB4-96E2-42F3-A3AF-632066D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CORRECTED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69DF635-BB9A-4226-B7A6-8196B97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425648C4-F521-49CC-8516-7DD864D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0C72BD6F-F0B5-4C00-9FBA-D5E8C0F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F39458-E6AA-40FA-ADD3-7EBC5C6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March 2027 is illustrative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5BC851B7-7890-4EB6-9AAF-9F0E775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1654C66B-B3A0-4F75-A1E6-077791C9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CORRECTED</a:t>
            </a:r>
          </a:p>
        </p:txBody>
      </p:sp>
      <p:sp>
        <p:nvSpPr>
          <p:cNvPr id="65" name="provenance-footer-15">
            <a:extLst xmlns:a="http://schemas.openxmlformats.org/drawingml/2006/main">
              <a:ext uri="{FF2B5EF4-FFF2-40B4-BE49-F238E27FC236}">
                <a16:creationId xmlns:a16="http://schemas.microsoft.com/office/drawing/2014/main" id="{CA5AACE2-00ED-4B6D-816C-72DDC05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RECORD  |  VEGO-AI supervisor package  |  15 / 23</a:t>
            </a:r>
          </a:p>
        </p:txBody>
      </p:sp>
    </p:spTree>
    <p:extLst>
      <p:ext uri="{BB962C8B-B14F-4D97-AF65-F5344CB8AC3E}">
        <p14:creationId xmlns:p14="http://schemas.microsoft.com/office/powerpoint/2010/main" val="1966545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DEFB07-B07B-4DFC-838B-93B0D40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6D77433-914C-4389-A768-CD8259A2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C0B4A3-FD78-4E3B-9B5F-6057653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WORKING DRAFT | Event catalog E1-E10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3FB31A-452E-4ACA-A71D-4C8F687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66F4B9-2D90-435A-8596-E052ACF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DF6298-6767-4589-AB9F-2D39FBF5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2D1DEA-C4E7-4326-A73D-D1AC9D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Guideline or requirement authored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170EF6-1149-4939-9950-B1E5F75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BD049A-E329-4FA2-9584-602D4BA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REQUIREMENT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E31B80-6C69-481C-B78F-7DC4A74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53F47F4-65C2-4B88-A011-A9D5292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F9A4CF-4C70-4A00-8DE4-C71FDFD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7E0278-E686-4E08-9C40-443E6CB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Question asked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3E1B4A2-7739-4D69-87AF-03515A7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308975-DE6E-42C0-AEBA-5471DD65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Q&amp;A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A0DA1AF-19A0-465D-99E7-77FCA9D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604D220-0ACF-4AC7-911D-4F87A7C6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299812-3C01-4BB1-A007-267DA8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7DEC5D-9C0D-4A6B-BC25-03EBFA4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Answer persisted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F9D3857-4FE9-4F6E-B734-9B7FC34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6FE2D9-A17F-44D3-A0E3-35BFCB6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Q&amp;A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7D0C8C2-3F1C-47C2-8378-46BFF3E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E41100-B8FD-4A8A-9CAE-137BB085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BB9074-317E-4DF0-8588-C76C1BDD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7240EE4-A36D-4EE7-9B28-D5E6DB59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Case context established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D6DE399-17B7-4EF8-992E-7E0E768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7B64E6E-6A9E-4009-A498-9B00998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8F427D4-D713-4D73-AC47-1D79EA7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1EB848E-9EFB-47DB-BA9E-DE6731F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1640FC-B6AC-4BEB-B667-017CA69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EFA0A79-1B61-48D6-81B5-DAD5040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Artifact version produced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A7902FE-FF98-4386-8FD2-F08D643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50A004A-FCC3-445B-968D-A5EA96D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ARTIFACT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9265E8D-6EE5-4A1F-8E05-39C6790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C358542-EC18-431B-A689-539D43C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57D3C36-87AB-4A6D-BFB6-BD47020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F67B3B8-D556-4AFC-B3E0-E755B96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Deviation assessed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FAAD5D4-F056-4385-AB10-B12DA83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FFA127E-F25C-4EC9-9FF5-2B6551B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ASSESS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6BFC97E-70EA-49F9-8799-14B6E88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5D5DF40-7BA8-4632-AFAF-7BD99DE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D31F795-71C3-4603-A29E-DDF46F3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E7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F54DC35-308E-4064-A78D-D3E65967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Uncertainty recorded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8208EAC-F3B3-4319-AC0F-B0D05EF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57934A9-3904-45FD-9861-AA3DAB5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SIGNAL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CC60FF3-7274-48E3-BDCE-8D178E5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FF02E60A-2DF5-4535-BA97-FE44ADA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9E6846F-7F5F-4967-A499-A00EF9F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E8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60E684D-9EC9-44A4-A245-0315455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Variability pattern produced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4B1DF5E-0EBD-4D23-9435-0B8FF97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3A132489-FC45-4100-80B1-3CFC1FB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PATTERN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1D58F53-3BE8-4F1F-9E13-B0E3D25C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5486299A-77B7-45AB-B8FD-2478393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94DE286-D511-4859-B084-ABA8FDB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E9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26183C1-A6F5-488F-98BB-3B7A39D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Human review item created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DB4EA87-307B-4C45-AF8E-08F0E24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0371DB4-96E2-42F3-A3AF-632066D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69DF635-BB9A-4226-B7A6-8196B97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425648C4-F521-49CC-8516-7DD864D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0C72BD6F-F0B5-4C00-9FBA-D5E8C0F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E10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F39458-E6AA-40FA-ADD3-7EBC5C6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Human feedback received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5BC851B7-7890-4EB6-9AAF-9F0E775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1654C66B-B3A0-4F75-A1E6-077791C9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</a:t>
            </a:r>
          </a:p>
        </p:txBody>
      </p:sp>
      <p:sp>
        <p:nvSpPr>
          <p:cNvPr id="65" name="provenance-footer-16">
            <a:extLst xmlns:a="http://schemas.openxmlformats.org/drawingml/2006/main">
              <a:ext uri="{FF2B5EF4-FFF2-40B4-BE49-F238E27FC236}">
                <a16:creationId xmlns:a16="http://schemas.microsoft.com/office/drawing/2014/main" id="{F81272A6-1659-48B0-8311-8A2B887A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16 / 23</a:t>
            </a:r>
          </a:p>
        </p:txBody>
      </p:sp>
    </p:spTree>
    <p:extLst>
      <p:ext uri="{BB962C8B-B14F-4D97-AF65-F5344CB8AC3E}">
        <p14:creationId xmlns:p14="http://schemas.microsoft.com/office/powerpoint/2010/main" val="19665459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DEFB07-B07B-4DFC-838B-93B0D40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6D77433-914C-4389-A768-CD8259A2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C0B4A3-FD78-4E3B-9B5F-6057653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WORKING DRAFT | Events, channels, and scope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3FB31A-452E-4ACA-A71D-4C8F687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66F4B9-2D90-435A-8596-E052ACF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DF6298-6767-4589-AB9F-2D39FBF5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2D1DEA-C4E7-4326-A73D-D1AC9D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Verification dialogue recorded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170EF6-1149-4939-9950-B1E5F75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BD049A-E329-4FA2-9584-602D4BA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E31B80-6C69-481C-B78F-7DC4A74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53F47F4-65C2-4B88-A011-A9D5292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F9A4CF-4C70-4A00-8DE4-C71FDFD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7E0278-E686-4E08-9C40-443E6CB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Adjudication outcome recorded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3E1B4A2-7739-4D69-87AF-03515A7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308975-DE6E-42C0-AEBA-5471DD65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ADJUDICATE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A0DA1AF-19A0-465D-99E7-77FCA9D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604D220-0ACF-4AC7-911D-4F87A7C6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299812-3C01-4BB1-A007-267DA8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7DEC5D-9C0D-4A6B-BC25-03EBFA4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Correction proposal created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F9D3857-4FE9-4F6E-B734-9B7FC34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6FE2D9-A17F-44D3-A0E3-35BFCB6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PROPOSAL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7D0C8C2-3F1C-47C2-8378-46BFF3E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E41100-B8FD-4A8A-9CAE-137BB085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BB9074-317E-4DF0-8588-C76C1BDD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7240EE4-A36D-4EE7-9B28-D5E6DB59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Trusted memory committed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D6DE399-17B7-4EF8-992E-7E0E768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7B64E6E-6A9E-4009-A498-9B00998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8F427D4-D713-4D73-AC47-1D79EA7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1EB848E-9EFB-47DB-BA9E-DE6731F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1640FC-B6AC-4BEB-B667-017CA69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E15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EFA0A79-1B61-48D6-81B5-DAD5040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Evaluation event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A7902FE-FF98-4386-8FD2-F08D643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50A004A-FCC3-445B-968D-A5EA96D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PARKED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9265E8D-6EE5-4A1F-8E05-39C6790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7724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C358542-EC18-431B-A689-539D43C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57D3C36-87AB-4A6D-BFB6-BD47020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3268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F67B3B8-D556-4AFC-B3E0-E755B96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229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Artifact circle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FAAD5D4-F056-4385-AB10-B12DA83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FFA127E-F25C-4EC9-9FF5-2B6551B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96012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CHANNEL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6BFC97E-70EA-49F9-8799-14B6E88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5448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5D5DF40-7BA8-4632-AFAF-7BD99DE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D31F795-71C3-4603-A29E-DDF46F3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992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F54DC35-308E-4064-A78D-D3E65967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002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Q&amp;A circle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8208EAC-F3B3-4319-AC0F-B0D05EF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57934A9-3904-45FD-9861-AA3DAB5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3736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CHANNEL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CC60FF3-7274-48E3-BDCE-8D178E5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3172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FF02E60A-2DF5-4535-BA97-FE44ADA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9E6846F-7F5F-4967-A499-A00EF9F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8716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60E684D-9EC9-44A4-A245-0315455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Passive observation E1-E14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4B1DF5E-0EBD-4D23-9435-0B8FF97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F59E0B">
                <a:alpha val="25000"/>
              </a:srgbClr>
            </a:outerShdw>
          </a:effectLst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3A132489-FC45-4100-80B1-3CFC1FB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1D58F53-3BE8-4F1F-9E13-B0E3D25C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0896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5486299A-77B7-45AB-B8FD-2478393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94DE286-D511-4859-B084-ABA8FDB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64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26183C1-A6F5-488F-98BB-3B7A39D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546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Active routing subset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DB4EA87-307B-4C45-AF8E-08F0E24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0371DB4-96E2-42F3-A3AF-632066D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9184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M-03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69DF635-BB9A-4226-B7A6-8196B97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41605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425648C4-F521-49CC-8516-7DD864D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0C72BD6F-F0B5-4C00-9FBA-D5E8C0F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F39458-E6AA-40FA-ADD3-7EBC5C6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319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Evaluation stays separate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5BC851B7-7890-4EB6-9AAF-9F0E775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1654C66B-B3A0-4F75-A1E6-077791C9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D4</a:t>
            </a:r>
          </a:p>
        </p:txBody>
      </p:sp>
      <p:sp>
        <p:nvSpPr>
          <p:cNvPr id="65" name="provenance-footer-17">
            <a:extLst xmlns:a="http://schemas.openxmlformats.org/drawingml/2006/main">
              <a:ext uri="{FF2B5EF4-FFF2-40B4-BE49-F238E27FC236}">
                <a16:creationId xmlns:a16="http://schemas.microsoft.com/office/drawing/2014/main" id="{EC30EED8-E75E-4DFD-99A7-C632E26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17 / 23</a:t>
            </a:r>
          </a:p>
        </p:txBody>
      </p:sp>
    </p:spTree>
    <p:extLst>
      <p:ext uri="{BB962C8B-B14F-4D97-AF65-F5344CB8AC3E}">
        <p14:creationId xmlns:p14="http://schemas.microsoft.com/office/powerpoint/2010/main" val="19665459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61C74F-A55E-4DEB-9E74-B8059F39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80F886-BA05-4CD3-8E59-A30110A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7A7808-6702-47FE-98AD-3B36494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WORKING DRAFT | S1-S7 skill grouping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1DAB4C-CDE9-48F3-A5D0-A19DC1C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A20E20-7625-4B1B-A54C-5723D7B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4FA800-1353-4771-A303-FE607B3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D7F8D1-87D2-46DD-8BCA-F499ADF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6858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Observer skills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C6A6D1-3956-4463-A271-3560D6AB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067EDF-38E3-46D6-ABEC-21C1385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S1 Observe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CE5F19-C220-4D23-A95A-4C43DD9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Watch artifact and Q&amp;A events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D0985C-D4AC-4B47-B66F-7D7695A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5343BA7-1A45-47AD-AD70-CB24E94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S2 Triage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9AB9AA-CA6E-4B1F-96A5-A988FD4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Classify intervention opportunities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9AE7BF9-DB00-4E3E-BBC4-43BDD4A3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176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E58B48-ED35-4AC3-B88B-B115BA2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S3 Ask human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2059AF-E093-4F15-98FB-D121F97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Build a focused evidence bundle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EBC362E-AF58-4813-8FAE-62AF879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8404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7C3AED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64CF239-83B6-4077-8E3B-5D2D9D4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Default behavior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B909BCF-4A6A-41FF-B009-D43FB2CE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Non-blocking; silent fallback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9143703-C161-44C4-A432-A645E74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2A00C3-0257-473C-911C-551424F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6366F1">
                <a:alpha val="2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2846A6-68D7-4959-AD19-E6FA0FE5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H2/H3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E04391C-E38D-4DEC-A309-34883A16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58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Integrator skills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BCAB9D2-C6BE-4C9A-A5EB-EA9567E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14300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A70ACDA-68DD-4580-B607-91093B6C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S4 Capture - structured feedback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6AC935C-30BF-4B6A-8B63-6D7D61A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FF0D6E5-3BDD-461D-8633-C0AD557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S5 Verify - question source conflicts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4D2AE1A-B300-4730-B056-AA64C0F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2316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2B392D-FDAB-4888-939A-5C7FB2F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316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S6 Correction proposals - approval-gated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45B712A-D839-4AF8-A0C1-BE3DDF5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7947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5080">
            <a:solidFill>
              <a:srgbClr val="6366F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BA97EED-16E4-4806-827E-C4740BA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324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S7 Memory - scope-aware reuse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4A2E78D-CF31-4A58-9BEF-9084B822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9476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Skill names and decomposition remain working drafts pending M-02.</a:t>
            </a:r>
          </a:p>
        </p:txBody>
      </p:sp>
      <p:sp>
        <p:nvSpPr>
          <p:cNvPr id="34" name="provenance-footer-18">
            <a:extLst xmlns:a="http://schemas.openxmlformats.org/drawingml/2006/main">
              <a:ext uri="{FF2B5EF4-FFF2-40B4-BE49-F238E27FC236}">
                <a16:creationId xmlns:a16="http://schemas.microsoft.com/office/drawing/2014/main" id="{6BDF1400-23FD-40DE-A4C6-8F01540F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18 / 23</a:t>
            </a:r>
          </a:p>
        </p:txBody>
      </p:sp>
    </p:spTree>
    <p:extLst>
      <p:ext uri="{BB962C8B-B14F-4D97-AF65-F5344CB8AC3E}">
        <p14:creationId xmlns:p14="http://schemas.microsoft.com/office/powerpoint/2010/main" val="21404327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614F09-485F-4FF7-A23F-9E0E224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058929-26BA-4746-9392-04CB45F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CCC9C-6CAA-4238-99C8-333F3062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WORKING DRAFT | Prompt-requirements traceability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4C1D2E-0890-421D-BA61-77BD8A4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Directives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F8968C-4338-407B-96EC-7C027C7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7724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Requirement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A0742E-81BF-4EF7-BAF0-56E0B62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7724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Covered by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350D7F-DAA9-4327-A723-64CFE04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BD4D58-3598-493D-BF14-23462A5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D1-D2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AAE12D-E411-4217-9AA5-B5484F3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Observe both circles and enter early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32FB1D-EC17-452F-BD0B-523DD24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887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S1-S3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029B3-D2CD-4155-A19A-635E57A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D3-D4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FC2F47-3B7C-4870-8CF4-BCDEA13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30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H naming and separate evaluation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C3665A-A822-4E63-8DC9-9E561B6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308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Skills map + diagrams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6EB0BA-8B13-4DB9-940A-DBAA5979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7744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09912A0-EF1E-4D9D-9331-F3F92C0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D5-D6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E5232E-6EF9-48F7-9968-A6ABD51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744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Human reviewer and configurable dosage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AADD4-03EC-42F5-8013-3326140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Human review + S2-S4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B9AB04-E849-423A-BCCB-82261E47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D7-D8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1040AE-B529-4EE2-B949-B19DB98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Bidirectional integration and learning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0B9BA9-6B0E-47A6-82C3-DDD117B3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S4 + S6 + S7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3F7DB86-602E-4607-8C6F-FF2955F3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66160"/>
            <a:ext cx="8595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F">
              <a:alpha val="70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1CBAF8-B55C-409D-A8B6-AD427C5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D9-D10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D7C68A-78DC-4E93-803A-A95D3D0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616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Verify and converge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1C59DE-F340-4BBC-9A40-F965B7D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616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B71A2BF-7CDE-4954-B730-AF4FA51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D11-D12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7C05FF6-330F-49E7-9A3F-5DAD855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605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Deliverables, survey, and future ideas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A894255-F524-435A-B93B-15573144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05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Docs + idea log</a:t>
            </a:r>
          </a:p>
        </p:txBody>
      </p:sp>
      <p:sp>
        <p:nvSpPr>
          <p:cNvPr id="29" name="provenance-footer-19">
            <a:extLst xmlns:a="http://schemas.openxmlformats.org/drawingml/2006/main">
              <a:ext uri="{FF2B5EF4-FFF2-40B4-BE49-F238E27FC236}">
                <a16:creationId xmlns:a16="http://schemas.microsoft.com/office/drawing/2014/main" id="{2EC6FDDF-3849-4404-AF68-986012E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19 / 23</a:t>
            </a:r>
          </a:p>
        </p:txBody>
      </p:sp>
    </p:spTree>
    <p:extLst>
      <p:ext uri="{BB962C8B-B14F-4D97-AF65-F5344CB8AC3E}">
        <p14:creationId xmlns:p14="http://schemas.microsoft.com/office/powerpoint/2010/main" val="518069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7462E2D-0FB2-4F51-B3B7-D3D311A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D7B9F4-0813-4059-9A0C-AFC9BC2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B597CB-188B-4533-9CD6-1EB3CDC5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OFFLINE EVIDENCE | Method and limits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B980A4-3F44-4F60-9ABA-3C51BE8D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DFDAE-D565-4146-8CC7-25EBBC9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Offline replay sequence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A027CB-9AE5-4575-9E14-B812FE00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64B354-1FE4-473F-BF45-2232B49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1C204A1-A22D-48AB-9E56-4554105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016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Read existing historical outputs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6DF459-2E31-413E-BFAF-D348E0E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04DF4BB-DC22-4F9C-806C-D633B753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DC4EFB-B823-44FE-9700-28DE75E7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Reconstruct observable events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8E4B69-80C4-47A9-A322-3EDE02C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17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DB2E21-EDF6-4A4C-B641-19A1144D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17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63DA1B5-C1E8-4F9E-AE15-CE940551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Replay dosage policies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97578B-71CA-453E-900B-7FAFE7FF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438B8F-09FC-4593-A8D0-6B007007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012B9D-4563-472D-94B2-D1E3FE3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89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Mine guideline instability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B0E8AA2-11F5-4DD9-9C88-C8AE5BE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3756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DF887A3-96EA-4988-A66B-9D444AB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3756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9B3E6A-5880-4E10-B3BF-43E1D60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Seed conflicts - synthetic only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28790C6-2AF5-4A5A-BA21-9C96E9AD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8DD2A03-4CE7-4BFA-9926-AA72F4F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5B63335-8669-492C-8726-54FD859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Sweep dialogue round bounds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9DD15DF-B18B-4339-9796-BAFD6A97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7F98B2A-EA02-49D7-ADC4-001DCE9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8686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Evidence classification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C426635-EE79-446C-BEFE-01560A9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FE6C7F9-F873-465F-9375-F6FC53A5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716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Mechanism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0CC7A0D-6F36-4F72-8855-EE27209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7160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 runtime behavior changes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4FFC148-322A-469D-A074-9C7F17E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560060A-F1C9-45C4-A574-8864E92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Synthetic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5E9477F-DB74-4D78-926D-A4DCFFD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4884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Not human evidence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FB5307-41D8-43D7-8108-2AFB690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4216FA8-15A6-4207-B32C-AD48C0A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60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Real-label gate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03B3A8-0EB7-4177-849A-2B66ECD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EXP-005: 0 supplied labels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AFBDC94-F5D8-4E16-82BA-20B0EA8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49040"/>
            <a:ext cx="3840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Results inform design choices only. They do not prove quality, accuracy, generalization, human behavior, or clinical use.</a:t>
            </a:r>
          </a:p>
        </p:txBody>
      </p:sp>
      <p:sp>
        <p:nvSpPr>
          <p:cNvPr id="37" name="provenance-footer-20">
            <a:extLst xmlns:a="http://schemas.openxmlformats.org/drawingml/2006/main">
              <a:ext uri="{FF2B5EF4-FFF2-40B4-BE49-F238E27FC236}">
                <a16:creationId xmlns:a16="http://schemas.microsoft.com/office/drawing/2014/main" id="{8A3BE95F-EDEF-47A5-8535-637BF37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 EVIDENCE  |  VEGO-AI supervisor package  |  20 / 23</a:t>
            </a:r>
          </a:p>
        </p:txBody>
      </p:sp>
    </p:spTree>
    <p:extLst>
      <p:ext uri="{BB962C8B-B14F-4D97-AF65-F5344CB8AC3E}">
        <p14:creationId xmlns:p14="http://schemas.microsoft.com/office/powerpoint/2010/main" val="8525216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7462E2D-0FB2-4F51-B3B7-D3D311A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D7B9F4-0813-4059-9A0C-AFC9BC2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B597CB-188B-4533-9CD6-1EB3CDC5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PARKED EVALUATION | EXP-005 gate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B980A4-3F44-4F60-9ABA-3C51BE8D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416052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DFDAE-D565-4146-8CC7-25EBBC9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Human-label protocol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A027CB-9AE5-4575-9E14-B812FE00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64B354-1FE4-473F-BF45-2232B49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1C204A1-A22D-48AB-9E56-4554105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016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Supervisor approves protocol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6DF459-2E31-413E-BFAF-D348E0E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04DF4BB-DC22-4F9C-806C-D633B753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DC4EFB-B823-44FE-9700-28DE75E7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Two reviewers work independently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8E4B69-80C4-47A9-A322-3EDE02C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17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DB2E21-EDF6-4A4C-B641-19A1144D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17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63DA1B5-C1E8-4F9E-AE15-CE940551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Blind randomized sheets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97578B-71CA-453E-900B-7FAFE7FF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438B8F-09FC-4593-A8D0-6B007007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012B9D-4563-472D-94B2-D1E3FE3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89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Agreement analysis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B0E8AA2-11F5-4DD9-9C88-C8AE5BE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3756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DF887A3-96EA-4988-A66B-9D444AB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3756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9B3E6A-5880-4E10-B3BF-43E1D60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Adjudicate disagreements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28790C6-2AF5-4A5A-BA21-9C96E9AD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8DD2A03-4CE7-4BFA-9926-AA72F4F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5B63335-8669-492C-8726-54FD859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Freeze reference labels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9DD15DF-B18B-4339-9796-BAFD6A97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4206240" cy="384048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7F98B2A-EA02-49D7-ADC4-001DCE9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8686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Evidence gate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C426635-EE79-446C-BEFE-01560A9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FE6C7F9-F873-465F-9375-F6FC53A5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716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 labels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0CC7A0D-6F36-4F72-8855-EE27209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7160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Accuracy improvement cannot be evaluated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4FFC148-322A-469D-A074-9C7F17E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F59E0B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560060A-F1C9-45C4-A574-8864E92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1-19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5E9477F-DB74-4D78-926D-A4DCFFD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4884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Pilot or qualitative reporting only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FB5307-41D8-43D7-8108-2AFB690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9476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635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4216FA8-15A6-4207-B32C-AD48C0A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60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&gt;= 20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03B3A8-0EB7-4177-849A-2B66ECD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Quantitative reporting permitted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AFBDC94-F5D8-4E16-82BA-20B0EA8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49040"/>
            <a:ext cx="3840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Current state: 24 generalization-safe candidates and 0 supplied labels. Evaluation remains parked; no accuracy claim is permitted.</a:t>
            </a:r>
          </a:p>
        </p:txBody>
      </p:sp>
      <p:sp>
        <p:nvSpPr>
          <p:cNvPr id="37" name="provenance-footer-21">
            <a:extLst xmlns:a="http://schemas.openxmlformats.org/drawingml/2006/main">
              <a:ext uri="{FF2B5EF4-FFF2-40B4-BE49-F238E27FC236}">
                <a16:creationId xmlns:a16="http://schemas.microsoft.com/office/drawing/2014/main" id="{674453FC-AA14-4DC1-AF83-0B5B2D7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 EVIDENCE  |  VEGO-AI supervisor package  |  21 / 23</a:t>
            </a:r>
          </a:p>
        </p:txBody>
      </p:sp>
    </p:spTree>
    <p:extLst>
      <p:ext uri="{BB962C8B-B14F-4D97-AF65-F5344CB8AC3E}">
        <p14:creationId xmlns:p14="http://schemas.microsoft.com/office/powerpoint/2010/main" val="8525216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E93D8B-35F5-41A3-B5CC-B8081175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FC1D79-33D1-4A39-9C34-8010333C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7BD38E-4C01-493E-B97E-63BF3E3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PARKED EVALUATION | Future comparison design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F4D6C1-971F-4B35-8ACA-CE50263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D2CB4C-D8C0-4EA5-98C3-01646E9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60ECB5-D2B2-444F-95F4-9E2BB53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Version 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A2F481-E1A0-45BE-B805-92D1277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Baseline framework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without active H-layer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6C32B7-96C0-4951-8C71-8185575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018613-D5D2-4381-8B97-81BEF5C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454987-0028-49FA-BBB6-1841EA8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3B82F6">
                <a:alpha val="25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287853-5E98-416E-92C3-D569721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Version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8C6367-540F-4577-9FCC-73FFCC83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Same framework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with approved H-layer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EFF005-CA6F-4816-A536-819FE55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8BFCC7-33B0-401C-AE21-8F5C161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A855F7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0F9D1B1-A327-4A97-BAD0-9C7521DB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5F7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A855F7">
                <a:alpha val="2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6BC60E-333E-4FD3-8F7C-F890E85B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447B42-A3B3-4398-9BEB-33E8277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Disagreement, traceability, workload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and agreed quality measures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A9D18F3-0CDF-4DAF-86AF-7D74A2E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288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B84A54A-5447-4D3F-B45C-DF44ECB3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914400"/>
            <a:ext cx="2011680" cy="256032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972BA9-5D44-4180-ACB2-457AB5E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4672"/>
            <a:ext cx="13716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A3D56C4-EBBE-4D21-9A56-172315A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46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Usability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09B6AE-DCBA-41CB-A292-9CB2A31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325880"/>
            <a:ext cx="1737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Questionnaire for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Version 1 participants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264CD0B-5F2D-499D-A793-13459B8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49040"/>
            <a:ext cx="8595360" cy="822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10160">
            <a:solidFill>
              <a:srgbClr val="9333EA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A9C4712-0442-4B5F-8474-D89E3CF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Entry gate: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208B093-0145-4458-82D9-AF6B4692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Framework approved + at least 20 generalization-safe labels + supervisor go-ahead.</a:t>
            </a:r>
          </a:p>
        </p:txBody>
      </p:sp>
      <p:sp>
        <p:nvSpPr>
          <p:cNvPr id="27" name="provenance-footer-22">
            <a:extLst xmlns:a="http://schemas.openxmlformats.org/drawingml/2006/main">
              <a:ext uri="{FF2B5EF4-FFF2-40B4-BE49-F238E27FC236}">
                <a16:creationId xmlns:a16="http://schemas.microsoft.com/office/drawing/2014/main" id="{C14A005D-8751-4474-A2EC-697AB3E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22 / 23</a:t>
            </a:r>
          </a:p>
        </p:txBody>
      </p:sp>
    </p:spTree>
    <p:extLst>
      <p:ext uri="{BB962C8B-B14F-4D97-AF65-F5344CB8AC3E}">
        <p14:creationId xmlns:p14="http://schemas.microsoft.com/office/powerpoint/2010/main" val="313137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6C09BE-FB93-4C00-B6B2-DDA069D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1828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>
              <a:alpha val="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87C518D-5476-465E-AB96-D862164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C61E18-D745-4975-9CC7-401B127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APPENDIX PROPOSAL | MediVARIA remains future work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4BE5E7-A1D2-4D35-B24F-2959FD4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5B1ED8-93C3-4FA9-A4EA-6226DB2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659A9C-3F62-4279-A791-61D430E4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MSc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BCB3DA-EB72-4307-8ED7-9DA76CD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Keep the empirical study in the education domain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B00543-AF91-4815-800F-7C6C031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9144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Current thesis scope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B4CCA67-73B0-440B-9046-89ADBD4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EE6652-F93E-46D0-BD51-4D07DAA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LOCKED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D1D2261-19EB-4EE8-9BB8-3ED31D3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488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10B981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D2103D6-64E0-453D-BEB4-5185060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30D8F1-C915-4146-9158-381673E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51F4926-CB3F-4335-BE22-C970C4F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Ask whether H-layer concepts could transfer to medical-guideline work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7D1AF9-54D0-401F-AF1B-DF68AF5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2860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MediVARIA proposal-only draft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AD0D5BB-ECF8-48EA-A8A1-6D9912C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7432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10B981">
                <a:alpha val="25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F7B1978-4A10-44A9-8F7B-66436B0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743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PROPOSAL ONLY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85894B-7F03-4AE0-B7A0-37582BCF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20440"/>
            <a:ext cx="8595360" cy="11887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A1A2F">
              <a:alpha val="60000"/>
            </a:srgbClr>
          </a:solidFill>
          <a:ln xmlns:a="http://schemas.openxmlformats.org/drawingml/2006/main" w="7620">
            <a:solidFill>
              <a:srgbClr val="EF4444"/>
            </a:solidFill>
            <a:prstDash val="solid"/>
          </a:ln>
          <a:effectLst xmlns:a="http://schemas.openxmlformats.org/drawingml/2006/main">
            <a:outerShdw blurRad="101600" dist="50800" dir="16200000" sx="100000" sy="100000" kx="0" ky="0" algn="bl" rotWithShape="0">
              <a:srgbClr val="9333EA">
                <a:alpha val="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AE7AEB-1892-417D-A86B-8B9B6CC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315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70B9D50-A56A-4B16-8F76-6B0FAF0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B4D6745-56FE-4C9B-8DBB-94B5A9E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Require supervisor endorsement, partner, ethics route, and separate evidence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B69B3C-5F1A-4DD9-B076-0DD5F9E0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576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84FC"/>
                </a:solidFill>
                <a:latin typeface="Calibri"/>
                <a:ea typeface="Calibri"/>
                <a:cs typeface="Calibri"/>
              </a:rPr>
              <a:t>No clinical claim or implementation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05F6D87-4DEC-42F7-B09B-2893BD3F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114800"/>
            <a:ext cx="25603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effectLst xmlns:a="http://schemas.openxmlformats.org/drawingml/2006/main">
            <a:outerShdw blurRad="127000" dist="50800" dir="16200000" sx="100000" sy="100000" kx="0" ky="0" algn="bl" rotWithShape="0">
              <a:srgbClr val="EF4444">
                <a:alpha val="2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43F7336-495D-47C6-9C69-7D0EBAAA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1148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DEFERRED</a:t>
            </a:r>
          </a:p>
        </p:txBody>
      </p:sp>
      <p:sp>
        <p:nvSpPr>
          <p:cNvPr id="26" name="provenance-footer-23">
            <a:extLst xmlns:a="http://schemas.openxmlformats.org/drawingml/2006/main">
              <a:ext uri="{FF2B5EF4-FFF2-40B4-BE49-F238E27FC236}">
                <a16:creationId xmlns:a16="http://schemas.microsoft.com/office/drawing/2014/main" id="{B31DF68C-037A-414C-A99D-EC58C191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675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WORKING DRAFT  |  VEGO-AI supervisor package  |  23 / 23</a:t>
            </a:r>
          </a:p>
        </p:txBody>
      </p:sp>
    </p:spTree>
    <p:extLst>
      <p:ext uri="{BB962C8B-B14F-4D97-AF65-F5344CB8AC3E}">
        <p14:creationId xmlns:p14="http://schemas.microsoft.com/office/powerpoint/2010/main" val="12872907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2026-07-20T18:58:39.3630000Z</dcterms:created>
  <dcterms:modified xsi:type="dcterms:W3CDTF">2026-07-20T18:58:39.3630000Z</dcterms:modified>
</coreProperties>
</file>