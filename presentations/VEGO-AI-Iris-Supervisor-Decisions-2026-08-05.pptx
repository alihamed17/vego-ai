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Controls</c:v>
          </c:tx>
          <c:spPr>
            <a:solidFill>
              <a:srgbClr val="3D8DFF"/>
            </a:solidFill>
          </c:spPr>
          <c:invertIfNegative val="1"/>
          <c:dLbls>
            <c:spPr>
              <a:noFill/>
              <a:ln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Verified</c:v>
              </c:pt>
              <c:pt idx="1">
                <c:v>Awaiting</c:v>
              </c:pt>
              <c:pt idx="2">
                <c:v>Partial</c:v>
              </c:pt>
              <c:pt idx="3">
                <c:v>Open</c:v>
              </c:pt>
              <c:pt idx="4">
                <c:v>Blocked</c:v>
              </c:pt>
            </c:strLit>
          </c:cat>
          <c:val>
            <c:numLit>
              <c:formatCode>General</c:formatCode>
              <c:ptCount val="5"/>
              <c:pt idx="0">
                <c:v>2</c:v>
              </c:pt>
              <c:pt idx="1">
                <c:v>6</c:v>
              </c:pt>
              <c:pt idx="2">
                <c:v>22</c:v>
              </c:pt>
              <c:pt idx="3">
                <c:v>5</c:v>
              </c:pt>
              <c:pt idx="4">
                <c:v>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038C-4492-96FB-2B1A5476E53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8BCC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LID4096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24"/>
        </c:scaling>
        <c:delete val="0"/>
        <c:axPos val="l"/>
        <c:majorGridlines>
          <c:spPr>
            <a:ln w="9525">
              <a:solidFill>
                <a:srgbClr val="EDEDED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w="0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9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LID4096"/>
          </a:p>
        </c:txPr>
        <c:crossAx val="48650112"/>
        <c:crosses val="autoZero"/>
        <c:crossBetween val="between"/>
        <c:majorUnit val="6"/>
      </c:valAx>
      <c:spPr>
        <a:noFill/>
        <a:ln w="0">
          <a:solidFill>
            <a:srgbClr val="FFFFFF"/>
          </a:solidFill>
          <a:prstDash val="solid"/>
        </a:ln>
      </c:spPr>
    </c:plotArea>
    <c:plotVisOnly val="1"/>
    <c:dispBlanksAs val="zero"/>
    <c:showDLblsOverMax val="1"/>
  </c:chart>
  <c:spPr>
    <a:solidFill>
      <a:srgbClr val="FFFFFF"/>
    </a:solidFill>
    <a:ln w="0">
      <a:solidFill>
        <a:srgbClr val="FFFFFF"/>
      </a:solidFill>
      <a:prstDash val="solid"/>
    </a:ln>
  </c:spPr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0:00–0:30 — State the purpose: approve or precisely correct the architecture and close with one task.</a:t>
            </a:r>
          </a:p>
          <a:p>
            <a:r>
              <a:t>State that this is the weekly supervisor package, not the candidacy or Penina presentation.</a:t>
            </a:r>
          </a:p>
          <a:p>
            <a:endParaRPr/>
          </a:p>
          <a:p>
            <a:r>
              <a:t>[Sources]</a:t>
            </a:r>
          </a:p>
          <a:p>
            <a:r>
              <a:t>- docs/research/meetings/2026-08-05-supervisor-presentation-checklist.md</a:t>
            </a:r>
          </a:p>
          <a:p>
            <a:r>
              <a:t>- docs/research/meetings/2026-08-05-supervisor-pre-read.md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0:30–1:10 — Emphasize the difference between capture, implementation, and acceptance.</a:t>
            </a:r>
          </a:p>
          <a:p>
            <a:r>
              <a:t>Do not say 44/44 complete. State the current distribution: 6 awaiting, 22 partial, 5 open, 9 blocked.</a:t>
            </a:r>
          </a:p>
          <a:p>
            <a:endParaRPr/>
          </a:p>
          <a:p>
            <a:r>
              <a:t>[Sources]</a:t>
            </a:r>
          </a:p>
          <a:p>
            <a:r>
              <a:t>- docs/research/phd-proposal/iris-requirements-closure-audit.md</a:t>
            </a:r>
          </a:p>
          <a:p>
            <a:r>
              <a:t>- docs/research/phd-proposal/master-traceability-register.md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1:10–2:10 — Read the four conceptual slots; alternatives are wording variants, not additional RQs.</a:t>
            </a:r>
          </a:p>
          <a:p>
            <a:r>
              <a:t>Request D-RQ-01 and D-RQ-02. Record exact corrections.</a:t>
            </a:r>
          </a:p>
          <a:p>
            <a:endParaRPr/>
          </a:p>
          <a:p>
            <a:r>
              <a:t>[Sources]</a:t>
            </a:r>
          </a:p>
          <a:p>
            <a:r>
              <a:t>- docs/research/phd-proposal/2026-08-05-rq-decision-pack.md</a:t>
            </a:r>
          </a:p>
          <a:p>
            <a:r>
              <a:t>- docs/research/meetings/2026-07-29-iris-requirements-register.md (R-01, R-07, R-08)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2:10–3:05 — Connect each SQ to method, evidence, artifact, metrics, risk and fallback.</a:t>
            </a:r>
          </a:p>
          <a:p>
            <a:r>
              <a:t>Request D-RQ-03. Outcomes remain planned until protocols and human evidence run.</a:t>
            </a:r>
          </a:p>
          <a:p>
            <a:endParaRPr/>
          </a:p>
          <a:p>
            <a:r>
              <a:t>[Sources]</a:t>
            </a:r>
          </a:p>
          <a:p>
            <a:r>
              <a:t>- docs/research/phd-proposal/three-study-contract.md</a:t>
            </a:r>
          </a:p>
          <a:p>
            <a:r>
              <a:t>- docs/research/phd-proposal/2026-08-05-rq-decision-pack.md#4-study-mapping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3:05–3:35 — This slide prevents scope fragmentation and shows that prior work is not discarded.</a:t>
            </a:r>
          </a:p>
          <a:p>
            <a:r>
              <a:t>Ask only whether the crosswalk logic is acceptable; do not reopen every legacy wording item.</a:t>
            </a:r>
          </a:p>
          <a:p>
            <a:endParaRPr/>
          </a:p>
          <a:p>
            <a:r>
              <a:t>[Sources]</a:t>
            </a:r>
          </a:p>
          <a:p>
            <a:r>
              <a:t>- docs/research/phd-proposal/legacy-rq-crosswalk.md</a:t>
            </a:r>
          </a:p>
          <a:p>
            <a:r>
              <a:t>- docs/research/phd-proposal/legacy-decision-disposition.md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3:35–4:30 — Ask D-RQ-04, D-RQ-05 and, if time permits, D-RQ-06.</a:t>
            </a:r>
          </a:p>
          <a:p>
            <a:r>
              <a:t>Make clear that the 26 August date is an internal proposed control, not a July 29 approval.</a:t>
            </a:r>
          </a:p>
          <a:p>
            <a:endParaRPr/>
          </a:p>
          <a:p>
            <a:r>
              <a:t>[Sources]</a:t>
            </a:r>
          </a:p>
          <a:p>
            <a:r>
              <a:t>- docs/research/phd-proposal/2026-08-05-rq-decision-pack.md#5-plan-a-and-plan-b-for-confirmation</a:t>
            </a:r>
          </a:p>
          <a:p>
            <a:r>
              <a:t>- docs/research/governance/medical-readiness-scorecard.md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4:30–5:15 — Request D-RQ-08 only if time permits.
Do not call the literature review or novelty case complete; the structure and seed tranche are the only narrow completions.
5:15–6:15 — Reserved for supervisor clarification; if unused, continue immediately and preserve the time for the decision read-back.
[Sources]
- docs/research/phd-proposal/literature-review-protocol.md
- docs/research/phd-proposal/master-traceability-register.md (R-15, R-16, A-02, A-03)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6:15–7:10 — The bar chart is the audited control-state distribution, not scientific performance.</a:t>
            </a:r>
          </a:p>
          <a:p>
            <a:r>
              <a:t>Say explicitly: mechanism/readiness evidence exists; accuracy, generalization, effort reduction, and clinical benefit do not.</a:t>
            </a:r>
          </a:p>
          <a:p>
            <a:endParaRPr/>
          </a:p>
          <a:p>
            <a:r>
              <a:t>[Sources]</a:t>
            </a:r>
          </a:p>
          <a:p>
            <a:r>
              <a:t>- docs/research/phd-proposal/iris-requirements-closure-audit.md</a:t>
            </a:r>
          </a:p>
          <a:p>
            <a:r>
              <a:t>- docs/research/phd-proposal/claim-register.md</a:t>
            </a:r>
          </a:p>
          <a:p>
            <a:r>
              <a:t>- docs/research/governance/mimic-metadata-audit-2026-07-30.md</a:t>
            </a:r>
          </a:p>
          <a:p>
            <a:r>
              <a:t>- reports/generated/exp005_label_review/ (current safe-label gate: 0/24)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7:10–8:00 — State 0/6, 25/26 observed tables and missing NOTEEVENTS/provenance.</a:t>
            </a:r>
          </a:p>
          <a:p>
            <a:r>
              <a:t>Ask D-RQ-09 and the medical-owner portion of D-RQ-10 if time permits.</a:t>
            </a:r>
          </a:p>
          <a:p>
            <a:r>
              <a:t>No online/commercial model and no row-level work are authorized.</a:t>
            </a:r>
          </a:p>
          <a:p>
            <a:endParaRPr/>
          </a:p>
          <a:p>
            <a:r>
              <a:t>[Sources]</a:t>
            </a:r>
          </a:p>
          <a:p>
            <a:r>
              <a:t>- docs/research/governance/medical-readiness-scorecard.md</a:t>
            </a:r>
          </a:p>
          <a:p>
            <a:r>
              <a:t>- docs/research/governance/mimic-metadata-audit-2026-07-30.md</a:t>
            </a:r>
          </a:p>
          <a:p>
            <a:r>
              <a:t>- docs/research/governance/phd-data-boundary.md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8:00–8:45 — Calendar recurrence is confirmed; weekly execution quality is not yet evidenced.</a:t>
            </a:r>
          </a:p>
          <a:p>
            <a:r>
              <a:t>Drive sharing, official candidacy rules, Penina dates and Iris availability require explicit confirmation.</a:t>
            </a:r>
          </a:p>
          <a:p>
            <a:endParaRPr/>
          </a:p>
          <a:p>
            <a:r>
              <a:t>[Sources]</a:t>
            </a:r>
          </a:p>
          <a:p>
            <a:r>
              <a:t>- docs/research/phd-proposal/resource-raci-raid-register.md</a:t>
            </a:r>
          </a:p>
          <a:p>
            <a:r>
              <a:t>- docs/research/phd-proposal/university-process-verification-checklist.md</a:t>
            </a:r>
          </a:p>
          <a:p>
            <a:r>
              <a:t>- docs/research/phd-proposal/drive-workspace-manifest.md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8:45–10:00 — Pause after each decision and capture exact wording, approver and rationale.</a:t>
            </a:r>
          </a:p>
          <a:p>
            <a:r>
              <a:t>D-RQ-06, 08, 09 and owner assignment D-RQ-10 remain available in the appendix/pre-read.</a:t>
            </a:r>
          </a:p>
          <a:p>
            <a:endParaRPr/>
          </a:p>
          <a:p>
            <a:r>
              <a:t>[Sources]</a:t>
            </a:r>
          </a:p>
          <a:p>
            <a:r>
              <a:t>- docs/research/phd-proposal/2026-08-05-rq-decision-pack.md#7-decisions-requested</a:t>
            </a:r>
          </a:p>
          <a:p>
            <a:r>
              <a:t>- docs/research/meetings/2026-08-05-supervisor-presentation-checklist.md#decision-worksheet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10:00–11:00 — Read back exact decisions and corrections.</a:t>
            </a:r>
          </a:p>
          <a:p>
            <a:r>
              <a:t>Do not close until one primary task has owner, due date, evidence and definition of done.</a:t>
            </a:r>
          </a:p>
          <a:p>
            <a:r>
              <a:t>A deferred item remains open and is not converted into acceptance.</a:t>
            </a:r>
          </a:p>
          <a:p>
            <a:endParaRPr/>
          </a:p>
          <a:p>
            <a:r>
              <a:t>[Sources]</a:t>
            </a:r>
          </a:p>
          <a:p>
            <a:r>
              <a:t>- docs/templates/weekly-supervisor-pre-read.md</a:t>
            </a:r>
          </a:p>
          <a:p>
            <a:r>
              <a:t>- docs/research/phd-proposal/decision-change-log.md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only if a requirement-specific question arises.</a:t>
            </a:r>
          </a:p>
          <a:p>
            <a:endParaRPr/>
          </a:p>
          <a:p>
            <a:r>
              <a:t>[Sources]</a:t>
            </a:r>
          </a:p>
          <a:p>
            <a:r>
              <a:t>- docs/research/phd-proposal/iris-requirements-closure-audit.md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only if a requirement-specific question arises.</a:t>
            </a:r>
          </a:p>
          <a:p>
            <a:endParaRPr/>
          </a:p>
          <a:p>
            <a:r>
              <a:t>[Sources]</a:t>
            </a:r>
          </a:p>
          <a:p>
            <a:r>
              <a:t>- docs/research/phd-proposal/iris-requirements-closure-audit.md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 not equate an artifact draft with delivered or accepted work.</a:t>
            </a:r>
          </a:p>
          <a:p>
            <a:endParaRPr/>
          </a:p>
          <a:p>
            <a:r>
              <a:t>[Sources]</a:t>
            </a:r>
          </a:p>
          <a:p>
            <a:r>
              <a:t>- docs/research/phd-proposal/iris-requirements-closure-audit.md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 not equate an artifact draft with delivered or accepted work.</a:t>
            </a:r>
          </a:p>
          <a:p>
            <a:endParaRPr/>
          </a:p>
          <a:p>
            <a:r>
              <a:t>[Sources]</a:t>
            </a:r>
          </a:p>
          <a:p>
            <a:r>
              <a:t>- docs/research/phd-proposal/iris-requirements-closure-audit.md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Silence remains Deferred.</a:t>
            </a:r>
          </a:p>
          <a:p>
            <a:endParaRPr/>
          </a:p>
          <a:p>
            <a:r>
              <a:t>[Sources]</a:t>
            </a:r>
          </a:p>
          <a:p>
            <a:r>
              <a:t>- docs/research/phd-proposal/iris-requirements-closure-audit.md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Keep claim state visible before discussing results.</a:t>
            </a:r>
          </a:p>
          <a:p>
            <a:endParaRPr/>
          </a:p>
          <a:p>
            <a:r>
              <a:t>[Sources]</a:t>
            </a:r>
          </a:p>
          <a:p>
            <a:r>
              <a:t>- docs/research/phd-proposal/claim-register.md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Appendix — Do not show or read a direct quote. The ledger is a review interface, not a completed review.</a:t>
            </a:r>
          </a:p>
          <a:p>
            <a:r>
              <a:t>Only S-0001–S-0006 have pre-existing high-confidence named Iris attribution.</a:t>
            </a:r>
          </a:p>
          <a:p>
            <a:endParaRPr/>
          </a:p>
          <a:p>
            <a:r>
              <a:t>[Sources]</a:t>
            </a:r>
          </a:p>
          <a:p>
            <a:r>
              <a:t>- docs/research/meetings/2026-07-29-iris-supervisor-provenance-manifest.md</a:t>
            </a:r>
          </a:p>
          <a:p>
            <a:r>
              <a:t>- outputs/iris-closure-2026-08-01/Iris_Zoom_Review_Ledger_2026-07-29.xlsx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this crosswalk to avoid creating duplicate canonical experiment IDs.</a:t>
            </a:r>
          </a:p>
          <a:p>
            <a:endParaRPr/>
          </a:p>
          <a:p>
            <a:r>
              <a:t>[Sources]</a:t>
            </a:r>
          </a:p>
          <a:p>
            <a:r>
              <a:t>- docs/research/phd-proposal/scientific-experiment-crosswalk.md</a:t>
            </a:r>
          </a:p>
          <a:p>
            <a:r>
              <a:t>- experiments/registry.md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End appendix with the exact release boundary.</a:t>
            </a:r>
          </a:p>
          <a:p>
            <a:endParaRPr/>
          </a:p>
          <a:p>
            <a:r>
              <a:t>[Sources]</a:t>
            </a:r>
          </a:p>
          <a:p>
            <a:r>
              <a:t>- docs/research/meetings/2026-08-05-supervisor-presentation-manifest.md</a:t>
            </a:r>
          </a:p>
          <a:p>
            <a:r>
              <a:t>- docs/research/meetings/2026-08-05-supervisor-rehearsal-record.md</a:t>
            </a:r>
          </a:p>
          <a:p>
            <a:r>
              <a:t>- docs/research/meetings/2026-08-05-supervisor-delivery-access-record.md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yebrow">
            <a:extLst>
              <a:ext uri="{FF2B5EF4-FFF2-40B4-BE49-F238E27FC236}">
                <a16:creationId xmlns:a16="http://schemas.microsoft.com/office/drawing/2014/main" id="{F5898E03-D4A6-4D46-B913-298511BDD9E9}"/>
              </a:ext>
            </a:extLst>
          </p:cNvPr>
          <p:cNvSpPr>
            <a:spLocks noGrp="1"/>
          </p:cNvSpPr>
          <p:nvPr/>
        </p:nvSpPr>
        <p:spPr>
          <a:xfrm>
            <a:off x="400050" y="400050"/>
            <a:ext cx="8572500" cy="4191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VEGO-AI · SUPERVISOR DECISION CHECKPOINT</a:t>
            </a:r>
          </a:p>
        </p:txBody>
      </p:sp>
      <p:sp>
        <p:nvSpPr>
          <p:cNvPr id="2" name="cover-title">
            <a:extLst>
              <a:ext uri="{FF2B5EF4-FFF2-40B4-BE49-F238E27FC236}">
                <a16:creationId xmlns:a16="http://schemas.microsoft.com/office/drawing/2014/main" id="{9AA082B9-FE8D-49EB-829F-30A86499D1BF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10382250" cy="2952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Approve the doctoral spine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protect the evidence boundary</a:t>
            </a:r>
          </a:p>
        </p:txBody>
      </p:sp>
      <p:sp>
        <p:nvSpPr>
          <p:cNvPr id="3" name="cover-subtitle">
            <a:extLst>
              <a:ext uri="{FF2B5EF4-FFF2-40B4-BE49-F238E27FC236}">
                <a16:creationId xmlns:a16="http://schemas.microsoft.com/office/drawing/2014/main" id="{FBB7AD96-DCAA-4494-9A22-8D1DE44E5B98}"/>
              </a:ext>
            </a:extLst>
          </p:cNvPr>
          <p:cNvSpPr>
            <a:spLocks noGrp="1"/>
          </p:cNvSpPr>
          <p:nvPr/>
        </p:nvSpPr>
        <p:spPr>
          <a:xfrm>
            <a:off x="400050" y="5095875"/>
            <a:ext cx="7239000" cy="952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25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Iris Reinhartz-Berger · Arnon Sturm · Ali Hamed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5 August 2026 · weekly supervisor meeting</a:t>
            </a:r>
          </a:p>
        </p:txBody>
      </p:sp>
    </p:spTree>
    <p:extLst>
      <p:ext uri="{BB962C8B-B14F-4D97-AF65-F5344CB8AC3E}">
        <p14:creationId xmlns:p14="http://schemas.microsoft.com/office/powerpoint/2010/main" val="5697022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title">
            <a:extLst>
              <a:ext uri="{FF2B5EF4-FFF2-40B4-BE49-F238E27FC236}">
                <a16:creationId xmlns:a16="http://schemas.microsoft.com/office/drawing/2014/main" id="{69EE55D3-D831-4513-B328-10F6CCF6CAD6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000125"/>
          </a:xfrm>
          <a:prstGeom prst="rect">
            <a:avLst/>
          </a:prstGeom>
        </p:spPr>
        <p:txBody>
          <a:bodyPr lIns="0" tIns="0" rIns="0" bIns="0" anchor="t">
            <a:normAutofit fontScale="88938"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3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known controls are captured; acceptance remains open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6013931C-DAA4-4B6A-8275-80B670E0C910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" name="intro">
            <a:extLst>
              <a:ext uri="{FF2B5EF4-FFF2-40B4-BE49-F238E27FC236}">
                <a16:creationId xmlns:a16="http://schemas.microsoft.com/office/drawing/2014/main" id="{64E73E00-3E78-4667-8568-022297D69B80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1144250" cy="8763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The package is traceable and evidence-linked, but human and external gates still control completion.</a:t>
            </a:r>
          </a:p>
        </p:txBody>
      </p:sp>
      <p:sp>
        <p:nvSpPr>
          <p:cNvPr id="4" name="metric-panel-1">
            <a:extLst>
              <a:ext uri="{FF2B5EF4-FFF2-40B4-BE49-F238E27FC236}">
                <a16:creationId xmlns:a16="http://schemas.microsoft.com/office/drawing/2014/main" id="{6BA393CD-402B-41DD-9F99-470843B4F97F}"/>
              </a:ext>
            </a:extLst>
          </p:cNvPr>
          <p:cNvSpPr>
            <a:spLocks noGrp="1"/>
          </p:cNvSpPr>
          <p:nvPr/>
        </p:nvSpPr>
        <p:spPr>
          <a:xfrm>
            <a:off x="400050" y="2571750"/>
            <a:ext cx="3571875" cy="3143250"/>
          </a:xfrm>
          <a:prstGeom prst="roundRect">
            <a:avLst>
              <a:gd name="adj" fmla="val 2424"/>
            </a:avLst>
          </a:prstGeom>
          <a:solidFill>
            <a:srgbClr val="D8EFFB"/>
          </a:solidFill>
          <a:ln w="0">
            <a:solidFill>
              <a:srgbClr val="D8EFFB"/>
            </a:solidFill>
            <a:prstDash val="solid"/>
          </a:ln>
        </p:spPr>
      </p:sp>
      <p:sp>
        <p:nvSpPr>
          <p:cNvPr id="5" name="metric-1">
            <a:extLst>
              <a:ext uri="{FF2B5EF4-FFF2-40B4-BE49-F238E27FC236}">
                <a16:creationId xmlns:a16="http://schemas.microsoft.com/office/drawing/2014/main" id="{7AB837FA-A4A3-4275-ABC6-6A24EF887EBC}"/>
              </a:ext>
            </a:extLst>
          </p:cNvPr>
          <p:cNvSpPr>
            <a:spLocks noGrp="1"/>
          </p:cNvSpPr>
          <p:nvPr/>
        </p:nvSpPr>
        <p:spPr>
          <a:xfrm>
            <a:off x="685800" y="3000375"/>
            <a:ext cx="3000375" cy="1047750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44/44</a:t>
            </a:r>
          </a:p>
        </p:txBody>
      </p:sp>
      <p:sp>
        <p:nvSpPr>
          <p:cNvPr id="6" name="metric-copy-1">
            <a:extLst>
              <a:ext uri="{FF2B5EF4-FFF2-40B4-BE49-F238E27FC236}">
                <a16:creationId xmlns:a16="http://schemas.microsoft.com/office/drawing/2014/main" id="{804EE8AF-67DF-4B62-894F-332BFA4BF420}"/>
              </a:ext>
            </a:extLst>
          </p:cNvPr>
          <p:cNvSpPr>
            <a:spLocks noGrp="1"/>
          </p:cNvSpPr>
          <p:nvPr/>
        </p:nvSpPr>
        <p:spPr>
          <a:xfrm>
            <a:off x="685800" y="4238625"/>
            <a:ext cx="3000375" cy="11906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controls captured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19 requirements · 15 actions · 10 questions</a:t>
            </a:r>
          </a:p>
        </p:txBody>
      </p:sp>
      <p:sp>
        <p:nvSpPr>
          <p:cNvPr id="7" name="metric-panel-2">
            <a:extLst>
              <a:ext uri="{FF2B5EF4-FFF2-40B4-BE49-F238E27FC236}">
                <a16:creationId xmlns:a16="http://schemas.microsoft.com/office/drawing/2014/main" id="{01E44F4E-56F0-4B42-BDD7-F4D311CE1F7B}"/>
              </a:ext>
            </a:extLst>
          </p:cNvPr>
          <p:cNvSpPr>
            <a:spLocks noGrp="1"/>
          </p:cNvSpPr>
          <p:nvPr/>
        </p:nvSpPr>
        <p:spPr>
          <a:xfrm>
            <a:off x="4314825" y="2571750"/>
            <a:ext cx="3571875" cy="3143250"/>
          </a:xfrm>
          <a:prstGeom prst="roundRect">
            <a:avLst>
              <a:gd name="adj" fmla="val 2424"/>
            </a:avLst>
          </a:prstGeom>
          <a:solidFill>
            <a:srgbClr val="F2F2F2"/>
          </a:solidFill>
          <a:ln w="0">
            <a:solidFill>
              <a:srgbClr val="F2F2F2"/>
            </a:solidFill>
            <a:prstDash val="solid"/>
          </a:ln>
        </p:spPr>
      </p:sp>
      <p:sp>
        <p:nvSpPr>
          <p:cNvPr id="8" name="metric-2">
            <a:extLst>
              <a:ext uri="{FF2B5EF4-FFF2-40B4-BE49-F238E27FC236}">
                <a16:creationId xmlns:a16="http://schemas.microsoft.com/office/drawing/2014/main" id="{C995E951-9607-4641-8077-195417C4477F}"/>
              </a:ext>
            </a:extLst>
          </p:cNvPr>
          <p:cNvSpPr>
            <a:spLocks noGrp="1"/>
          </p:cNvSpPr>
          <p:nvPr/>
        </p:nvSpPr>
        <p:spPr>
          <a:xfrm>
            <a:off x="4600575" y="3000375"/>
            <a:ext cx="3000375" cy="1047750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4C956C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metric-copy-2">
            <a:extLst>
              <a:ext uri="{FF2B5EF4-FFF2-40B4-BE49-F238E27FC236}">
                <a16:creationId xmlns:a16="http://schemas.microsoft.com/office/drawing/2014/main" id="{6BA9B471-6474-4EFD-B39F-7FB69085ACD4}"/>
              </a:ext>
            </a:extLst>
          </p:cNvPr>
          <p:cNvSpPr>
            <a:spLocks noGrp="1"/>
          </p:cNvSpPr>
          <p:nvPr/>
        </p:nvSpPr>
        <p:spPr>
          <a:xfrm>
            <a:off x="4600575" y="4238625"/>
            <a:ext cx="3000375" cy="11906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narrowly verified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A-03 workbook seed and A-06 calendar recurrence</a:t>
            </a:r>
          </a:p>
        </p:txBody>
      </p:sp>
      <p:sp>
        <p:nvSpPr>
          <p:cNvPr id="10" name="metric-panel-3">
            <a:extLst>
              <a:ext uri="{FF2B5EF4-FFF2-40B4-BE49-F238E27FC236}">
                <a16:creationId xmlns:a16="http://schemas.microsoft.com/office/drawing/2014/main" id="{A2F7BE83-9047-42C1-91B7-B38B9F948DAD}"/>
              </a:ext>
            </a:extLst>
          </p:cNvPr>
          <p:cNvSpPr>
            <a:spLocks noGrp="1"/>
          </p:cNvSpPr>
          <p:nvPr/>
        </p:nvSpPr>
        <p:spPr>
          <a:xfrm>
            <a:off x="8229600" y="2571750"/>
            <a:ext cx="3571875" cy="3143250"/>
          </a:xfrm>
          <a:prstGeom prst="roundRect">
            <a:avLst>
              <a:gd name="adj" fmla="val 2424"/>
            </a:avLst>
          </a:prstGeom>
          <a:solidFill>
            <a:srgbClr val="F2F2F2"/>
          </a:solidFill>
          <a:ln w="0">
            <a:solidFill>
              <a:srgbClr val="F2F2F2"/>
            </a:solidFill>
            <a:prstDash val="solid"/>
          </a:ln>
        </p:spPr>
      </p:sp>
      <p:sp>
        <p:nvSpPr>
          <p:cNvPr id="11" name="metric-3">
            <a:extLst>
              <a:ext uri="{FF2B5EF4-FFF2-40B4-BE49-F238E27FC236}">
                <a16:creationId xmlns:a16="http://schemas.microsoft.com/office/drawing/2014/main" id="{FA38B357-3945-4107-8358-038022396FE0}"/>
              </a:ext>
            </a:extLst>
          </p:cNvPr>
          <p:cNvSpPr>
            <a:spLocks noGrp="1"/>
          </p:cNvSpPr>
          <p:nvPr/>
        </p:nvSpPr>
        <p:spPr>
          <a:xfrm>
            <a:off x="8515350" y="3000375"/>
            <a:ext cx="3000375" cy="1047750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D95D5D"/>
                </a:solidFill>
                <a:latin typeface="Arial"/>
                <a:ea typeface="Arial"/>
                <a:cs typeface="Arial"/>
              </a:rPr>
              <a:t>0/19</a:t>
            </a:r>
          </a:p>
        </p:txBody>
      </p:sp>
      <p:sp>
        <p:nvSpPr>
          <p:cNvPr id="12" name="metric-copy-3">
            <a:extLst>
              <a:ext uri="{FF2B5EF4-FFF2-40B4-BE49-F238E27FC236}">
                <a16:creationId xmlns:a16="http://schemas.microsoft.com/office/drawing/2014/main" id="{C32BA06F-4BA2-4919-B575-9857BC129F51}"/>
              </a:ext>
            </a:extLst>
          </p:cNvPr>
          <p:cNvSpPr>
            <a:spLocks noGrp="1"/>
          </p:cNvSpPr>
          <p:nvPr/>
        </p:nvSpPr>
        <p:spPr>
          <a:xfrm>
            <a:off x="8515350" y="4238625"/>
            <a:ext cx="3000375" cy="11906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requirements accepted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Iris/Arnon decisions are not yet recorded</a:t>
            </a:r>
          </a:p>
        </p:txBody>
      </p:sp>
    </p:spTree>
    <p:extLst>
      <p:ext uri="{BB962C8B-B14F-4D97-AF65-F5344CB8AC3E}">
        <p14:creationId xmlns:p14="http://schemas.microsoft.com/office/powerpoint/2010/main" val="140032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-title">
            <a:extLst>
              <a:ext uri="{FF2B5EF4-FFF2-40B4-BE49-F238E27FC236}">
                <a16:creationId xmlns:a16="http://schemas.microsoft.com/office/drawing/2014/main" id="{6B294B51-CCBD-4278-8935-9539A889F049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000125"/>
          </a:xfrm>
          <a:prstGeom prst="rect">
            <a:avLst/>
          </a:prstGeom>
        </p:spPr>
        <p:txBody>
          <a:bodyPr lIns="0" tIns="0" rIns="0" bIns="0" anchor="t">
            <a:normAutofit fontScale="82860"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3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doctoral spine connects intervention, governance, and transfer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114E0D1E-5207-4FCD-B38E-8D748228A6A2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" name="left-panel">
            <a:extLst>
              <a:ext uri="{FF2B5EF4-FFF2-40B4-BE49-F238E27FC236}">
                <a16:creationId xmlns:a16="http://schemas.microsoft.com/office/drawing/2014/main" id="{99C764C3-2B21-4B07-BEB3-93BFDCC11753}"/>
              </a:ext>
            </a:extLst>
          </p:cNvPr>
          <p:cNvSpPr>
            <a:spLocks noGrp="1"/>
          </p:cNvSpPr>
          <p:nvPr/>
        </p:nvSpPr>
        <p:spPr>
          <a:xfrm>
            <a:off x="400050" y="1714500"/>
            <a:ext cx="5429250" cy="409575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4" name="right-panel">
            <a:extLst>
              <a:ext uri="{FF2B5EF4-FFF2-40B4-BE49-F238E27FC236}">
                <a16:creationId xmlns:a16="http://schemas.microsoft.com/office/drawing/2014/main" id="{F089B530-A090-4750-960C-D8324B343DD8}"/>
              </a:ext>
            </a:extLst>
          </p:cNvPr>
          <p:cNvSpPr>
            <a:spLocks noGrp="1"/>
          </p:cNvSpPr>
          <p:nvPr/>
        </p:nvSpPr>
        <p:spPr>
          <a:xfrm>
            <a:off x="6362700" y="1714500"/>
            <a:ext cx="5429250" cy="4095750"/>
          </a:xfrm>
          <a:prstGeom prst="roundRect">
            <a:avLst>
              <a:gd name="adj" fmla="val 1860"/>
            </a:avLst>
          </a:prstGeom>
          <a:solidFill>
            <a:srgbClr val="F2F2F2"/>
          </a:solidFill>
          <a:ln w="0">
            <a:solidFill>
              <a:srgbClr val="F2F2F2"/>
            </a:solidFill>
            <a:prstDash val="solid"/>
          </a:ln>
        </p:spPr>
      </p:sp>
      <p:sp>
        <p:nvSpPr>
          <p:cNvPr id="5" name="left-copy">
            <a:extLst>
              <a:ext uri="{FF2B5EF4-FFF2-40B4-BE49-F238E27FC236}">
                <a16:creationId xmlns:a16="http://schemas.microsoft.com/office/drawing/2014/main" id="{E65E07C2-44F8-4861-BC01-131631E9649E}"/>
              </a:ext>
            </a:extLst>
          </p:cNvPr>
          <p:cNvSpPr>
            <a:spLocks noGrp="1"/>
          </p:cNvSpPr>
          <p:nvPr/>
        </p:nvSpPr>
        <p:spPr>
          <a:xfrm>
            <a:off x="685800" y="2047875"/>
            <a:ext cx="4857750" cy="34290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8"/>
              </a:spcAft>
              <a:defRPr sz="17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00" b="1">
                <a:solidFill>
                  <a:srgbClr val="3B82F6"/>
                </a:solidFill>
                <a:latin typeface="Arial"/>
                <a:ea typeface="Arial"/>
                <a:cs typeface="Arial"/>
              </a:rPr>
              <a:t>Umbrella research question</a:t>
            </a:r>
          </a:p>
          <a:p>
            <a:pPr algn="l">
              <a:defRPr sz="17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can reusable human judgment be captured, governed, and reused in agentic AI assessment of domain-specific artifacts and processes to support auditable, reliable, and transferable human–AI co-reasoning?</a:t>
            </a:r>
          </a:p>
        </p:txBody>
      </p:sp>
      <p:sp>
        <p:nvSpPr>
          <p:cNvPr id="6" name="right-copy">
            <a:extLst>
              <a:ext uri="{FF2B5EF4-FFF2-40B4-BE49-F238E27FC236}">
                <a16:creationId xmlns:a16="http://schemas.microsoft.com/office/drawing/2014/main" id="{476BB6B1-4242-4893-9068-D9979A6774C1}"/>
              </a:ext>
            </a:extLst>
          </p:cNvPr>
          <p:cNvSpPr>
            <a:spLocks noGrp="1"/>
          </p:cNvSpPr>
          <p:nvPr/>
        </p:nvSpPr>
        <p:spPr>
          <a:xfrm>
            <a:off x="6648450" y="2047875"/>
            <a:ext cx="4857750" cy="34290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5"/>
              </a:spcAft>
              <a:defRPr sz="15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Exactly three subquestions</a:t>
            </a:r>
          </a:p>
          <a:p>
            <a:pPr algn="l">
              <a:spcAft>
                <a:spcPts val="5"/>
              </a:spcAft>
              <a:defRPr sz="15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50">
                <a:solidFill>
                  <a:srgbClr val="000000"/>
                </a:solidFill>
                <a:latin typeface="Arial"/>
                <a:ea typeface="Arial"/>
                <a:cs typeface="Arial"/>
              </a:rPr>
              <a:t>SQ1 · When and how should an agentic assessment system request human judgment so that important uncertainties are addressed without unnecessary expert burden?</a:t>
            </a:r>
          </a:p>
          <a:p>
            <a:pPr algn="l">
              <a:spcAft>
                <a:spcPts val="5"/>
              </a:spcAft>
              <a:defRPr sz="15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50">
                <a:solidFill>
                  <a:srgbClr val="000000"/>
                </a:solidFill>
                <a:latin typeface="Arial"/>
                <a:ea typeface="Arial"/>
                <a:cs typeface="Arial"/>
              </a:rPr>
              <a:t>SQ2 · How should expert judgments be represented, validated, reconciled, and stored so they can be reused transparently without unsafe generalization or loss of human authority?</a:t>
            </a:r>
          </a:p>
          <a:p>
            <a:pPr algn="l">
              <a:defRPr sz="15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50">
                <a:solidFill>
                  <a:srgbClr val="000000"/>
                </a:solidFill>
                <a:latin typeface="Arial"/>
                <a:ea typeface="Arial"/>
                <a:cs typeface="Arial"/>
              </a:rPr>
              <a:t>SQ3 · To what extent does the resulting framework improve assessment quality, consistency, traceability, and expert effort across domains, first in software/modeling and, when governance and access permit, in healthcare?</a:t>
            </a:r>
          </a:p>
        </p:txBody>
      </p:sp>
    </p:spTree>
    <p:extLst>
      <p:ext uri="{BB962C8B-B14F-4D97-AF65-F5344CB8AC3E}">
        <p14:creationId xmlns:p14="http://schemas.microsoft.com/office/powerpoint/2010/main" val="10603036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-title">
            <a:extLst>
              <a:ext uri="{FF2B5EF4-FFF2-40B4-BE49-F238E27FC236}">
                <a16:creationId xmlns:a16="http://schemas.microsoft.com/office/drawing/2014/main" id="{38D8066B-2233-4E84-8A77-53C657D2C109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000125"/>
          </a:xfrm>
          <a:prstGeom prst="rect">
            <a:avLst/>
          </a:prstGeom>
        </p:spPr>
        <p:txBody>
          <a:bodyPr lIns="0" tIns="0" rIns="0" bIns="0" anchor="t">
            <a:normAutofit fontScale="96832"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3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Each subquestion has one study, artifact, and fallback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50E4E2A0-834B-4D5F-8A58-C15F56D41503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" name="point-1">
            <a:extLst>
              <a:ext uri="{FF2B5EF4-FFF2-40B4-BE49-F238E27FC236}">
                <a16:creationId xmlns:a16="http://schemas.microsoft.com/office/drawing/2014/main" id="{EFC4E2C1-C0E2-4B44-87EA-A808C11738D0}"/>
              </a:ext>
            </a:extLst>
          </p:cNvPr>
          <p:cNvSpPr>
            <a:spLocks noGrp="1"/>
          </p:cNvSpPr>
          <p:nvPr/>
        </p:nvSpPr>
        <p:spPr>
          <a:xfrm>
            <a:off x="400050" y="1809750"/>
            <a:ext cx="5286375" cy="15716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42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Study 1 · Intervention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Design science + trigger, timing, dosage, routing, burden, timeout and conformance tests.</a:t>
            </a:r>
          </a:p>
        </p:txBody>
      </p:sp>
      <p:sp>
        <p:nvSpPr>
          <p:cNvPr id="4" name="point-2">
            <a:extLst>
              <a:ext uri="{FF2B5EF4-FFF2-40B4-BE49-F238E27FC236}">
                <a16:creationId xmlns:a16="http://schemas.microsoft.com/office/drawing/2014/main" id="{6952B0FA-C116-4C54-BEC0-8A8CC42B06E3}"/>
              </a:ext>
            </a:extLst>
          </p:cNvPr>
          <p:cNvSpPr>
            <a:spLocks noGrp="1"/>
          </p:cNvSpPr>
          <p:nvPr/>
        </p:nvSpPr>
        <p:spPr>
          <a:xfrm>
            <a:off x="6257925" y="1809750"/>
            <a:ext cx="5286375" cy="15716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42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Study 2 · Judgment lifecycle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Provenance, validation, conflict, authority, expiry, retrieval and unsafe-reuse tests.</a:t>
            </a:r>
          </a:p>
        </p:txBody>
      </p:sp>
      <p:sp>
        <p:nvSpPr>
          <p:cNvPr id="5" name="point-3">
            <a:extLst>
              <a:ext uri="{FF2B5EF4-FFF2-40B4-BE49-F238E27FC236}">
                <a16:creationId xmlns:a16="http://schemas.microsoft.com/office/drawing/2014/main" id="{0881FDBC-992E-46D9-B8A0-EB37747C09EC}"/>
              </a:ext>
            </a:extLst>
          </p:cNvPr>
          <p:cNvSpPr>
            <a:spLocks noGrp="1"/>
          </p:cNvSpPr>
          <p:nvPr/>
        </p:nvSpPr>
        <p:spPr>
          <a:xfrm>
            <a:off x="400050" y="3943350"/>
            <a:ext cx="5286375" cy="15716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42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Study 3 · Evaluation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Blinded reviewers, adjudication, paired outcomes, effort/usability and transfer limits.</a:t>
            </a:r>
          </a:p>
        </p:txBody>
      </p:sp>
      <p:sp>
        <p:nvSpPr>
          <p:cNvPr id="6" name="point-4">
            <a:extLst>
              <a:ext uri="{FF2B5EF4-FFF2-40B4-BE49-F238E27FC236}">
                <a16:creationId xmlns:a16="http://schemas.microsoft.com/office/drawing/2014/main" id="{5291999F-C647-484A-B839-B263AC861B27}"/>
              </a:ext>
            </a:extLst>
          </p:cNvPr>
          <p:cNvSpPr>
            <a:spLocks noGrp="1"/>
          </p:cNvSpPr>
          <p:nvPr/>
        </p:nvSpPr>
        <p:spPr>
          <a:xfrm>
            <a:off x="6257925" y="3943350"/>
            <a:ext cx="5286375" cy="15716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42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4C956C"/>
                </a:solidFill>
                <a:latin typeface="Arial"/>
                <a:ea typeface="Arial"/>
                <a:cs typeface="Arial"/>
              </a:rPr>
              <a:t>Common fallback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All three questions remain answerable under Plan B; medicine is not the only completion path.</a:t>
            </a:r>
          </a:p>
        </p:txBody>
      </p:sp>
    </p:spTree>
    <p:extLst>
      <p:ext uri="{BB962C8B-B14F-4D97-AF65-F5344CB8AC3E}">
        <p14:creationId xmlns:p14="http://schemas.microsoft.com/office/powerpoint/2010/main" val="13104319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-title">
            <a:extLst>
              <a:ext uri="{FF2B5EF4-FFF2-40B4-BE49-F238E27FC236}">
                <a16:creationId xmlns:a16="http://schemas.microsoft.com/office/drawing/2014/main" id="{9DE05029-4053-4462-A842-A76D6E03FB5E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000125"/>
          </a:xfrm>
          <a:prstGeom prst="rect">
            <a:avLst/>
          </a:prstGeom>
        </p:spPr>
        <p:txBody>
          <a:bodyPr lIns="0" tIns="0" rIns="0" bIns="0" anchor="t">
            <a:normAutofit fontScale="99470"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3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Legacy questions are absorbed—not silently deleted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6FAEC28C-434E-42D1-AAFD-8D464AF12B38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" name="left-panel">
            <a:extLst>
              <a:ext uri="{FF2B5EF4-FFF2-40B4-BE49-F238E27FC236}">
                <a16:creationId xmlns:a16="http://schemas.microsoft.com/office/drawing/2014/main" id="{193FFBFB-022F-4C33-B52C-2DB36CD653D2}"/>
              </a:ext>
            </a:extLst>
          </p:cNvPr>
          <p:cNvSpPr>
            <a:spLocks noGrp="1"/>
          </p:cNvSpPr>
          <p:nvPr/>
        </p:nvSpPr>
        <p:spPr>
          <a:xfrm>
            <a:off x="400050" y="1714500"/>
            <a:ext cx="5429250" cy="4095750"/>
          </a:xfrm>
          <a:prstGeom prst="roundRect">
            <a:avLst>
              <a:gd name="adj" fmla="val 1860"/>
            </a:avLst>
          </a:prstGeom>
          <a:solidFill>
            <a:srgbClr val="F2F2F2"/>
          </a:solidFill>
          <a:ln w="0">
            <a:solidFill>
              <a:srgbClr val="F2F2F2"/>
            </a:solidFill>
            <a:prstDash val="solid"/>
          </a:ln>
        </p:spPr>
      </p:sp>
      <p:sp>
        <p:nvSpPr>
          <p:cNvPr id="4" name="right-panel">
            <a:extLst>
              <a:ext uri="{FF2B5EF4-FFF2-40B4-BE49-F238E27FC236}">
                <a16:creationId xmlns:a16="http://schemas.microsoft.com/office/drawing/2014/main" id="{C6E4332E-0373-444C-ACD7-2167BF02C88B}"/>
              </a:ext>
            </a:extLst>
          </p:cNvPr>
          <p:cNvSpPr>
            <a:spLocks noGrp="1"/>
          </p:cNvSpPr>
          <p:nvPr/>
        </p:nvSpPr>
        <p:spPr>
          <a:xfrm>
            <a:off x="6362700" y="1714500"/>
            <a:ext cx="5429250" cy="409575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5" name="left-copy">
            <a:extLst>
              <a:ext uri="{FF2B5EF4-FFF2-40B4-BE49-F238E27FC236}">
                <a16:creationId xmlns:a16="http://schemas.microsoft.com/office/drawing/2014/main" id="{32E1FAAE-5A5A-4AF6-8D42-96627CBEE0B0}"/>
              </a:ext>
            </a:extLst>
          </p:cNvPr>
          <p:cNvSpPr>
            <a:spLocks noGrp="1"/>
          </p:cNvSpPr>
          <p:nvPr/>
        </p:nvSpPr>
        <p:spPr>
          <a:xfrm>
            <a:off x="685800" y="2047875"/>
            <a:ext cx="4857750" cy="3429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is preserved</a:t>
            </a:r>
          </a:p>
          <a:p>
            <a:pPr algn="l">
              <a:lnSpc>
                <a:spcPct val="110000"/>
              </a:lnSpc>
              <a:spcAft>
                <a:spcPts val="45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earlier five- or six-question set keeps a recorded disposition.</a:t>
            </a:r>
          </a:p>
          <a:p>
            <a:pPr algn="l">
              <a:lnSpc>
                <a:spcPct val="110000"/>
              </a:lnSpc>
              <a:spcAft>
                <a:spcPts val="45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Useful constructs remain as study variables, evaluation measures, or supporting questions.</a:t>
            </a:r>
          </a:p>
        </p:txBody>
      </p:sp>
      <p:sp>
        <p:nvSpPr>
          <p:cNvPr id="6" name="right-copy">
            <a:extLst>
              <a:ext uri="{FF2B5EF4-FFF2-40B4-BE49-F238E27FC236}">
                <a16:creationId xmlns:a16="http://schemas.microsoft.com/office/drawing/2014/main" id="{2C9331F6-0557-4779-823C-D50F97B23DC7}"/>
              </a:ext>
            </a:extLst>
          </p:cNvPr>
          <p:cNvSpPr>
            <a:spLocks noGrp="1"/>
          </p:cNvSpPr>
          <p:nvPr/>
        </p:nvSpPr>
        <p:spPr>
          <a:xfrm>
            <a:off x="6648450" y="2047875"/>
            <a:ext cx="4857750" cy="3429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changes</a:t>
            </a:r>
          </a:p>
          <a:p>
            <a:pPr algn="l">
              <a:lnSpc>
                <a:spcPct val="110000"/>
              </a:lnSpc>
              <a:spcAft>
                <a:spcPts val="45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umbrella RQ and three SQs become the proposal spine.</a:t>
            </a:r>
          </a:p>
          <a:p>
            <a:pPr algn="l">
              <a:lnSpc>
                <a:spcPct val="110000"/>
              </a:lnSpc>
              <a:spcAft>
                <a:spcPts val="45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Duplicate, evaluation-only, or out-of-scope wording is retired transparently.</a:t>
            </a:r>
          </a:p>
        </p:txBody>
      </p:sp>
    </p:spTree>
    <p:extLst>
      <p:ext uri="{BB962C8B-B14F-4D97-AF65-F5344CB8AC3E}">
        <p14:creationId xmlns:p14="http://schemas.microsoft.com/office/powerpoint/2010/main" val="16355958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-title">
            <a:extLst>
              <a:ext uri="{FF2B5EF4-FFF2-40B4-BE49-F238E27FC236}">
                <a16:creationId xmlns:a16="http://schemas.microsoft.com/office/drawing/2014/main" id="{5948CBDD-465D-4FCA-8BF5-18F03931397F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000125"/>
          </a:xfrm>
          <a:prstGeom prst="rect">
            <a:avLst/>
          </a:prstGeom>
        </p:spPr>
        <p:txBody>
          <a:bodyPr lIns="0" tIns="0" rIns="0" bIns="0" anchor="t">
            <a:normAutofit fontScale="90216"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3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 B protects doctoral completion; Plan A is conditional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5AE3F842-E984-455A-9C8E-8704D6FC5255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" name="left-panel">
            <a:extLst>
              <a:ext uri="{FF2B5EF4-FFF2-40B4-BE49-F238E27FC236}">
                <a16:creationId xmlns:a16="http://schemas.microsoft.com/office/drawing/2014/main" id="{78265576-5727-477F-8CE4-B02276C2F1E3}"/>
              </a:ext>
            </a:extLst>
          </p:cNvPr>
          <p:cNvSpPr>
            <a:spLocks noGrp="1"/>
          </p:cNvSpPr>
          <p:nvPr/>
        </p:nvSpPr>
        <p:spPr>
          <a:xfrm>
            <a:off x="400050" y="1714500"/>
            <a:ext cx="5429250" cy="4095750"/>
          </a:xfrm>
          <a:prstGeom prst="roundRect">
            <a:avLst>
              <a:gd name="adj" fmla="val 1860"/>
            </a:avLst>
          </a:prstGeom>
          <a:solidFill>
            <a:srgbClr val="D8EFFB"/>
          </a:solidFill>
          <a:ln w="0">
            <a:solidFill>
              <a:srgbClr val="D8EFFB"/>
            </a:solidFill>
            <a:prstDash val="solid"/>
          </a:ln>
        </p:spPr>
      </p:sp>
      <p:sp>
        <p:nvSpPr>
          <p:cNvPr id="4" name="right-panel">
            <a:extLst>
              <a:ext uri="{FF2B5EF4-FFF2-40B4-BE49-F238E27FC236}">
                <a16:creationId xmlns:a16="http://schemas.microsoft.com/office/drawing/2014/main" id="{CE74ED2B-CCCD-420D-93DE-FF9448450E03}"/>
              </a:ext>
            </a:extLst>
          </p:cNvPr>
          <p:cNvSpPr>
            <a:spLocks noGrp="1"/>
          </p:cNvSpPr>
          <p:nvPr/>
        </p:nvSpPr>
        <p:spPr>
          <a:xfrm>
            <a:off x="6362700" y="1714500"/>
            <a:ext cx="5429250" cy="4095750"/>
          </a:xfrm>
          <a:prstGeom prst="roundRect">
            <a:avLst>
              <a:gd name="adj" fmla="val 1860"/>
            </a:avLst>
          </a:prstGeom>
          <a:solidFill>
            <a:srgbClr val="F2F2F2"/>
          </a:solidFill>
          <a:ln w="0">
            <a:solidFill>
              <a:srgbClr val="F2F2F2"/>
            </a:solidFill>
            <a:prstDash val="solid"/>
          </a:ln>
        </p:spPr>
      </p:sp>
      <p:sp>
        <p:nvSpPr>
          <p:cNvPr id="5" name="left-copy">
            <a:extLst>
              <a:ext uri="{FF2B5EF4-FFF2-40B4-BE49-F238E27FC236}">
                <a16:creationId xmlns:a16="http://schemas.microsoft.com/office/drawing/2014/main" id="{B0EE7040-7995-4306-B2DF-F7E6B2F9D111}"/>
              </a:ext>
            </a:extLst>
          </p:cNvPr>
          <p:cNvSpPr>
            <a:spLocks noGrp="1"/>
          </p:cNvSpPr>
          <p:nvPr/>
        </p:nvSpPr>
        <p:spPr>
          <a:xfrm>
            <a:off x="685800" y="2047875"/>
            <a:ext cx="4857750" cy="3429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Plan B · committed fallback</a:t>
            </a:r>
          </a:p>
          <a:p>
            <a:pPr algn="l">
              <a:lnSpc>
                <a:spcPct val="110000"/>
              </a:lnSpc>
              <a:spcAft>
                <a:spcPts val="45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Complete Studies 1–3 in software/modeling plus an authorized non-medical replication.</a:t>
            </a:r>
          </a:p>
          <a:p>
            <a:pPr algn="l">
              <a:lnSpc>
                <a:spcPct val="110000"/>
              </a:lnSpc>
              <a:spcAft>
                <a:spcPts val="45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Same RQs, doctoral scale, evaluation, and publication outputs.</a:t>
            </a:r>
          </a:p>
          <a:p>
            <a:pPr algn="l">
              <a:lnSpc>
                <a:spcPct val="110000"/>
              </a:lnSpc>
              <a:spcAft>
                <a:spcPts val="45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Executable without clinician, medical data, VDI, or ethics dependencies.</a:t>
            </a:r>
          </a:p>
        </p:txBody>
      </p:sp>
      <p:sp>
        <p:nvSpPr>
          <p:cNvPr id="6" name="right-copy">
            <a:extLst>
              <a:ext uri="{FF2B5EF4-FFF2-40B4-BE49-F238E27FC236}">
                <a16:creationId xmlns:a16="http://schemas.microsoft.com/office/drawing/2014/main" id="{2CC60413-A8D8-4381-83CE-2E10BCF167DF}"/>
              </a:ext>
            </a:extLst>
          </p:cNvPr>
          <p:cNvSpPr>
            <a:spLocks noGrp="1"/>
          </p:cNvSpPr>
          <p:nvPr/>
        </p:nvSpPr>
        <p:spPr>
          <a:xfrm>
            <a:off x="6648450" y="2047875"/>
            <a:ext cx="4857750" cy="34290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5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 A · staged extension</a:t>
            </a:r>
          </a:p>
          <a:p>
            <a:pPr algn="l">
              <a:defRPr sz="15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000000"/>
                </a:solidFill>
                <a:latin typeface="Arial"/>
                <a:ea typeface="Arial"/>
                <a:cs typeface="Arial"/>
              </a:rPr>
              <a:t>Add a bounded medical transfer only after G1–G6 actually pass.</a:t>
            </a:r>
          </a:p>
          <a:p>
            <a:pPr algn="l">
              <a:defRPr sz="15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000000"/>
                </a:solidFill>
                <a:latin typeface="Arial"/>
                <a:ea typeface="Arial"/>
                <a:cs typeface="Arial"/>
              </a:rPr>
              <a:t>Checkpoint: if any gate lacks an owner, evidence path, or feasible date on 26 August, Plan B becomes the September baseline.</a:t>
            </a:r>
          </a:p>
          <a:p>
            <a:pPr algn="l">
              <a:defRPr sz="15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date and rule remain proposed until D-RQ-04–06 are decided.</a:t>
            </a:r>
          </a:p>
        </p:txBody>
      </p:sp>
    </p:spTree>
    <p:extLst>
      <p:ext uri="{BB962C8B-B14F-4D97-AF65-F5344CB8AC3E}">
        <p14:creationId xmlns:p14="http://schemas.microsoft.com/office/powerpoint/2010/main" val="4922776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-title">
            <a:extLst>
              <a:ext uri="{FF2B5EF4-FFF2-40B4-BE49-F238E27FC236}">
                <a16:creationId xmlns:a16="http://schemas.microsoft.com/office/drawing/2014/main" id="{EE4A483E-D47E-44ED-9133-A634ABB7DB32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00012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3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Literature system ready; review remains open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10BC18EC-A481-4F64-82D1-648AAF6086F5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" name="table-subtitle">
            <a:extLst>
              <a:ext uri="{FF2B5EF4-FFF2-40B4-BE49-F238E27FC236}">
                <a16:creationId xmlns:a16="http://schemas.microsoft.com/office/drawing/2014/main" id="{A5BAA13D-6EE8-424E-8513-73C1CA1ED1E4}"/>
              </a:ext>
            </a:extLst>
          </p:cNvPr>
          <p:cNvSpPr>
            <a:spLocks noGrp="1"/>
          </p:cNvSpPr>
          <p:nvPr/>
        </p:nvSpPr>
        <p:spPr>
          <a:xfrm>
            <a:off x="400050" y="1190625"/>
            <a:ext cx="11334750" cy="666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One paper per row; authors’ evidence remains separate from Ali’s synthesis.</a:t>
            </a:r>
          </a:p>
        </p:txBody>
      </p:sp>
      <p:graphicFrame>
        <p:nvGraphicFramePr>
          <p:cNvPr id="10" name="evidence-table"/>
          <p:cNvGraphicFramePr/>
          <p:nvPr/>
        </p:nvGraphicFramePr>
        <p:xfrm>
          <a:off x="400050" y="1952625"/>
          <a:ext cx="11391900" cy="4095750"/>
        </p:xfrm>
        <a:graphic>
          <a:graphicData uri="http://schemas.openxmlformats.org/drawingml/2006/table">
            <a:tbl>
              <a:tblPr/>
              <a:tblGrid>
                <a:gridCol w="24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6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2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337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2625">
                <a:tc>
                  <a:txBody>
                    <a:bodyPr/>
                    <a:lstStyle/>
                    <a:p>
                      <a:r>
                        <a:t>Workstream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Artifact now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Evidence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Next proof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2625">
                <a:tc>
                  <a:txBody>
                    <a:bodyPr/>
                    <a:lstStyle/>
                    <a:p>
                      <a:r>
                        <a:t>Search protocol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Databases, concepts, dates, screening fields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Prepared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Execute and date queries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2625">
                <a:tc>
                  <a:txBody>
                    <a:bodyPr/>
                    <a:lstStyle/>
                    <a:p>
                      <a:r>
                        <a:t>Workbook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Six tabs + controlled fields + six seeds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Verified narrow build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Verify every seed and DOI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2625">
                <a:tc>
                  <a:txBody>
                    <a:bodyPr/>
                    <a:lstStyle/>
                    <a:p>
                      <a:r>
                        <a:t>Screening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Inclusion/exclusion fields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NOT 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Deduplicate and screen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2625">
                <a:tc>
                  <a:txBody>
                    <a:bodyPr/>
                    <a:lstStyle/>
                    <a:p>
                      <a:r>
                        <a:t>Synthesis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Taxonomy and gap views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NOT 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Compare claims, limits and contradictions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2625">
                <a:tc>
                  <a:txBody>
                    <a:bodyPr/>
                    <a:lstStyle/>
                    <a:p>
                      <a:r>
                        <a:t>Novelty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Candidate linked lifecycle contribution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Preliminary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Supervisor-reviewed corpus evidence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05032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-title">
            <a:extLst>
              <a:ext uri="{FF2B5EF4-FFF2-40B4-BE49-F238E27FC236}">
                <a16:creationId xmlns:a16="http://schemas.microsoft.com/office/drawing/2014/main" id="{8B0B1462-2540-4100-B5DF-8C15C9117A44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000125"/>
          </a:xfrm>
          <a:prstGeom prst="rect">
            <a:avLst/>
          </a:prstGeom>
        </p:spPr>
        <p:txBody>
          <a:bodyPr lIns="0" tIns="0" rIns="0" bIns="0" anchor="t">
            <a:normAutofit fontScale="84591"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3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Current evidence supports mechanisms—not outcome claims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B652AC80-FADC-4074-A932-A04784FB3B22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3" name="card-one">
            <a:extLst>
              <a:ext uri="{FF2B5EF4-FFF2-40B4-BE49-F238E27FC236}">
                <a16:creationId xmlns:a16="http://schemas.microsoft.com/office/drawing/2014/main" id="{A5E034E0-3886-419E-B8D7-96C05DA1139F}"/>
              </a:ext>
            </a:extLst>
          </p:cNvPr>
          <p:cNvSpPr>
            <a:spLocks noGrp="1"/>
          </p:cNvSpPr>
          <p:nvPr/>
        </p:nvSpPr>
        <p:spPr>
          <a:xfrm>
            <a:off x="6553200" y="1619250"/>
            <a:ext cx="4953000" cy="1190625"/>
          </a:xfrm>
          <a:prstGeom prst="roundRect">
            <a:avLst>
              <a:gd name="adj" fmla="val 6400"/>
            </a:avLst>
          </a:prstGeom>
          <a:solidFill>
            <a:srgbClr val="D8EFFB"/>
          </a:solidFill>
          <a:ln w="0">
            <a:solidFill>
              <a:srgbClr val="D8EFFB"/>
            </a:solidFill>
            <a:prstDash val="solid"/>
          </a:ln>
        </p:spPr>
      </p:sp>
      <p:sp>
        <p:nvSpPr>
          <p:cNvPr id="4" name="card-two">
            <a:extLst>
              <a:ext uri="{FF2B5EF4-FFF2-40B4-BE49-F238E27FC236}">
                <a16:creationId xmlns:a16="http://schemas.microsoft.com/office/drawing/2014/main" id="{6B899C89-6161-4011-A4CC-9835151EE46A}"/>
              </a:ext>
            </a:extLst>
          </p:cNvPr>
          <p:cNvSpPr>
            <a:spLocks noGrp="1"/>
          </p:cNvSpPr>
          <p:nvPr/>
        </p:nvSpPr>
        <p:spPr>
          <a:xfrm>
            <a:off x="6553200" y="3000375"/>
            <a:ext cx="4953000" cy="1190625"/>
          </a:xfrm>
          <a:prstGeom prst="roundRect">
            <a:avLst>
              <a:gd name="adj" fmla="val 6400"/>
            </a:avLst>
          </a:prstGeom>
          <a:solidFill>
            <a:srgbClr val="F2F2F2"/>
          </a:solidFill>
          <a:ln w="0">
            <a:solidFill>
              <a:srgbClr val="F2F2F2"/>
            </a:solidFill>
            <a:prstDash val="solid"/>
          </a:ln>
        </p:spPr>
      </p:sp>
      <p:sp>
        <p:nvSpPr>
          <p:cNvPr id="5" name="card-three">
            <a:extLst>
              <a:ext uri="{FF2B5EF4-FFF2-40B4-BE49-F238E27FC236}">
                <a16:creationId xmlns:a16="http://schemas.microsoft.com/office/drawing/2014/main" id="{DDCE05F5-BE69-4F2A-AF91-2CD16EC4C2D3}"/>
              </a:ext>
            </a:extLst>
          </p:cNvPr>
          <p:cNvSpPr>
            <a:spLocks noGrp="1"/>
          </p:cNvSpPr>
          <p:nvPr/>
        </p:nvSpPr>
        <p:spPr>
          <a:xfrm>
            <a:off x="6553200" y="4381500"/>
            <a:ext cx="4953000" cy="1190625"/>
          </a:xfrm>
          <a:prstGeom prst="roundRect">
            <a:avLst>
              <a:gd name="adj" fmla="val 6400"/>
            </a:avLst>
          </a:prstGeom>
          <a:solidFill>
            <a:srgbClr val="F2F2F2"/>
          </a:solidFill>
          <a:ln w="0">
            <a:solidFill>
              <a:srgbClr val="F2F2F2"/>
            </a:solidFill>
            <a:prstDash val="solid"/>
          </a:ln>
        </p:spPr>
      </p:sp>
      <p:sp>
        <p:nvSpPr>
          <p:cNvPr id="6" name="exp005-card">
            <a:extLst>
              <a:ext uri="{FF2B5EF4-FFF2-40B4-BE49-F238E27FC236}">
                <a16:creationId xmlns:a16="http://schemas.microsoft.com/office/drawing/2014/main" id="{A86D6813-BF69-48B8-9D30-9A49717BEF40}"/>
              </a:ext>
            </a:extLst>
          </p:cNvPr>
          <p:cNvSpPr>
            <a:spLocks noGrp="1"/>
          </p:cNvSpPr>
          <p:nvPr/>
        </p:nvSpPr>
        <p:spPr>
          <a:xfrm>
            <a:off x="6838950" y="1790700"/>
            <a:ext cx="4381500" cy="8572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15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D95D5D"/>
                </a:solidFill>
                <a:latin typeface="Arial"/>
                <a:ea typeface="Arial"/>
                <a:cs typeface="Arial"/>
              </a:rPr>
              <a:t>0/24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EXP-005 safe labels</a:t>
            </a:r>
          </a:p>
        </p:txBody>
      </p:sp>
      <p:sp>
        <p:nvSpPr>
          <p:cNvPr id="7" name="medical-card">
            <a:extLst>
              <a:ext uri="{FF2B5EF4-FFF2-40B4-BE49-F238E27FC236}">
                <a16:creationId xmlns:a16="http://schemas.microsoft.com/office/drawing/2014/main" id="{2BA5AA61-2EB8-490B-A583-04CFDD03DA33}"/>
              </a:ext>
            </a:extLst>
          </p:cNvPr>
          <p:cNvSpPr>
            <a:spLocks noGrp="1"/>
          </p:cNvSpPr>
          <p:nvPr/>
        </p:nvSpPr>
        <p:spPr>
          <a:xfrm>
            <a:off x="6838950" y="3171825"/>
            <a:ext cx="4381500" cy="8572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15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D95D5D"/>
                </a:solidFill>
                <a:latin typeface="Arial"/>
                <a:ea typeface="Arial"/>
                <a:cs typeface="Arial"/>
              </a:rPr>
              <a:t>0/6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medical readiness gates</a:t>
            </a:r>
          </a:p>
        </p:txBody>
      </p:sp>
      <p:sp>
        <p:nvSpPr>
          <p:cNvPr id="8" name="mimic-card">
            <a:extLst>
              <a:ext uri="{FF2B5EF4-FFF2-40B4-BE49-F238E27FC236}">
                <a16:creationId xmlns:a16="http://schemas.microsoft.com/office/drawing/2014/main" id="{ABB0BE4A-C592-4DF7-93D4-66446B75C247}"/>
              </a:ext>
            </a:extLst>
          </p:cNvPr>
          <p:cNvSpPr>
            <a:spLocks noGrp="1"/>
          </p:cNvSpPr>
          <p:nvPr/>
        </p:nvSpPr>
        <p:spPr>
          <a:xfrm>
            <a:off x="6838950" y="4552950"/>
            <a:ext cx="4381500" cy="857250"/>
          </a:xfrm>
          <a:prstGeom prst="rect">
            <a:avLst/>
          </a:prstGeom>
        </p:spPr>
        <p:txBody>
          <a:bodyPr wrap="square" lIns="0" tIns="0" rIns="0" bIns="0" anchor="t">
            <a:normAutofit fontScale="96483"/>
          </a:bodyPr>
          <a:lstStyle/>
          <a:p>
            <a:pPr algn="l">
              <a:lnSpc>
                <a:spcPct val="110000"/>
              </a:lnSpc>
              <a:spcAft>
                <a:spcPts val="15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2C94C"/>
                </a:solidFill>
                <a:latin typeface="Arial"/>
                <a:ea typeface="Arial"/>
                <a:cs typeface="Arial"/>
              </a:rPr>
              <a:t>25/26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observed MIMIC tables; provenance unresolved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="400050" y="1619250"/>
          <a:ext cx="5619750" cy="4095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213711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-title">
            <a:extLst>
              <a:ext uri="{FF2B5EF4-FFF2-40B4-BE49-F238E27FC236}">
                <a16:creationId xmlns:a16="http://schemas.microsoft.com/office/drawing/2014/main" id="{F061F43B-43E1-4387-BF31-9A7FCE8EEACB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00012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3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Medical work remains no-go until all six gates pass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D9B64381-215A-41B2-8706-6FF5FE203CCA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3" name="table-subtitle">
            <a:extLst>
              <a:ext uri="{FF2B5EF4-FFF2-40B4-BE49-F238E27FC236}">
                <a16:creationId xmlns:a16="http://schemas.microsoft.com/office/drawing/2014/main" id="{AD111659-B8C2-47D3-A7EC-E0E6C7B76903}"/>
              </a:ext>
            </a:extLst>
          </p:cNvPr>
          <p:cNvSpPr>
            <a:spLocks noGrp="1"/>
          </p:cNvSpPr>
          <p:nvPr/>
        </p:nvSpPr>
        <p:spPr>
          <a:xfrm>
            <a:off x="400050" y="1190625"/>
            <a:ext cx="11334750" cy="666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The current MIMIC work is metadata/schema familiarization only; no patient rows were inspected.</a:t>
            </a:r>
          </a:p>
        </p:txBody>
      </p:sp>
      <p:graphicFrame>
        <p:nvGraphicFramePr>
          <p:cNvPr id="10" name="evidence-table"/>
          <p:cNvGraphicFramePr/>
          <p:nvPr/>
        </p:nvGraphicFramePr>
        <p:xfrm>
          <a:off x="400050" y="1952625"/>
          <a:ext cx="11391900" cy="4095750"/>
        </p:xfrm>
        <a:graphic>
          <a:graphicData uri="http://schemas.openxmlformats.org/drawingml/2006/table">
            <a:tbl>
              <a:tblPr/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5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52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5107">
                <a:tc>
                  <a:txBody>
                    <a:bodyPr/>
                    <a:lstStyle/>
                    <a:p>
                      <a:r>
                        <a:t>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Required proof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Current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Consequence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t>G1 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Workflow, owner, unit, I/O, 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 medical design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t>G2 People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Clinician, custodian, ethics, VDI admin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 accountable route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t>G3 Authorization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Named-user project permission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 row access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t>G4 Ethics/privacy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Written project determination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 derived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t>G5 Environment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Approved VDI, storage, logging, offline 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 processing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t>G6 Protocol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Cohort/outcome/mapping/leakage/stats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 experiment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69323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title">
            <a:extLst>
              <a:ext uri="{FF2B5EF4-FFF2-40B4-BE49-F238E27FC236}">
                <a16:creationId xmlns:a16="http://schemas.microsoft.com/office/drawing/2014/main" id="{DF6AB89A-4896-44BC-9201-88865302298B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000125"/>
          </a:xfrm>
          <a:prstGeom prst="rect">
            <a:avLst/>
          </a:prstGeom>
        </p:spPr>
        <p:txBody>
          <a:bodyPr lIns="0" tIns="0" rIns="0" bIns="0" anchor="t">
            <a:normAutofit fontScale="92107"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3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schedule advances while external rules remain open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7ED91260-D11A-4CD7-98E6-A5452F9A551A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cxnSp>
        <p:nvCxnSpPr>
          <p:cNvPr id="24" name="timeline-line"/>
          <p:cNvCxnSpPr/>
          <p:nvPr/>
        </p:nvCxnSpPr>
        <p:spPr>
          <a:xfrm>
            <a:off x="742950" y="3286125"/>
            <a:ext cx="10287000" cy="9525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</a:ln>
        </p:spPr>
      </p:cxnSp>
      <p:sp>
        <p:nvSpPr>
          <p:cNvPr id="4" name="timeline-dot-1">
            <a:extLst>
              <a:ext uri="{FF2B5EF4-FFF2-40B4-BE49-F238E27FC236}">
                <a16:creationId xmlns:a16="http://schemas.microsoft.com/office/drawing/2014/main" id="{3FA28B08-61E1-49E1-9C9D-7DD9784C8A08}"/>
              </a:ext>
            </a:extLst>
          </p:cNvPr>
          <p:cNvSpPr>
            <a:spLocks noGrp="1"/>
          </p:cNvSpPr>
          <p:nvPr/>
        </p:nvSpPr>
        <p:spPr>
          <a:xfrm>
            <a:off x="781050" y="3171825"/>
            <a:ext cx="228600" cy="228600"/>
          </a:xfrm>
          <a:prstGeom prst="ellipse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</p:sp>
      <p:sp>
        <p:nvSpPr>
          <p:cNvPr id="5" name="date-1">
            <a:extLst>
              <a:ext uri="{FF2B5EF4-FFF2-40B4-BE49-F238E27FC236}">
                <a16:creationId xmlns:a16="http://schemas.microsoft.com/office/drawing/2014/main" id="{FD430E78-CA9F-4D8D-A2A2-CAA39E787A9E}"/>
              </a:ext>
            </a:extLst>
          </p:cNvPr>
          <p:cNvSpPr>
            <a:spLocks noGrp="1"/>
          </p:cNvSpPr>
          <p:nvPr/>
        </p:nvSpPr>
        <p:spPr>
          <a:xfrm>
            <a:off x="781050" y="2571750"/>
            <a:ext cx="2857500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5 AUG</a:t>
            </a:r>
          </a:p>
        </p:txBody>
      </p:sp>
      <p:sp>
        <p:nvSpPr>
          <p:cNvPr id="6" name="milestone-1">
            <a:extLst>
              <a:ext uri="{FF2B5EF4-FFF2-40B4-BE49-F238E27FC236}">
                <a16:creationId xmlns:a16="http://schemas.microsoft.com/office/drawing/2014/main" id="{F2C3F70A-84A3-44D8-8041-EE734DD6799A}"/>
              </a:ext>
            </a:extLst>
          </p:cNvPr>
          <p:cNvSpPr>
            <a:spLocks noGrp="1"/>
          </p:cNvSpPr>
          <p:nvPr/>
        </p:nvSpPr>
        <p:spPr>
          <a:xfrm>
            <a:off x="781050" y="3714750"/>
            <a:ext cx="2857500" cy="16668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Architecture decision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RQ/study/Plan A–B/claim decisions plus one next task.</a:t>
            </a:r>
          </a:p>
        </p:txBody>
      </p:sp>
      <p:sp>
        <p:nvSpPr>
          <p:cNvPr id="7" name="timeline-dot-2">
            <a:extLst>
              <a:ext uri="{FF2B5EF4-FFF2-40B4-BE49-F238E27FC236}">
                <a16:creationId xmlns:a16="http://schemas.microsoft.com/office/drawing/2014/main" id="{8679CC00-810F-4297-8E08-67AB0D4047DD}"/>
              </a:ext>
            </a:extLst>
          </p:cNvPr>
          <p:cNvSpPr>
            <a:spLocks noGrp="1"/>
          </p:cNvSpPr>
          <p:nvPr/>
        </p:nvSpPr>
        <p:spPr>
          <a:xfrm>
            <a:off x="4333875" y="3171825"/>
            <a:ext cx="228600" cy="228600"/>
          </a:xfrm>
          <a:prstGeom prst="ellipse">
            <a:avLst/>
          </a:prstGeom>
          <a:solidFill>
            <a:srgbClr val="F2C94C"/>
          </a:solidFill>
          <a:ln w="0">
            <a:solidFill>
              <a:srgbClr val="F2C94C"/>
            </a:solidFill>
            <a:prstDash val="solid"/>
          </a:ln>
        </p:spPr>
      </p:sp>
      <p:sp>
        <p:nvSpPr>
          <p:cNvPr id="8" name="date-2">
            <a:extLst>
              <a:ext uri="{FF2B5EF4-FFF2-40B4-BE49-F238E27FC236}">
                <a16:creationId xmlns:a16="http://schemas.microsoft.com/office/drawing/2014/main" id="{A502517F-D727-488B-9135-1A5F26B3A191}"/>
              </a:ext>
            </a:extLst>
          </p:cNvPr>
          <p:cNvSpPr>
            <a:spLocks noGrp="1"/>
          </p:cNvSpPr>
          <p:nvPr/>
        </p:nvSpPr>
        <p:spPr>
          <a:xfrm>
            <a:off x="4333875" y="2571750"/>
            <a:ext cx="2857500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2C94C"/>
                </a:solidFill>
                <a:latin typeface="Arial"/>
                <a:ea typeface="Arial"/>
                <a:cs typeface="Arial"/>
              </a:rPr>
              <a:t>26 AUG</a:t>
            </a:r>
          </a:p>
        </p:txBody>
      </p:sp>
      <p:sp>
        <p:nvSpPr>
          <p:cNvPr id="9" name="milestone-2">
            <a:extLst>
              <a:ext uri="{FF2B5EF4-FFF2-40B4-BE49-F238E27FC236}">
                <a16:creationId xmlns:a16="http://schemas.microsoft.com/office/drawing/2014/main" id="{9E9C1C99-167C-4CE8-9108-AD2FD84A2CD2}"/>
              </a:ext>
            </a:extLst>
          </p:cNvPr>
          <p:cNvSpPr>
            <a:spLocks noGrp="1"/>
          </p:cNvSpPr>
          <p:nvPr/>
        </p:nvSpPr>
        <p:spPr>
          <a:xfrm>
            <a:off x="4333875" y="3714750"/>
            <a:ext cx="2857500" cy="166687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4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Medical route checkpoint</a:t>
            </a:r>
          </a:p>
          <a:p>
            <a:pPr algn="l">
              <a:defRPr sz="14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5F6B7A"/>
                </a:solidFill>
                <a:latin typeface="Arial"/>
                <a:ea typeface="Arial"/>
                <a:cs typeface="Arial"/>
              </a:rPr>
              <a:t>Any missing owner, evidence path, or feasible date activates Plan B.</a:t>
            </a:r>
          </a:p>
          <a:p>
            <a:pPr algn="l">
              <a:defRPr sz="14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5F6B7A"/>
                </a:solidFill>
                <a:latin typeface="Arial"/>
                <a:ea typeface="Arial"/>
                <a:cs typeface="Arial"/>
              </a:rPr>
              <a:t>Medical execution still requires all 6/6 gates to pass.</a:t>
            </a:r>
          </a:p>
        </p:txBody>
      </p:sp>
      <p:sp>
        <p:nvSpPr>
          <p:cNvPr id="10" name="timeline-dot-3">
            <a:extLst>
              <a:ext uri="{FF2B5EF4-FFF2-40B4-BE49-F238E27FC236}">
                <a16:creationId xmlns:a16="http://schemas.microsoft.com/office/drawing/2014/main" id="{77BF8096-60E6-492F-A5D7-EF1E2EEBB19A}"/>
              </a:ext>
            </a:extLst>
          </p:cNvPr>
          <p:cNvSpPr>
            <a:spLocks noGrp="1"/>
          </p:cNvSpPr>
          <p:nvPr/>
        </p:nvSpPr>
        <p:spPr>
          <a:xfrm>
            <a:off x="7886700" y="3171825"/>
            <a:ext cx="228600" cy="228600"/>
          </a:xfrm>
          <a:prstGeom prst="ellipse">
            <a:avLst/>
          </a:prstGeom>
          <a:solidFill>
            <a:srgbClr val="4C956C"/>
          </a:solidFill>
          <a:ln w="0">
            <a:solidFill>
              <a:srgbClr val="4C956C"/>
            </a:solidFill>
            <a:prstDash val="solid"/>
          </a:ln>
        </p:spPr>
      </p:sp>
      <p:sp>
        <p:nvSpPr>
          <p:cNvPr id="11" name="date-3">
            <a:extLst>
              <a:ext uri="{FF2B5EF4-FFF2-40B4-BE49-F238E27FC236}">
                <a16:creationId xmlns:a16="http://schemas.microsoft.com/office/drawing/2014/main" id="{2AD06669-221E-4602-9199-C89F87C6C1C1}"/>
              </a:ext>
            </a:extLst>
          </p:cNvPr>
          <p:cNvSpPr>
            <a:spLocks noGrp="1"/>
          </p:cNvSpPr>
          <p:nvPr/>
        </p:nvSpPr>
        <p:spPr>
          <a:xfrm>
            <a:off x="7886700" y="2571750"/>
            <a:ext cx="2857500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4C956C"/>
                </a:solidFill>
                <a:latin typeface="Arial"/>
                <a:ea typeface="Arial"/>
                <a:cs typeface="Arial"/>
              </a:rPr>
              <a:t>SEP–OCT</a:t>
            </a:r>
          </a:p>
        </p:txBody>
      </p:sp>
      <p:sp>
        <p:nvSpPr>
          <p:cNvPr id="12" name="milestone-3">
            <a:extLst>
              <a:ext uri="{FF2B5EF4-FFF2-40B4-BE49-F238E27FC236}">
                <a16:creationId xmlns:a16="http://schemas.microsoft.com/office/drawing/2014/main" id="{B2827F8E-27FC-47DF-850D-99CB8B14CCA9}"/>
              </a:ext>
            </a:extLst>
          </p:cNvPr>
          <p:cNvSpPr>
            <a:spLocks noGrp="1"/>
          </p:cNvSpPr>
          <p:nvPr/>
        </p:nvSpPr>
        <p:spPr>
          <a:xfrm>
            <a:off x="7886700" y="3714750"/>
            <a:ext cx="2857500" cy="16668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Proposal convergence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Working targets only until Graduate Studies confirms policy and dates.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050" y="5810250"/>
            <a:ext cx="11391900" cy="523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75" b="0">
                <a:solidFill>
                  <a:srgbClr val="5D6670"/>
                </a:solidFill>
                <a:latin typeface="Arial"/>
              </a:rPr>
              <a:t>Doctoral adequacy (R-04): novelty — Preliminary  ·  scale &amp; feasibility — Partial  ·  resources — Partial  ·  schedule — shown above.</a:t>
            </a:r>
          </a:p>
        </p:txBody>
      </p:sp>
    </p:spTree>
    <p:extLst>
      <p:ext uri="{BB962C8B-B14F-4D97-AF65-F5344CB8AC3E}">
        <p14:creationId xmlns:p14="http://schemas.microsoft.com/office/powerpoint/2010/main" val="12228219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-title">
            <a:extLst>
              <a:ext uri="{FF2B5EF4-FFF2-40B4-BE49-F238E27FC236}">
                <a16:creationId xmlns:a16="http://schemas.microsoft.com/office/drawing/2014/main" id="{AB439543-7C2D-44C3-9BFF-97CDF174CB5E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000125"/>
          </a:xfrm>
          <a:prstGeom prst="rect">
            <a:avLst/>
          </a:prstGeom>
        </p:spPr>
        <p:txBody>
          <a:bodyPr lIns="0" tIns="0" rIns="0" bIns="0" anchor="t">
            <a:normAutofit fontScale="92911"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3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Resolve six decisions before discussing optional details</a:t>
            </a:r>
          </a:p>
        </p:txBody>
      </p:sp>
      <p:sp>
        <p:nvSpPr>
          <p:cNvPr id="3" name="table-subtitle">
            <a:extLst>
              <a:ext uri="{FF2B5EF4-FFF2-40B4-BE49-F238E27FC236}">
                <a16:creationId xmlns:a16="http://schemas.microsoft.com/office/drawing/2014/main" id="{F36785A4-64A1-42CD-9231-E844C8DA75A8}"/>
              </a:ext>
            </a:extLst>
          </p:cNvPr>
          <p:cNvSpPr>
            <a:spLocks noGrp="1"/>
          </p:cNvSpPr>
          <p:nvPr/>
        </p:nvSpPr>
        <p:spPr>
          <a:xfrm>
            <a:off x="400050" y="1190625"/>
            <a:ext cx="11334750" cy="666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US" sz="1500" b="0">
                <a:solidFill>
                  <a:srgbClr val="5D6670"/>
                </a:solidFill>
                <a:latin typeface="Arial" panose="020B0604020202020204" pitchFamily="34" charset="0"/>
                <a:ea typeface="Arial"/>
                <a:cs typeface="Arial"/>
              </a:rPr>
              <a:t>Allowed outcomes: Confirm · Confirm with correction · Retire or supersede · Defer. Silence is Defer.</a:t>
            </a:r>
            <a:endParaRPr sz="1500" b="0">
              <a:solidFill>
                <a:srgbClr val="5D6670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graphicFrame>
        <p:nvGraphicFramePr>
          <p:cNvPr id="11" name="evidence-table"/>
          <p:cNvGraphicFramePr/>
          <p:nvPr/>
        </p:nvGraphicFramePr>
        <p:xfrm>
          <a:off x="400050" y="1952625"/>
          <a:ext cx="11391900" cy="4095750"/>
        </p:xfrm>
        <a:graphic>
          <a:graphicData uri="http://schemas.openxmlformats.org/drawingml/2006/table">
            <a:tbl>
              <a:tblPr/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76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00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5107">
                <a:tc>
                  <a:txBody>
                    <a:bodyPr/>
                    <a:lstStyle/>
                    <a:p>
                      <a:r>
                        <a:t>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Required 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Why now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t>D-RQ-01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Umbrella-RQ wording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Locks the proposal spine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t>D-RQ-02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Exactly three SQs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Prevents renewed fragmentation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t>D-RQ-03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Three-study mapping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Locks method direction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t>D-RQ-04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Plan A/B definitions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Protects feasibility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t>D-RQ-05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Every RQ answerable in Plan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Protects completion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t>D-RQ-07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Five-state evidence boundary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Prevents overclaiming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lide-number">
            <a:extLst>
              <a:ext uri="{FF2B5EF4-FFF2-40B4-BE49-F238E27FC236}">
                <a16:creationId xmlns:a16="http://schemas.microsoft.com/office/drawing/2014/main" id="{FCB6B1C3-7A0B-4C86-A0E4-581109A51FBC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t">
            <a:normAutofit/>
          </a:bodyPr>
          <a:lstStyle/>
          <a:p>
            <a:pPr algn="r">
              <a:buNone/>
              <a:defRPr sz="900" b="0" i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4904872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lose-eyebrow">
            <a:extLst>
              <a:ext uri="{FF2B5EF4-FFF2-40B4-BE49-F238E27FC236}">
                <a16:creationId xmlns:a16="http://schemas.microsoft.com/office/drawing/2014/main" id="{3EABC5AF-07B1-4FBF-AB55-0A2B7CE4CE82}"/>
              </a:ext>
            </a:extLst>
          </p:cNvPr>
          <p:cNvSpPr>
            <a:spLocks noGrp="1"/>
          </p:cNvSpPr>
          <p:nvPr/>
        </p:nvSpPr>
        <p:spPr>
          <a:xfrm>
            <a:off x="400050" y="400050"/>
            <a:ext cx="4000500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MEETING CLOSE</a:t>
            </a:r>
          </a:p>
        </p:txBody>
      </p:sp>
      <p:sp>
        <p:nvSpPr>
          <p:cNvPr id="2" name="close-title">
            <a:extLst>
              <a:ext uri="{FF2B5EF4-FFF2-40B4-BE49-F238E27FC236}">
                <a16:creationId xmlns:a16="http://schemas.microsoft.com/office/drawing/2014/main" id="{0513D067-899A-472F-8A9F-CAF93AF9FFAA}"/>
              </a:ext>
            </a:extLst>
          </p:cNvPr>
          <p:cNvSpPr>
            <a:spLocks noGrp="1"/>
          </p:cNvSpPr>
          <p:nvPr/>
        </p:nvSpPr>
        <p:spPr>
          <a:xfrm>
            <a:off x="400050" y="1571625"/>
            <a:ext cx="10477500" cy="2571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 back every decision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Then select exactly one next task</a:t>
            </a:r>
          </a:p>
        </p:txBody>
      </p:sp>
      <p:sp>
        <p:nvSpPr>
          <p:cNvPr id="3" name="close-details">
            <a:extLst>
              <a:ext uri="{FF2B5EF4-FFF2-40B4-BE49-F238E27FC236}">
                <a16:creationId xmlns:a16="http://schemas.microsoft.com/office/drawing/2014/main" id="{2BA72FB0-2E6E-43CA-B1AB-8970A49A075E}"/>
              </a:ext>
            </a:extLst>
          </p:cNvPr>
          <p:cNvSpPr>
            <a:spLocks noGrp="1"/>
          </p:cNvSpPr>
          <p:nvPr/>
        </p:nvSpPr>
        <p:spPr>
          <a:xfrm>
            <a:off x="400050" y="4857750"/>
            <a:ext cx="9525000" cy="952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Owner · due date and timezone · evidence path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Definition of done · dependency · fallback · claim boundary</a:t>
            </a:r>
          </a:p>
        </p:txBody>
      </p:sp>
      <p:sp>
        <p:nvSpPr>
          <p:cNvPr id="4" name="slide-number">
            <a:extLst>
              <a:ext uri="{FF2B5EF4-FFF2-40B4-BE49-F238E27FC236}">
                <a16:creationId xmlns:a16="http://schemas.microsoft.com/office/drawing/2014/main" id="{164D27BC-7D25-4FED-9AD0-7C141B8E04CF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9994692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appendix-title">
            <a:extLst>
              <a:ext uri="{FF2B5EF4-FFF2-40B4-BE49-F238E27FC236}">
                <a16:creationId xmlns:a16="http://schemas.microsoft.com/office/drawing/2014/main" id="{9346FF31-54F2-4B69-B7C3-2EC10740B171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11391900" cy="609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27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Appendix · Requirements R-01–R-10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00B7F712-C591-41F1-8D34-768CA05D091A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A1</a:t>
            </a:r>
          </a:p>
        </p:txBody>
      </p:sp>
      <p:sp>
        <p:nvSpPr>
          <p:cNvPr id="3" name="appendix-subtitle">
            <a:extLst>
              <a:ext uri="{FF2B5EF4-FFF2-40B4-BE49-F238E27FC236}">
                <a16:creationId xmlns:a16="http://schemas.microsoft.com/office/drawing/2014/main" id="{CA8CB40B-A97A-4496-83F1-70AAB981403F}"/>
              </a:ext>
            </a:extLst>
          </p:cNvPr>
          <p:cNvSpPr>
            <a:spLocks noGrp="1"/>
          </p:cNvSpPr>
          <p:nvPr/>
        </p:nvSpPr>
        <p:spPr>
          <a:xfrm>
            <a:off x="400050" y="1000125"/>
            <a:ext cx="11334750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Every baseline control is reachable from the deck; status remains evidence-bound.</a:t>
            </a:r>
          </a:p>
        </p:txBody>
      </p:sp>
      <p:sp>
        <p:nvSpPr>
          <p:cNvPr id="4" name="appendix-row-line-0">
            <a:extLst>
              <a:ext uri="{FF2B5EF4-FFF2-40B4-BE49-F238E27FC236}">
                <a16:creationId xmlns:a16="http://schemas.microsoft.com/office/drawing/2014/main" id="{8663F0B0-4934-4DB1-B397-402B255D969C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5" name="appendix-row-line-1">
            <a:extLst>
              <a:ext uri="{FF2B5EF4-FFF2-40B4-BE49-F238E27FC236}">
                <a16:creationId xmlns:a16="http://schemas.microsoft.com/office/drawing/2014/main" id="{9DA32216-A66C-49D6-8CF0-C71C83082ED7}"/>
              </a:ext>
            </a:extLst>
          </p:cNvPr>
          <p:cNvSpPr>
            <a:spLocks noGrp="1"/>
          </p:cNvSpPr>
          <p:nvPr/>
        </p:nvSpPr>
        <p:spPr>
          <a:xfrm>
            <a:off x="400050" y="2013239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6" name="appendix-row-line-2">
            <a:extLst>
              <a:ext uri="{FF2B5EF4-FFF2-40B4-BE49-F238E27FC236}">
                <a16:creationId xmlns:a16="http://schemas.microsoft.com/office/drawing/2014/main" id="{3BD9C9B7-4335-417A-89A7-ABEC8A753081}"/>
              </a:ext>
            </a:extLst>
          </p:cNvPr>
          <p:cNvSpPr>
            <a:spLocks noGrp="1"/>
          </p:cNvSpPr>
          <p:nvPr/>
        </p:nvSpPr>
        <p:spPr>
          <a:xfrm>
            <a:off x="400050" y="2407227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7" name="appendix-row-line-3">
            <a:extLst>
              <a:ext uri="{FF2B5EF4-FFF2-40B4-BE49-F238E27FC236}">
                <a16:creationId xmlns:a16="http://schemas.microsoft.com/office/drawing/2014/main" id="{9971D837-2F5B-44ED-A046-DA81E421E7E3}"/>
              </a:ext>
            </a:extLst>
          </p:cNvPr>
          <p:cNvSpPr>
            <a:spLocks noGrp="1"/>
          </p:cNvSpPr>
          <p:nvPr/>
        </p:nvSpPr>
        <p:spPr>
          <a:xfrm>
            <a:off x="400050" y="2801216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8" name="appendix-row-line-4">
            <a:extLst>
              <a:ext uri="{FF2B5EF4-FFF2-40B4-BE49-F238E27FC236}">
                <a16:creationId xmlns:a16="http://schemas.microsoft.com/office/drawing/2014/main" id="{0902FB91-B093-40CC-8440-978AB61DC111}"/>
              </a:ext>
            </a:extLst>
          </p:cNvPr>
          <p:cNvSpPr>
            <a:spLocks noGrp="1"/>
          </p:cNvSpPr>
          <p:nvPr/>
        </p:nvSpPr>
        <p:spPr>
          <a:xfrm>
            <a:off x="400050" y="319520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9" name="appendix-row-line-5">
            <a:extLst>
              <a:ext uri="{FF2B5EF4-FFF2-40B4-BE49-F238E27FC236}">
                <a16:creationId xmlns:a16="http://schemas.microsoft.com/office/drawing/2014/main" id="{661916C4-8C86-4671-BFE1-376F90783DE4}"/>
              </a:ext>
            </a:extLst>
          </p:cNvPr>
          <p:cNvSpPr>
            <a:spLocks noGrp="1"/>
          </p:cNvSpPr>
          <p:nvPr/>
        </p:nvSpPr>
        <p:spPr>
          <a:xfrm>
            <a:off x="400050" y="3589193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0" name="appendix-row-line-6">
            <a:extLst>
              <a:ext uri="{FF2B5EF4-FFF2-40B4-BE49-F238E27FC236}">
                <a16:creationId xmlns:a16="http://schemas.microsoft.com/office/drawing/2014/main" id="{429029A1-DFD1-4B0E-95DD-35161D86A227}"/>
              </a:ext>
            </a:extLst>
          </p:cNvPr>
          <p:cNvSpPr>
            <a:spLocks noGrp="1"/>
          </p:cNvSpPr>
          <p:nvPr/>
        </p:nvSpPr>
        <p:spPr>
          <a:xfrm>
            <a:off x="400050" y="3983182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1" name="appendix-row-line-7">
            <a:extLst>
              <a:ext uri="{FF2B5EF4-FFF2-40B4-BE49-F238E27FC236}">
                <a16:creationId xmlns:a16="http://schemas.microsoft.com/office/drawing/2014/main" id="{B9CC4178-5A39-4914-BFD1-0D23EDE7EFE9}"/>
              </a:ext>
            </a:extLst>
          </p:cNvPr>
          <p:cNvSpPr>
            <a:spLocks noGrp="1"/>
          </p:cNvSpPr>
          <p:nvPr/>
        </p:nvSpPr>
        <p:spPr>
          <a:xfrm>
            <a:off x="400050" y="437717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2" name="appendix-row-line-8">
            <a:extLst>
              <a:ext uri="{FF2B5EF4-FFF2-40B4-BE49-F238E27FC236}">
                <a16:creationId xmlns:a16="http://schemas.microsoft.com/office/drawing/2014/main" id="{FE2A91F0-621E-4EA4-8F09-26EAB4CEF35D}"/>
              </a:ext>
            </a:extLst>
          </p:cNvPr>
          <p:cNvSpPr>
            <a:spLocks noGrp="1"/>
          </p:cNvSpPr>
          <p:nvPr/>
        </p:nvSpPr>
        <p:spPr>
          <a:xfrm>
            <a:off x="400050" y="4771159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3" name="appendix-row-line-9">
            <a:extLst>
              <a:ext uri="{FF2B5EF4-FFF2-40B4-BE49-F238E27FC236}">
                <a16:creationId xmlns:a16="http://schemas.microsoft.com/office/drawing/2014/main" id="{2D628886-9718-44C3-A1AA-C0969F7BABDB}"/>
              </a:ext>
            </a:extLst>
          </p:cNvPr>
          <p:cNvSpPr>
            <a:spLocks noGrp="1"/>
          </p:cNvSpPr>
          <p:nvPr/>
        </p:nvSpPr>
        <p:spPr>
          <a:xfrm>
            <a:off x="400050" y="5165148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4" name="appendix-row-line-10">
            <a:extLst>
              <a:ext uri="{FF2B5EF4-FFF2-40B4-BE49-F238E27FC236}">
                <a16:creationId xmlns:a16="http://schemas.microsoft.com/office/drawing/2014/main" id="{E45C0908-7B32-46B5-AEB8-DB3126BB0977}"/>
              </a:ext>
            </a:extLst>
          </p:cNvPr>
          <p:cNvSpPr>
            <a:spLocks noGrp="1"/>
          </p:cNvSpPr>
          <p:nvPr/>
        </p:nvSpPr>
        <p:spPr>
          <a:xfrm>
            <a:off x="400050" y="5559136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5" name="appendix-row-line-11">
            <a:extLst>
              <a:ext uri="{FF2B5EF4-FFF2-40B4-BE49-F238E27FC236}">
                <a16:creationId xmlns:a16="http://schemas.microsoft.com/office/drawing/2014/main" id="{B4D61C34-5FDB-4B2F-AAC0-0B8658DEF812}"/>
              </a:ext>
            </a:extLst>
          </p:cNvPr>
          <p:cNvSpPr>
            <a:spLocks noGrp="1"/>
          </p:cNvSpPr>
          <p:nvPr/>
        </p:nvSpPr>
        <p:spPr>
          <a:xfrm>
            <a:off x="400050" y="595312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6" name="appendix-col-line-0">
            <a:extLst>
              <a:ext uri="{FF2B5EF4-FFF2-40B4-BE49-F238E27FC236}">
                <a16:creationId xmlns:a16="http://schemas.microsoft.com/office/drawing/2014/main" id="{FFEA48E1-7D36-490F-83D4-1ED37E149F1C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7" name="appendix-cell-0-0">
            <a:extLst>
              <a:ext uri="{FF2B5EF4-FFF2-40B4-BE49-F238E27FC236}">
                <a16:creationId xmlns:a16="http://schemas.microsoft.com/office/drawing/2014/main" id="{66FB31E1-271C-4010-BB96-88721646AA12}"/>
              </a:ext>
            </a:extLst>
          </p:cNvPr>
          <p:cNvSpPr>
            <a:spLocks noGrp="1"/>
          </p:cNvSpPr>
          <p:nvPr/>
        </p:nvSpPr>
        <p:spPr>
          <a:xfrm>
            <a:off x="485775" y="1657350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ID</a:t>
            </a:r>
          </a:p>
        </p:txBody>
      </p:sp>
      <p:sp>
        <p:nvSpPr>
          <p:cNvPr id="18" name="appendix-cell-1-0">
            <a:extLst>
              <a:ext uri="{FF2B5EF4-FFF2-40B4-BE49-F238E27FC236}">
                <a16:creationId xmlns:a16="http://schemas.microsoft.com/office/drawing/2014/main" id="{4E043AF2-0221-4400-8397-2B109DE5D6D5}"/>
              </a:ext>
            </a:extLst>
          </p:cNvPr>
          <p:cNvSpPr>
            <a:spLocks noGrp="1"/>
          </p:cNvSpPr>
          <p:nvPr/>
        </p:nvSpPr>
        <p:spPr>
          <a:xfrm>
            <a:off x="485775" y="2051339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R-01</a:t>
            </a:r>
          </a:p>
        </p:txBody>
      </p:sp>
      <p:sp>
        <p:nvSpPr>
          <p:cNvPr id="19" name="appendix-cell-2-0">
            <a:extLst>
              <a:ext uri="{FF2B5EF4-FFF2-40B4-BE49-F238E27FC236}">
                <a16:creationId xmlns:a16="http://schemas.microsoft.com/office/drawing/2014/main" id="{6BB2D293-BF61-4150-B350-5E8D5D7466D4}"/>
              </a:ext>
            </a:extLst>
          </p:cNvPr>
          <p:cNvSpPr>
            <a:spLocks noGrp="1"/>
          </p:cNvSpPr>
          <p:nvPr/>
        </p:nvSpPr>
        <p:spPr>
          <a:xfrm>
            <a:off x="485775" y="2445327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R-02</a:t>
            </a:r>
          </a:p>
        </p:txBody>
      </p:sp>
      <p:sp>
        <p:nvSpPr>
          <p:cNvPr id="20" name="appendix-cell-3-0">
            <a:extLst>
              <a:ext uri="{FF2B5EF4-FFF2-40B4-BE49-F238E27FC236}">
                <a16:creationId xmlns:a16="http://schemas.microsoft.com/office/drawing/2014/main" id="{BBA4E1F1-E143-47D2-BF34-7382C14A22EB}"/>
              </a:ext>
            </a:extLst>
          </p:cNvPr>
          <p:cNvSpPr>
            <a:spLocks noGrp="1"/>
          </p:cNvSpPr>
          <p:nvPr/>
        </p:nvSpPr>
        <p:spPr>
          <a:xfrm>
            <a:off x="485775" y="2839316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R-03</a:t>
            </a:r>
          </a:p>
        </p:txBody>
      </p:sp>
      <p:sp>
        <p:nvSpPr>
          <p:cNvPr id="21" name="appendix-cell-4-0">
            <a:extLst>
              <a:ext uri="{FF2B5EF4-FFF2-40B4-BE49-F238E27FC236}">
                <a16:creationId xmlns:a16="http://schemas.microsoft.com/office/drawing/2014/main" id="{4EC848A3-F611-4050-8A7C-D3DADF8757E7}"/>
              </a:ext>
            </a:extLst>
          </p:cNvPr>
          <p:cNvSpPr>
            <a:spLocks noGrp="1"/>
          </p:cNvSpPr>
          <p:nvPr/>
        </p:nvSpPr>
        <p:spPr>
          <a:xfrm>
            <a:off x="485775" y="3233305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R-04</a:t>
            </a:r>
          </a:p>
        </p:txBody>
      </p:sp>
      <p:sp>
        <p:nvSpPr>
          <p:cNvPr id="22" name="appendix-cell-5-0">
            <a:extLst>
              <a:ext uri="{FF2B5EF4-FFF2-40B4-BE49-F238E27FC236}">
                <a16:creationId xmlns:a16="http://schemas.microsoft.com/office/drawing/2014/main" id="{DADBFE6E-E0AF-44DA-9BC5-1FDA1C1D168C}"/>
              </a:ext>
            </a:extLst>
          </p:cNvPr>
          <p:cNvSpPr>
            <a:spLocks noGrp="1"/>
          </p:cNvSpPr>
          <p:nvPr/>
        </p:nvSpPr>
        <p:spPr>
          <a:xfrm>
            <a:off x="485775" y="3627293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R-05</a:t>
            </a:r>
          </a:p>
        </p:txBody>
      </p:sp>
      <p:sp>
        <p:nvSpPr>
          <p:cNvPr id="23" name="appendix-cell-6-0">
            <a:extLst>
              <a:ext uri="{FF2B5EF4-FFF2-40B4-BE49-F238E27FC236}">
                <a16:creationId xmlns:a16="http://schemas.microsoft.com/office/drawing/2014/main" id="{8EC4C703-42E9-486D-865E-8461563DA507}"/>
              </a:ext>
            </a:extLst>
          </p:cNvPr>
          <p:cNvSpPr>
            <a:spLocks noGrp="1"/>
          </p:cNvSpPr>
          <p:nvPr/>
        </p:nvSpPr>
        <p:spPr>
          <a:xfrm>
            <a:off x="485775" y="4021282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R-06</a:t>
            </a:r>
          </a:p>
        </p:txBody>
      </p:sp>
      <p:sp>
        <p:nvSpPr>
          <p:cNvPr id="24" name="appendix-cell-7-0">
            <a:extLst>
              <a:ext uri="{FF2B5EF4-FFF2-40B4-BE49-F238E27FC236}">
                <a16:creationId xmlns:a16="http://schemas.microsoft.com/office/drawing/2014/main" id="{899C60D6-F1E9-4319-9E2D-B1AC640E75E9}"/>
              </a:ext>
            </a:extLst>
          </p:cNvPr>
          <p:cNvSpPr>
            <a:spLocks noGrp="1"/>
          </p:cNvSpPr>
          <p:nvPr/>
        </p:nvSpPr>
        <p:spPr>
          <a:xfrm>
            <a:off x="485775" y="4415270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R-07</a:t>
            </a:r>
          </a:p>
        </p:txBody>
      </p:sp>
      <p:sp>
        <p:nvSpPr>
          <p:cNvPr id="25" name="appendix-cell-8-0">
            <a:extLst>
              <a:ext uri="{FF2B5EF4-FFF2-40B4-BE49-F238E27FC236}">
                <a16:creationId xmlns:a16="http://schemas.microsoft.com/office/drawing/2014/main" id="{F1693894-76CF-4378-B8DC-FB6B0F3D2D28}"/>
              </a:ext>
            </a:extLst>
          </p:cNvPr>
          <p:cNvSpPr>
            <a:spLocks noGrp="1"/>
          </p:cNvSpPr>
          <p:nvPr/>
        </p:nvSpPr>
        <p:spPr>
          <a:xfrm>
            <a:off x="485775" y="4809259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R-08</a:t>
            </a:r>
          </a:p>
        </p:txBody>
      </p:sp>
      <p:sp>
        <p:nvSpPr>
          <p:cNvPr id="26" name="appendix-cell-9-0">
            <a:extLst>
              <a:ext uri="{FF2B5EF4-FFF2-40B4-BE49-F238E27FC236}">
                <a16:creationId xmlns:a16="http://schemas.microsoft.com/office/drawing/2014/main" id="{D6B2DA24-A2E3-4B76-BFB8-EA7514AAA1B6}"/>
              </a:ext>
            </a:extLst>
          </p:cNvPr>
          <p:cNvSpPr>
            <a:spLocks noGrp="1"/>
          </p:cNvSpPr>
          <p:nvPr/>
        </p:nvSpPr>
        <p:spPr>
          <a:xfrm>
            <a:off x="485775" y="5203248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R-09</a:t>
            </a:r>
          </a:p>
        </p:txBody>
      </p:sp>
      <p:sp>
        <p:nvSpPr>
          <p:cNvPr id="27" name="appendix-cell-10-0">
            <a:extLst>
              <a:ext uri="{FF2B5EF4-FFF2-40B4-BE49-F238E27FC236}">
                <a16:creationId xmlns:a16="http://schemas.microsoft.com/office/drawing/2014/main" id="{08FE9CA2-87D4-4FC2-AB11-FAC93552FC6A}"/>
              </a:ext>
            </a:extLst>
          </p:cNvPr>
          <p:cNvSpPr>
            <a:spLocks noGrp="1"/>
          </p:cNvSpPr>
          <p:nvPr/>
        </p:nvSpPr>
        <p:spPr>
          <a:xfrm>
            <a:off x="485775" y="5597236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R-10</a:t>
            </a:r>
          </a:p>
        </p:txBody>
      </p:sp>
      <p:sp>
        <p:nvSpPr>
          <p:cNvPr id="28" name="appendix-col-line-1">
            <a:extLst>
              <a:ext uri="{FF2B5EF4-FFF2-40B4-BE49-F238E27FC236}">
                <a16:creationId xmlns:a16="http://schemas.microsoft.com/office/drawing/2014/main" id="{B352D3D9-1281-4585-9D06-2987DEFA769C}"/>
              </a:ext>
            </a:extLst>
          </p:cNvPr>
          <p:cNvSpPr>
            <a:spLocks noGrp="1"/>
          </p:cNvSpPr>
          <p:nvPr/>
        </p:nvSpPr>
        <p:spPr>
          <a:xfrm>
            <a:off x="144780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29" name="appendix-cell-0-1">
            <a:extLst>
              <a:ext uri="{FF2B5EF4-FFF2-40B4-BE49-F238E27FC236}">
                <a16:creationId xmlns:a16="http://schemas.microsoft.com/office/drawing/2014/main" id="{EC0EA1BD-D525-4F01-AD98-CFF9802F39DB}"/>
              </a:ext>
            </a:extLst>
          </p:cNvPr>
          <p:cNvSpPr>
            <a:spLocks noGrp="1"/>
          </p:cNvSpPr>
          <p:nvPr/>
        </p:nvSpPr>
        <p:spPr>
          <a:xfrm>
            <a:off x="1533525" y="1657350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Control</a:t>
            </a:r>
          </a:p>
        </p:txBody>
      </p:sp>
      <p:sp>
        <p:nvSpPr>
          <p:cNvPr id="30" name="appendix-cell-1-1">
            <a:extLst>
              <a:ext uri="{FF2B5EF4-FFF2-40B4-BE49-F238E27FC236}">
                <a16:creationId xmlns:a16="http://schemas.microsoft.com/office/drawing/2014/main" id="{FD222EA6-E3F9-4EF9-9968-301D9FE829C9}"/>
              </a:ext>
            </a:extLst>
          </p:cNvPr>
          <p:cNvSpPr>
            <a:spLocks noGrp="1"/>
          </p:cNvSpPr>
          <p:nvPr/>
        </p:nvSpPr>
        <p:spPr>
          <a:xfrm>
            <a:off x="1533525" y="2051339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umbrella RQ + exactly three SQs</a:t>
            </a:r>
          </a:p>
        </p:txBody>
      </p:sp>
      <p:sp>
        <p:nvSpPr>
          <p:cNvPr id="31" name="appendix-cell-2-1">
            <a:extLst>
              <a:ext uri="{FF2B5EF4-FFF2-40B4-BE49-F238E27FC236}">
                <a16:creationId xmlns:a16="http://schemas.microsoft.com/office/drawing/2014/main" id="{B598532C-2FDD-4F45-AC28-DFB76CFD1ADB}"/>
              </a:ext>
            </a:extLst>
          </p:cNvPr>
          <p:cNvSpPr>
            <a:spLocks noGrp="1"/>
          </p:cNvSpPr>
          <p:nvPr/>
        </p:nvSpPr>
        <p:spPr>
          <a:xfrm>
            <a:off x="1533525" y="2445327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Each SQ maps to one study contract</a:t>
            </a:r>
          </a:p>
        </p:txBody>
      </p:sp>
      <p:sp>
        <p:nvSpPr>
          <p:cNvPr id="32" name="appendix-cell-3-1">
            <a:extLst>
              <a:ext uri="{FF2B5EF4-FFF2-40B4-BE49-F238E27FC236}">
                <a16:creationId xmlns:a16="http://schemas.microsoft.com/office/drawing/2014/main" id="{2A10A96D-8A50-4655-9A9E-2ACF9424DA00}"/>
              </a:ext>
            </a:extLst>
          </p:cNvPr>
          <p:cNvSpPr>
            <a:spLocks noGrp="1"/>
          </p:cNvSpPr>
          <p:nvPr/>
        </p:nvSpPr>
        <p:spPr>
          <a:xfrm>
            <a:off x="1533525" y="2839316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Proposal contains all six required areas</a:t>
            </a:r>
          </a:p>
        </p:txBody>
      </p:sp>
      <p:sp>
        <p:nvSpPr>
          <p:cNvPr id="33" name="appendix-cell-4-1">
            <a:extLst>
              <a:ext uri="{FF2B5EF4-FFF2-40B4-BE49-F238E27FC236}">
                <a16:creationId xmlns:a16="http://schemas.microsoft.com/office/drawing/2014/main" id="{3A59F3FE-CEB8-4B3A-930C-91AE9FEC6A67}"/>
              </a:ext>
            </a:extLst>
          </p:cNvPr>
          <p:cNvSpPr>
            <a:spLocks noGrp="1"/>
          </p:cNvSpPr>
          <p:nvPr/>
        </p:nvSpPr>
        <p:spPr>
          <a:xfrm>
            <a:off x="1533525" y="3233305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Novelty, scale, feasibility, resources, schedule</a:t>
            </a:r>
          </a:p>
        </p:txBody>
      </p:sp>
      <p:sp>
        <p:nvSpPr>
          <p:cNvPr id="34" name="appendix-cell-5-1">
            <a:extLst>
              <a:ext uri="{FF2B5EF4-FFF2-40B4-BE49-F238E27FC236}">
                <a16:creationId xmlns:a16="http://schemas.microsoft.com/office/drawing/2014/main" id="{6E606D01-7E8C-4984-B720-3F4D12BA9D88}"/>
              </a:ext>
            </a:extLst>
          </p:cNvPr>
          <p:cNvSpPr>
            <a:spLocks noGrp="1"/>
          </p:cNvSpPr>
          <p:nvPr/>
        </p:nvSpPr>
        <p:spPr>
          <a:xfrm>
            <a:off x="1533525" y="3627293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Concise candidacy presentation</a:t>
            </a:r>
          </a:p>
        </p:txBody>
      </p:sp>
      <p:sp>
        <p:nvSpPr>
          <p:cNvPr id="35" name="appendix-cell-6-1">
            <a:extLst>
              <a:ext uri="{FF2B5EF4-FFF2-40B4-BE49-F238E27FC236}">
                <a16:creationId xmlns:a16="http://schemas.microsoft.com/office/drawing/2014/main" id="{BF68862D-EE2B-4BED-A036-BCFCC825B308}"/>
              </a:ext>
            </a:extLst>
          </p:cNvPr>
          <p:cNvSpPr>
            <a:spLocks noGrp="1"/>
          </p:cNvSpPr>
          <p:nvPr/>
        </p:nvSpPr>
        <p:spPr>
          <a:xfrm>
            <a:off x="1533525" y="4021282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Research continues while administration proceeds</a:t>
            </a:r>
          </a:p>
        </p:txBody>
      </p:sp>
      <p:sp>
        <p:nvSpPr>
          <p:cNvPr id="36" name="appendix-cell-7-1">
            <a:extLst>
              <a:ext uri="{FF2B5EF4-FFF2-40B4-BE49-F238E27FC236}">
                <a16:creationId xmlns:a16="http://schemas.microsoft.com/office/drawing/2014/main" id="{632F021F-0062-4A0C-B207-85F031F26A15}"/>
              </a:ext>
            </a:extLst>
          </p:cNvPr>
          <p:cNvSpPr>
            <a:spLocks noGrp="1"/>
          </p:cNvSpPr>
          <p:nvPr/>
        </p:nvSpPr>
        <p:spPr>
          <a:xfrm>
            <a:off x="1533525" y="4415270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RQ answerable without medicine</a:t>
            </a:r>
          </a:p>
        </p:txBody>
      </p:sp>
      <p:sp>
        <p:nvSpPr>
          <p:cNvPr id="37" name="appendix-cell-8-1">
            <a:extLst>
              <a:ext uri="{FF2B5EF4-FFF2-40B4-BE49-F238E27FC236}">
                <a16:creationId xmlns:a16="http://schemas.microsoft.com/office/drawing/2014/main" id="{BC9DC047-F587-45D7-A7C4-A440C10ADC8B}"/>
              </a:ext>
            </a:extLst>
          </p:cNvPr>
          <p:cNvSpPr>
            <a:spLocks noGrp="1"/>
          </p:cNvSpPr>
          <p:nvPr/>
        </p:nvSpPr>
        <p:spPr>
          <a:xfrm>
            <a:off x="1533525" y="4809259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Separate current software evidence from medicine</a:t>
            </a:r>
          </a:p>
        </p:txBody>
      </p:sp>
      <p:sp>
        <p:nvSpPr>
          <p:cNvPr id="38" name="appendix-cell-9-1">
            <a:extLst>
              <a:ext uri="{FF2B5EF4-FFF2-40B4-BE49-F238E27FC236}">
                <a16:creationId xmlns:a16="http://schemas.microsoft.com/office/drawing/2014/main" id="{DF766DF6-4FEA-4829-A508-30C97C393D61}"/>
              </a:ext>
            </a:extLst>
          </p:cNvPr>
          <p:cNvSpPr>
            <a:spLocks noGrp="1"/>
          </p:cNvSpPr>
          <p:nvPr/>
        </p:nvSpPr>
        <p:spPr>
          <a:xfrm>
            <a:off x="1533525" y="5203248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Medical people/data cannot block doctorate</a:t>
            </a:r>
          </a:p>
        </p:txBody>
      </p:sp>
      <p:sp>
        <p:nvSpPr>
          <p:cNvPr id="39" name="appendix-cell-10-1">
            <a:extLst>
              <a:ext uri="{FF2B5EF4-FFF2-40B4-BE49-F238E27FC236}">
                <a16:creationId xmlns:a16="http://schemas.microsoft.com/office/drawing/2014/main" id="{33961B77-2211-4D46-95B8-298467211B3C}"/>
              </a:ext>
            </a:extLst>
          </p:cNvPr>
          <p:cNvSpPr>
            <a:spLocks noGrp="1"/>
          </p:cNvSpPr>
          <p:nvPr/>
        </p:nvSpPr>
        <p:spPr>
          <a:xfrm>
            <a:off x="1533525" y="5597236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 A/B dependencies and fallback</a:t>
            </a:r>
          </a:p>
        </p:txBody>
      </p:sp>
      <p:sp>
        <p:nvSpPr>
          <p:cNvPr id="40" name="appendix-col-line-2">
            <a:extLst>
              <a:ext uri="{FF2B5EF4-FFF2-40B4-BE49-F238E27FC236}">
                <a16:creationId xmlns:a16="http://schemas.microsoft.com/office/drawing/2014/main" id="{BE715D6E-B549-412B-903E-FB342D8AAB24}"/>
              </a:ext>
            </a:extLst>
          </p:cNvPr>
          <p:cNvSpPr>
            <a:spLocks noGrp="1"/>
          </p:cNvSpPr>
          <p:nvPr/>
        </p:nvSpPr>
        <p:spPr>
          <a:xfrm>
            <a:off x="8020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41" name="appendix-cell-0-2">
            <a:extLst>
              <a:ext uri="{FF2B5EF4-FFF2-40B4-BE49-F238E27FC236}">
                <a16:creationId xmlns:a16="http://schemas.microsoft.com/office/drawing/2014/main" id="{BB1013C1-ABEC-4DDB-9B2F-D65D3CD61F86}"/>
              </a:ext>
            </a:extLst>
          </p:cNvPr>
          <p:cNvSpPr>
            <a:spLocks noGrp="1"/>
          </p:cNvSpPr>
          <p:nvPr/>
        </p:nvSpPr>
        <p:spPr>
          <a:xfrm>
            <a:off x="8105775" y="1657350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Slide</a:t>
            </a:r>
          </a:p>
        </p:txBody>
      </p:sp>
      <p:sp>
        <p:nvSpPr>
          <p:cNvPr id="42" name="appendix-cell-1-2">
            <a:extLst>
              <a:ext uri="{FF2B5EF4-FFF2-40B4-BE49-F238E27FC236}">
                <a16:creationId xmlns:a16="http://schemas.microsoft.com/office/drawing/2014/main" id="{6B6C856F-AD25-48DF-8207-D16413BAA79C}"/>
              </a:ext>
            </a:extLst>
          </p:cNvPr>
          <p:cNvSpPr>
            <a:spLocks noGrp="1"/>
          </p:cNvSpPr>
          <p:nvPr/>
        </p:nvSpPr>
        <p:spPr>
          <a:xfrm>
            <a:off x="8105775" y="2051339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3" name="appendix-cell-2-2">
            <a:extLst>
              <a:ext uri="{FF2B5EF4-FFF2-40B4-BE49-F238E27FC236}">
                <a16:creationId xmlns:a16="http://schemas.microsoft.com/office/drawing/2014/main" id="{DE26A024-820E-4893-8ED0-D5B94B938889}"/>
              </a:ext>
            </a:extLst>
          </p:cNvPr>
          <p:cNvSpPr>
            <a:spLocks noGrp="1"/>
          </p:cNvSpPr>
          <p:nvPr/>
        </p:nvSpPr>
        <p:spPr>
          <a:xfrm>
            <a:off x="8105775" y="2445327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4" name="appendix-cell-3-2">
            <a:extLst>
              <a:ext uri="{FF2B5EF4-FFF2-40B4-BE49-F238E27FC236}">
                <a16:creationId xmlns:a16="http://schemas.microsoft.com/office/drawing/2014/main" id="{24B60E9D-86B4-4563-9A3D-555976712A90}"/>
              </a:ext>
            </a:extLst>
          </p:cNvPr>
          <p:cNvSpPr>
            <a:spLocks noGrp="1"/>
          </p:cNvSpPr>
          <p:nvPr/>
        </p:nvSpPr>
        <p:spPr>
          <a:xfrm>
            <a:off x="8105775" y="2839316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2,4</a:t>
            </a:r>
          </a:p>
        </p:txBody>
      </p:sp>
      <p:sp>
        <p:nvSpPr>
          <p:cNvPr id="45" name="appendix-cell-4-2">
            <a:extLst>
              <a:ext uri="{FF2B5EF4-FFF2-40B4-BE49-F238E27FC236}">
                <a16:creationId xmlns:a16="http://schemas.microsoft.com/office/drawing/2014/main" id="{88642865-2719-46DB-9EB0-296D3B8A4618}"/>
              </a:ext>
            </a:extLst>
          </p:cNvPr>
          <p:cNvSpPr>
            <a:spLocks noGrp="1"/>
          </p:cNvSpPr>
          <p:nvPr/>
        </p:nvSpPr>
        <p:spPr>
          <a:xfrm>
            <a:off x="8105775" y="3233305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6" name="appendix-cell-5-2">
            <a:extLst>
              <a:ext uri="{FF2B5EF4-FFF2-40B4-BE49-F238E27FC236}">
                <a16:creationId xmlns:a16="http://schemas.microsoft.com/office/drawing/2014/main" id="{3BD24394-21D2-4057-A0B8-98ADBB577365}"/>
              </a:ext>
            </a:extLst>
          </p:cNvPr>
          <p:cNvSpPr>
            <a:spLocks noGrp="1"/>
          </p:cNvSpPr>
          <p:nvPr/>
        </p:nvSpPr>
        <p:spPr>
          <a:xfrm>
            <a:off x="8105775" y="3627293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1,10</a:t>
            </a:r>
          </a:p>
        </p:txBody>
      </p:sp>
      <p:sp>
        <p:nvSpPr>
          <p:cNvPr id="47" name="appendix-cell-6-2">
            <a:extLst>
              <a:ext uri="{FF2B5EF4-FFF2-40B4-BE49-F238E27FC236}">
                <a16:creationId xmlns:a16="http://schemas.microsoft.com/office/drawing/2014/main" id="{46A88A85-8D28-4504-BE65-3AADFF679279}"/>
              </a:ext>
            </a:extLst>
          </p:cNvPr>
          <p:cNvSpPr>
            <a:spLocks noGrp="1"/>
          </p:cNvSpPr>
          <p:nvPr/>
        </p:nvSpPr>
        <p:spPr>
          <a:xfrm>
            <a:off x="8105775" y="4021282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2,12</a:t>
            </a:r>
          </a:p>
        </p:txBody>
      </p:sp>
      <p:sp>
        <p:nvSpPr>
          <p:cNvPr id="48" name="appendix-cell-7-2">
            <a:extLst>
              <a:ext uri="{FF2B5EF4-FFF2-40B4-BE49-F238E27FC236}">
                <a16:creationId xmlns:a16="http://schemas.microsoft.com/office/drawing/2014/main" id="{A421CA8F-E2A7-469D-A799-1D369F82D666}"/>
              </a:ext>
            </a:extLst>
          </p:cNvPr>
          <p:cNvSpPr>
            <a:spLocks noGrp="1"/>
          </p:cNvSpPr>
          <p:nvPr/>
        </p:nvSpPr>
        <p:spPr>
          <a:xfrm>
            <a:off x="8105775" y="4415270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3,6</a:t>
            </a:r>
          </a:p>
        </p:txBody>
      </p:sp>
      <p:sp>
        <p:nvSpPr>
          <p:cNvPr id="49" name="appendix-cell-8-2">
            <a:extLst>
              <a:ext uri="{FF2B5EF4-FFF2-40B4-BE49-F238E27FC236}">
                <a16:creationId xmlns:a16="http://schemas.microsoft.com/office/drawing/2014/main" id="{F30CA14D-8740-41DC-A36A-5BD18C4DE76A}"/>
              </a:ext>
            </a:extLst>
          </p:cNvPr>
          <p:cNvSpPr>
            <a:spLocks noGrp="1"/>
          </p:cNvSpPr>
          <p:nvPr/>
        </p:nvSpPr>
        <p:spPr>
          <a:xfrm>
            <a:off x="8105775" y="4809259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2,8,9</a:t>
            </a:r>
          </a:p>
        </p:txBody>
      </p:sp>
      <p:sp>
        <p:nvSpPr>
          <p:cNvPr id="50" name="appendix-cell-9-2">
            <a:extLst>
              <a:ext uri="{FF2B5EF4-FFF2-40B4-BE49-F238E27FC236}">
                <a16:creationId xmlns:a16="http://schemas.microsoft.com/office/drawing/2014/main" id="{581193ED-74B7-4E22-8832-68B44D1378FA}"/>
              </a:ext>
            </a:extLst>
          </p:cNvPr>
          <p:cNvSpPr>
            <a:spLocks noGrp="1"/>
          </p:cNvSpPr>
          <p:nvPr/>
        </p:nvSpPr>
        <p:spPr>
          <a:xfrm>
            <a:off x="8105775" y="5203248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6,9,10</a:t>
            </a:r>
          </a:p>
        </p:txBody>
      </p:sp>
      <p:sp>
        <p:nvSpPr>
          <p:cNvPr id="51" name="appendix-cell-10-2">
            <a:extLst>
              <a:ext uri="{FF2B5EF4-FFF2-40B4-BE49-F238E27FC236}">
                <a16:creationId xmlns:a16="http://schemas.microsoft.com/office/drawing/2014/main" id="{CBA6194C-2349-4CA3-A2A7-24E479F669B1}"/>
              </a:ext>
            </a:extLst>
          </p:cNvPr>
          <p:cNvSpPr>
            <a:spLocks noGrp="1"/>
          </p:cNvSpPr>
          <p:nvPr/>
        </p:nvSpPr>
        <p:spPr>
          <a:xfrm>
            <a:off x="8105775" y="5597236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2" name="appendix-col-line-3">
            <a:extLst>
              <a:ext uri="{FF2B5EF4-FFF2-40B4-BE49-F238E27FC236}">
                <a16:creationId xmlns:a16="http://schemas.microsoft.com/office/drawing/2014/main" id="{2129994E-C856-4A4B-B90F-20871EADC311}"/>
              </a:ext>
            </a:extLst>
          </p:cNvPr>
          <p:cNvSpPr>
            <a:spLocks noGrp="1"/>
          </p:cNvSpPr>
          <p:nvPr/>
        </p:nvSpPr>
        <p:spPr>
          <a:xfrm>
            <a:off x="9163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53" name="appendix-cell-0-3">
            <a:extLst>
              <a:ext uri="{FF2B5EF4-FFF2-40B4-BE49-F238E27FC236}">
                <a16:creationId xmlns:a16="http://schemas.microsoft.com/office/drawing/2014/main" id="{47B3FBCF-B1F3-4073-80C4-3A8BD2D236AF}"/>
              </a:ext>
            </a:extLst>
          </p:cNvPr>
          <p:cNvSpPr>
            <a:spLocks noGrp="1"/>
          </p:cNvSpPr>
          <p:nvPr/>
        </p:nvSpPr>
        <p:spPr>
          <a:xfrm>
            <a:off x="9248775" y="1657350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Current state</a:t>
            </a:r>
          </a:p>
        </p:txBody>
      </p:sp>
      <p:sp>
        <p:nvSpPr>
          <p:cNvPr id="54" name="appendix-cell-1-3">
            <a:extLst>
              <a:ext uri="{FF2B5EF4-FFF2-40B4-BE49-F238E27FC236}">
                <a16:creationId xmlns:a16="http://schemas.microsoft.com/office/drawing/2014/main" id="{A2C688FE-0FF2-48C3-92F2-963B6F12EBFE}"/>
              </a:ext>
            </a:extLst>
          </p:cNvPr>
          <p:cNvSpPr>
            <a:spLocks noGrp="1"/>
          </p:cNvSpPr>
          <p:nvPr/>
        </p:nvSpPr>
        <p:spPr>
          <a:xfrm>
            <a:off x="9248775" y="2051339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Awaiting</a:t>
            </a:r>
          </a:p>
        </p:txBody>
      </p:sp>
      <p:sp>
        <p:nvSpPr>
          <p:cNvPr id="55" name="appendix-cell-2-3">
            <a:extLst>
              <a:ext uri="{FF2B5EF4-FFF2-40B4-BE49-F238E27FC236}">
                <a16:creationId xmlns:a16="http://schemas.microsoft.com/office/drawing/2014/main" id="{61FC9A37-6952-4809-A40E-4945155DBFA8}"/>
              </a:ext>
            </a:extLst>
          </p:cNvPr>
          <p:cNvSpPr>
            <a:spLocks noGrp="1"/>
          </p:cNvSpPr>
          <p:nvPr/>
        </p:nvSpPr>
        <p:spPr>
          <a:xfrm>
            <a:off x="9248775" y="2445327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Awaiting</a:t>
            </a:r>
          </a:p>
        </p:txBody>
      </p:sp>
      <p:sp>
        <p:nvSpPr>
          <p:cNvPr id="56" name="appendix-cell-3-3">
            <a:extLst>
              <a:ext uri="{FF2B5EF4-FFF2-40B4-BE49-F238E27FC236}">
                <a16:creationId xmlns:a16="http://schemas.microsoft.com/office/drawing/2014/main" id="{29CA1D27-1857-4487-B8EB-3A75032B6C32}"/>
              </a:ext>
            </a:extLst>
          </p:cNvPr>
          <p:cNvSpPr>
            <a:spLocks noGrp="1"/>
          </p:cNvSpPr>
          <p:nvPr/>
        </p:nvSpPr>
        <p:spPr>
          <a:xfrm>
            <a:off x="9248775" y="2839316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Awaiting</a:t>
            </a:r>
          </a:p>
        </p:txBody>
      </p:sp>
      <p:sp>
        <p:nvSpPr>
          <p:cNvPr id="57" name="appendix-cell-4-3">
            <a:extLst>
              <a:ext uri="{FF2B5EF4-FFF2-40B4-BE49-F238E27FC236}">
                <a16:creationId xmlns:a16="http://schemas.microsoft.com/office/drawing/2014/main" id="{3A393481-A33E-42C1-BFCF-A4C27BF1BAA1}"/>
              </a:ext>
            </a:extLst>
          </p:cNvPr>
          <p:cNvSpPr>
            <a:spLocks noGrp="1"/>
          </p:cNvSpPr>
          <p:nvPr/>
        </p:nvSpPr>
        <p:spPr>
          <a:xfrm>
            <a:off x="9248775" y="3233305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58" name="appendix-cell-5-3">
            <a:extLst>
              <a:ext uri="{FF2B5EF4-FFF2-40B4-BE49-F238E27FC236}">
                <a16:creationId xmlns:a16="http://schemas.microsoft.com/office/drawing/2014/main" id="{345ABD3E-FC48-40E0-A992-89405D8E9693}"/>
              </a:ext>
            </a:extLst>
          </p:cNvPr>
          <p:cNvSpPr>
            <a:spLocks noGrp="1"/>
          </p:cNvSpPr>
          <p:nvPr/>
        </p:nvSpPr>
        <p:spPr>
          <a:xfrm>
            <a:off x="9248775" y="3627293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Blocked</a:t>
            </a:r>
          </a:p>
        </p:txBody>
      </p:sp>
      <p:sp>
        <p:nvSpPr>
          <p:cNvPr id="59" name="appendix-cell-6-3">
            <a:extLst>
              <a:ext uri="{FF2B5EF4-FFF2-40B4-BE49-F238E27FC236}">
                <a16:creationId xmlns:a16="http://schemas.microsoft.com/office/drawing/2014/main" id="{C6A21CFE-D548-4859-BD44-6DF66AB98038}"/>
              </a:ext>
            </a:extLst>
          </p:cNvPr>
          <p:cNvSpPr>
            <a:spLocks noGrp="1"/>
          </p:cNvSpPr>
          <p:nvPr/>
        </p:nvSpPr>
        <p:spPr>
          <a:xfrm>
            <a:off x="9248775" y="4021282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60" name="appendix-cell-7-3">
            <a:extLst>
              <a:ext uri="{FF2B5EF4-FFF2-40B4-BE49-F238E27FC236}">
                <a16:creationId xmlns:a16="http://schemas.microsoft.com/office/drawing/2014/main" id="{82F7DBF1-4C2A-4CCD-8DE5-C40C833329F0}"/>
              </a:ext>
            </a:extLst>
          </p:cNvPr>
          <p:cNvSpPr>
            <a:spLocks noGrp="1"/>
          </p:cNvSpPr>
          <p:nvPr/>
        </p:nvSpPr>
        <p:spPr>
          <a:xfrm>
            <a:off x="9248775" y="4415270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Awaiting</a:t>
            </a:r>
          </a:p>
        </p:txBody>
      </p:sp>
      <p:sp>
        <p:nvSpPr>
          <p:cNvPr id="61" name="appendix-cell-8-3">
            <a:extLst>
              <a:ext uri="{FF2B5EF4-FFF2-40B4-BE49-F238E27FC236}">
                <a16:creationId xmlns:a16="http://schemas.microsoft.com/office/drawing/2014/main" id="{A131D0FF-E9E3-4345-AF31-7B06D1B8DABA}"/>
              </a:ext>
            </a:extLst>
          </p:cNvPr>
          <p:cNvSpPr>
            <a:spLocks noGrp="1"/>
          </p:cNvSpPr>
          <p:nvPr/>
        </p:nvSpPr>
        <p:spPr>
          <a:xfrm>
            <a:off x="9248775" y="4809259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Awaiting</a:t>
            </a:r>
          </a:p>
        </p:txBody>
      </p:sp>
      <p:sp>
        <p:nvSpPr>
          <p:cNvPr id="62" name="appendix-cell-9-3">
            <a:extLst>
              <a:ext uri="{FF2B5EF4-FFF2-40B4-BE49-F238E27FC236}">
                <a16:creationId xmlns:a16="http://schemas.microsoft.com/office/drawing/2014/main" id="{9EF82AA0-1944-4A53-9DDF-E7DDD7C1D975}"/>
              </a:ext>
            </a:extLst>
          </p:cNvPr>
          <p:cNvSpPr>
            <a:spLocks noGrp="1"/>
          </p:cNvSpPr>
          <p:nvPr/>
        </p:nvSpPr>
        <p:spPr>
          <a:xfrm>
            <a:off x="9248775" y="5203248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63" name="appendix-cell-10-3">
            <a:extLst>
              <a:ext uri="{FF2B5EF4-FFF2-40B4-BE49-F238E27FC236}">
                <a16:creationId xmlns:a16="http://schemas.microsoft.com/office/drawing/2014/main" id="{EAAE5A47-7292-4219-9C63-77A055037087}"/>
              </a:ext>
            </a:extLst>
          </p:cNvPr>
          <p:cNvSpPr>
            <a:spLocks noGrp="1"/>
          </p:cNvSpPr>
          <p:nvPr/>
        </p:nvSpPr>
        <p:spPr>
          <a:xfrm>
            <a:off x="9248775" y="5597236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64" name="appendix-col-line-4">
            <a:extLst>
              <a:ext uri="{FF2B5EF4-FFF2-40B4-BE49-F238E27FC236}">
                <a16:creationId xmlns:a16="http://schemas.microsoft.com/office/drawing/2014/main" id="{30DA9B88-C1CB-4CAB-A09B-BB0938FE6215}"/>
              </a:ext>
            </a:extLst>
          </p:cNvPr>
          <p:cNvSpPr>
            <a:spLocks noGrp="1"/>
          </p:cNvSpPr>
          <p:nvPr/>
        </p:nvSpPr>
        <p:spPr>
          <a:xfrm>
            <a:off x="117919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821408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-number">
            <a:extLst>
              <a:ext uri="{FF2B5EF4-FFF2-40B4-BE49-F238E27FC236}">
                <a16:creationId xmlns:a16="http://schemas.microsoft.com/office/drawing/2014/main" id="{2AF46CFB-16C7-431F-A9F7-A957B51165A6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A2</a:t>
            </a:r>
          </a:p>
        </p:txBody>
      </p:sp>
      <p:sp>
        <p:nvSpPr>
          <p:cNvPr id="3" name="appendix-subtitle">
            <a:extLst>
              <a:ext uri="{FF2B5EF4-FFF2-40B4-BE49-F238E27FC236}">
                <a16:creationId xmlns:a16="http://schemas.microsoft.com/office/drawing/2014/main" id="{D0B977A1-F23B-4613-9D71-42141CA3044E}"/>
              </a:ext>
            </a:extLst>
          </p:cNvPr>
          <p:cNvSpPr>
            <a:spLocks noGrp="1"/>
          </p:cNvSpPr>
          <p:nvPr/>
        </p:nvSpPr>
        <p:spPr>
          <a:xfrm>
            <a:off x="400050" y="1000125"/>
            <a:ext cx="11334750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Medical, cadence, literature, workspace, schedule and Penina controls.</a:t>
            </a:r>
          </a:p>
        </p:txBody>
      </p:sp>
      <p:sp>
        <p:nvSpPr>
          <p:cNvPr id="4" name="appendix-row-line-0">
            <a:extLst>
              <a:ext uri="{FF2B5EF4-FFF2-40B4-BE49-F238E27FC236}">
                <a16:creationId xmlns:a16="http://schemas.microsoft.com/office/drawing/2014/main" id="{F260601E-19B6-4625-84F4-EAFC8145A5CF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5" name="appendix-row-line-1">
            <a:extLst>
              <a:ext uri="{FF2B5EF4-FFF2-40B4-BE49-F238E27FC236}">
                <a16:creationId xmlns:a16="http://schemas.microsoft.com/office/drawing/2014/main" id="{83977214-65E1-498A-A638-9D66F60C8B7E}"/>
              </a:ext>
            </a:extLst>
          </p:cNvPr>
          <p:cNvSpPr>
            <a:spLocks noGrp="1"/>
          </p:cNvSpPr>
          <p:nvPr/>
        </p:nvSpPr>
        <p:spPr>
          <a:xfrm>
            <a:off x="400050" y="2052638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6" name="appendix-row-line-2">
            <a:extLst>
              <a:ext uri="{FF2B5EF4-FFF2-40B4-BE49-F238E27FC236}">
                <a16:creationId xmlns:a16="http://schemas.microsoft.com/office/drawing/2014/main" id="{D58D10A6-52EA-464E-90EE-FCEE98B6D4C9}"/>
              </a:ext>
            </a:extLst>
          </p:cNvPr>
          <p:cNvSpPr>
            <a:spLocks noGrp="1"/>
          </p:cNvSpPr>
          <p:nvPr/>
        </p:nvSpPr>
        <p:spPr>
          <a:xfrm>
            <a:off x="400050" y="248602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7" name="appendix-row-line-3">
            <a:extLst>
              <a:ext uri="{FF2B5EF4-FFF2-40B4-BE49-F238E27FC236}">
                <a16:creationId xmlns:a16="http://schemas.microsoft.com/office/drawing/2014/main" id="{4302F200-731B-4645-9C96-002503455FF2}"/>
              </a:ext>
            </a:extLst>
          </p:cNvPr>
          <p:cNvSpPr>
            <a:spLocks noGrp="1"/>
          </p:cNvSpPr>
          <p:nvPr/>
        </p:nvSpPr>
        <p:spPr>
          <a:xfrm>
            <a:off x="400050" y="2919413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8" name="appendix-row-line-4">
            <a:extLst>
              <a:ext uri="{FF2B5EF4-FFF2-40B4-BE49-F238E27FC236}">
                <a16:creationId xmlns:a16="http://schemas.microsoft.com/office/drawing/2014/main" id="{966F2D1D-34A5-44E9-9D4C-D554DC6B04A5}"/>
              </a:ext>
            </a:extLst>
          </p:cNvPr>
          <p:cNvSpPr>
            <a:spLocks noGrp="1"/>
          </p:cNvSpPr>
          <p:nvPr/>
        </p:nvSpPr>
        <p:spPr>
          <a:xfrm>
            <a:off x="400050" y="335280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9" name="appendix-row-line-5">
            <a:extLst>
              <a:ext uri="{FF2B5EF4-FFF2-40B4-BE49-F238E27FC236}">
                <a16:creationId xmlns:a16="http://schemas.microsoft.com/office/drawing/2014/main" id="{A3CD9FB1-75A9-4EA0-A674-3939A7B0FA32}"/>
              </a:ext>
            </a:extLst>
          </p:cNvPr>
          <p:cNvSpPr>
            <a:spLocks noGrp="1"/>
          </p:cNvSpPr>
          <p:nvPr/>
        </p:nvSpPr>
        <p:spPr>
          <a:xfrm>
            <a:off x="400050" y="3786188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0" name="appendix-row-line-6">
            <a:extLst>
              <a:ext uri="{FF2B5EF4-FFF2-40B4-BE49-F238E27FC236}">
                <a16:creationId xmlns:a16="http://schemas.microsoft.com/office/drawing/2014/main" id="{0389313F-2CF7-4FB4-A2F7-B42360482108}"/>
              </a:ext>
            </a:extLst>
          </p:cNvPr>
          <p:cNvSpPr>
            <a:spLocks noGrp="1"/>
          </p:cNvSpPr>
          <p:nvPr/>
        </p:nvSpPr>
        <p:spPr>
          <a:xfrm>
            <a:off x="400050" y="421957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1" name="appendix-row-line-7">
            <a:extLst>
              <a:ext uri="{FF2B5EF4-FFF2-40B4-BE49-F238E27FC236}">
                <a16:creationId xmlns:a16="http://schemas.microsoft.com/office/drawing/2014/main" id="{9C1E2AA6-CD4A-4ECE-9B57-A94E4C2B478E}"/>
              </a:ext>
            </a:extLst>
          </p:cNvPr>
          <p:cNvSpPr>
            <a:spLocks noGrp="1"/>
          </p:cNvSpPr>
          <p:nvPr/>
        </p:nvSpPr>
        <p:spPr>
          <a:xfrm>
            <a:off x="400050" y="4652963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2" name="appendix-row-line-8">
            <a:extLst>
              <a:ext uri="{FF2B5EF4-FFF2-40B4-BE49-F238E27FC236}">
                <a16:creationId xmlns:a16="http://schemas.microsoft.com/office/drawing/2014/main" id="{7EBCC6AF-688A-440D-9E8C-AA6DCF43D603}"/>
              </a:ext>
            </a:extLst>
          </p:cNvPr>
          <p:cNvSpPr>
            <a:spLocks noGrp="1"/>
          </p:cNvSpPr>
          <p:nvPr/>
        </p:nvSpPr>
        <p:spPr>
          <a:xfrm>
            <a:off x="400050" y="508635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3" name="appendix-row-line-9">
            <a:extLst>
              <a:ext uri="{FF2B5EF4-FFF2-40B4-BE49-F238E27FC236}">
                <a16:creationId xmlns:a16="http://schemas.microsoft.com/office/drawing/2014/main" id="{799CE118-32A9-4CFD-A82C-EFCD69531BAE}"/>
              </a:ext>
            </a:extLst>
          </p:cNvPr>
          <p:cNvSpPr>
            <a:spLocks noGrp="1"/>
          </p:cNvSpPr>
          <p:nvPr/>
        </p:nvSpPr>
        <p:spPr>
          <a:xfrm>
            <a:off x="400050" y="5519738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4" name="appendix-row-line-10">
            <a:extLst>
              <a:ext uri="{FF2B5EF4-FFF2-40B4-BE49-F238E27FC236}">
                <a16:creationId xmlns:a16="http://schemas.microsoft.com/office/drawing/2014/main" id="{4DB03B6B-07AF-4869-8774-25E20081BCED}"/>
              </a:ext>
            </a:extLst>
          </p:cNvPr>
          <p:cNvSpPr>
            <a:spLocks noGrp="1"/>
          </p:cNvSpPr>
          <p:nvPr/>
        </p:nvSpPr>
        <p:spPr>
          <a:xfrm>
            <a:off x="400050" y="595312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5" name="appendix-col-line-0">
            <a:extLst>
              <a:ext uri="{FF2B5EF4-FFF2-40B4-BE49-F238E27FC236}">
                <a16:creationId xmlns:a16="http://schemas.microsoft.com/office/drawing/2014/main" id="{B05A1337-E366-45C3-B93F-EA06C9940B99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6" name="appendix-cell-0-0">
            <a:extLst>
              <a:ext uri="{FF2B5EF4-FFF2-40B4-BE49-F238E27FC236}">
                <a16:creationId xmlns:a16="http://schemas.microsoft.com/office/drawing/2014/main" id="{A3C2F7A5-85EB-4700-9117-1487E4734ADF}"/>
              </a:ext>
            </a:extLst>
          </p:cNvPr>
          <p:cNvSpPr>
            <a:spLocks noGrp="1"/>
          </p:cNvSpPr>
          <p:nvPr/>
        </p:nvSpPr>
        <p:spPr>
          <a:xfrm>
            <a:off x="485775" y="1657350"/>
            <a:ext cx="8763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ID</a:t>
            </a:r>
          </a:p>
        </p:txBody>
      </p:sp>
      <p:sp>
        <p:nvSpPr>
          <p:cNvPr id="17" name="appendix-cell-1-0">
            <a:extLst>
              <a:ext uri="{FF2B5EF4-FFF2-40B4-BE49-F238E27FC236}">
                <a16:creationId xmlns:a16="http://schemas.microsoft.com/office/drawing/2014/main" id="{3F96FB84-CF53-410D-81BC-4F6B7E32EE93}"/>
              </a:ext>
            </a:extLst>
          </p:cNvPr>
          <p:cNvSpPr>
            <a:spLocks noGrp="1"/>
          </p:cNvSpPr>
          <p:nvPr/>
        </p:nvSpPr>
        <p:spPr>
          <a:xfrm>
            <a:off x="485775" y="2090738"/>
            <a:ext cx="8763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R-11</a:t>
            </a:r>
          </a:p>
        </p:txBody>
      </p:sp>
      <p:sp>
        <p:nvSpPr>
          <p:cNvPr id="18" name="appendix-cell-2-0">
            <a:extLst>
              <a:ext uri="{FF2B5EF4-FFF2-40B4-BE49-F238E27FC236}">
                <a16:creationId xmlns:a16="http://schemas.microsoft.com/office/drawing/2014/main" id="{FCFACA1C-AD39-4268-8690-EB9B1BC50C41}"/>
              </a:ext>
            </a:extLst>
          </p:cNvPr>
          <p:cNvSpPr>
            <a:spLocks noGrp="1"/>
          </p:cNvSpPr>
          <p:nvPr/>
        </p:nvSpPr>
        <p:spPr>
          <a:xfrm>
            <a:off x="485775" y="2524125"/>
            <a:ext cx="8763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R-12</a:t>
            </a:r>
          </a:p>
        </p:txBody>
      </p:sp>
      <p:sp>
        <p:nvSpPr>
          <p:cNvPr id="19" name="appendix-cell-3-0">
            <a:extLst>
              <a:ext uri="{FF2B5EF4-FFF2-40B4-BE49-F238E27FC236}">
                <a16:creationId xmlns:a16="http://schemas.microsoft.com/office/drawing/2014/main" id="{1F9643E1-F490-407C-BDA4-D97B376A5154}"/>
              </a:ext>
            </a:extLst>
          </p:cNvPr>
          <p:cNvSpPr>
            <a:spLocks noGrp="1"/>
          </p:cNvSpPr>
          <p:nvPr/>
        </p:nvSpPr>
        <p:spPr>
          <a:xfrm>
            <a:off x="485775" y="2957513"/>
            <a:ext cx="8763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R-13</a:t>
            </a:r>
          </a:p>
        </p:txBody>
      </p:sp>
      <p:sp>
        <p:nvSpPr>
          <p:cNvPr id="20" name="appendix-cell-4-0">
            <a:extLst>
              <a:ext uri="{FF2B5EF4-FFF2-40B4-BE49-F238E27FC236}">
                <a16:creationId xmlns:a16="http://schemas.microsoft.com/office/drawing/2014/main" id="{3093B735-929D-4A93-82AA-8E28DDFEE7D5}"/>
              </a:ext>
            </a:extLst>
          </p:cNvPr>
          <p:cNvSpPr>
            <a:spLocks noGrp="1"/>
          </p:cNvSpPr>
          <p:nvPr/>
        </p:nvSpPr>
        <p:spPr>
          <a:xfrm>
            <a:off x="485775" y="3390900"/>
            <a:ext cx="8763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R-14</a:t>
            </a:r>
          </a:p>
        </p:txBody>
      </p:sp>
      <p:sp>
        <p:nvSpPr>
          <p:cNvPr id="21" name="appendix-cell-5-0">
            <a:extLst>
              <a:ext uri="{FF2B5EF4-FFF2-40B4-BE49-F238E27FC236}">
                <a16:creationId xmlns:a16="http://schemas.microsoft.com/office/drawing/2014/main" id="{AF4AD48F-0325-44A5-B059-04C8BD217B62}"/>
              </a:ext>
            </a:extLst>
          </p:cNvPr>
          <p:cNvSpPr>
            <a:spLocks noGrp="1"/>
          </p:cNvSpPr>
          <p:nvPr/>
        </p:nvSpPr>
        <p:spPr>
          <a:xfrm>
            <a:off x="485775" y="3824288"/>
            <a:ext cx="8763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R-15</a:t>
            </a:r>
          </a:p>
        </p:txBody>
      </p:sp>
      <p:sp>
        <p:nvSpPr>
          <p:cNvPr id="22" name="appendix-cell-6-0">
            <a:extLst>
              <a:ext uri="{FF2B5EF4-FFF2-40B4-BE49-F238E27FC236}">
                <a16:creationId xmlns:a16="http://schemas.microsoft.com/office/drawing/2014/main" id="{63AB781F-E7C0-472D-A49D-1A1C955C356C}"/>
              </a:ext>
            </a:extLst>
          </p:cNvPr>
          <p:cNvSpPr>
            <a:spLocks noGrp="1"/>
          </p:cNvSpPr>
          <p:nvPr/>
        </p:nvSpPr>
        <p:spPr>
          <a:xfrm>
            <a:off x="485775" y="4257675"/>
            <a:ext cx="8763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R-16</a:t>
            </a:r>
          </a:p>
        </p:txBody>
      </p:sp>
      <p:sp>
        <p:nvSpPr>
          <p:cNvPr id="23" name="appendix-cell-7-0">
            <a:extLst>
              <a:ext uri="{FF2B5EF4-FFF2-40B4-BE49-F238E27FC236}">
                <a16:creationId xmlns:a16="http://schemas.microsoft.com/office/drawing/2014/main" id="{96075A21-F483-42D5-B55E-D5EBA51AC12F}"/>
              </a:ext>
            </a:extLst>
          </p:cNvPr>
          <p:cNvSpPr>
            <a:spLocks noGrp="1"/>
          </p:cNvSpPr>
          <p:nvPr/>
        </p:nvSpPr>
        <p:spPr>
          <a:xfrm>
            <a:off x="485775" y="4691063"/>
            <a:ext cx="8763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R-17</a:t>
            </a:r>
          </a:p>
        </p:txBody>
      </p:sp>
      <p:sp>
        <p:nvSpPr>
          <p:cNvPr id="24" name="appendix-cell-8-0">
            <a:extLst>
              <a:ext uri="{FF2B5EF4-FFF2-40B4-BE49-F238E27FC236}">
                <a16:creationId xmlns:a16="http://schemas.microsoft.com/office/drawing/2014/main" id="{F50216AA-48D6-4BF4-A01B-B6FE92D4F7BF}"/>
              </a:ext>
            </a:extLst>
          </p:cNvPr>
          <p:cNvSpPr>
            <a:spLocks noGrp="1"/>
          </p:cNvSpPr>
          <p:nvPr/>
        </p:nvSpPr>
        <p:spPr>
          <a:xfrm>
            <a:off x="485775" y="5124450"/>
            <a:ext cx="8763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R-18</a:t>
            </a:r>
          </a:p>
        </p:txBody>
      </p:sp>
      <p:sp>
        <p:nvSpPr>
          <p:cNvPr id="25" name="appendix-cell-9-0">
            <a:extLst>
              <a:ext uri="{FF2B5EF4-FFF2-40B4-BE49-F238E27FC236}">
                <a16:creationId xmlns:a16="http://schemas.microsoft.com/office/drawing/2014/main" id="{92F274DE-0A00-4C11-8136-04328A891C34}"/>
              </a:ext>
            </a:extLst>
          </p:cNvPr>
          <p:cNvSpPr>
            <a:spLocks noGrp="1"/>
          </p:cNvSpPr>
          <p:nvPr/>
        </p:nvSpPr>
        <p:spPr>
          <a:xfrm>
            <a:off x="485775" y="5557838"/>
            <a:ext cx="8763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R-19</a:t>
            </a:r>
          </a:p>
        </p:txBody>
      </p:sp>
      <p:sp>
        <p:nvSpPr>
          <p:cNvPr id="26" name="appendix-col-line-1">
            <a:extLst>
              <a:ext uri="{FF2B5EF4-FFF2-40B4-BE49-F238E27FC236}">
                <a16:creationId xmlns:a16="http://schemas.microsoft.com/office/drawing/2014/main" id="{6BF6156B-B565-4396-B15A-F5DFC9984502}"/>
              </a:ext>
            </a:extLst>
          </p:cNvPr>
          <p:cNvSpPr>
            <a:spLocks noGrp="1"/>
          </p:cNvSpPr>
          <p:nvPr/>
        </p:nvSpPr>
        <p:spPr>
          <a:xfrm>
            <a:off x="144780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27" name="appendix-cell-0-1">
            <a:extLst>
              <a:ext uri="{FF2B5EF4-FFF2-40B4-BE49-F238E27FC236}">
                <a16:creationId xmlns:a16="http://schemas.microsoft.com/office/drawing/2014/main" id="{7990824F-032D-47AB-A14C-A313A3F48498}"/>
              </a:ext>
            </a:extLst>
          </p:cNvPr>
          <p:cNvSpPr>
            <a:spLocks noGrp="1"/>
          </p:cNvSpPr>
          <p:nvPr/>
        </p:nvSpPr>
        <p:spPr>
          <a:xfrm>
            <a:off x="1533525" y="1657350"/>
            <a:ext cx="64008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Control</a:t>
            </a:r>
          </a:p>
        </p:txBody>
      </p:sp>
      <p:sp>
        <p:nvSpPr>
          <p:cNvPr id="28" name="appendix-cell-1-1">
            <a:extLst>
              <a:ext uri="{FF2B5EF4-FFF2-40B4-BE49-F238E27FC236}">
                <a16:creationId xmlns:a16="http://schemas.microsoft.com/office/drawing/2014/main" id="{3CCEAD36-C1CF-4649-84AD-19504F771E29}"/>
              </a:ext>
            </a:extLst>
          </p:cNvPr>
          <p:cNvSpPr>
            <a:spLocks noGrp="1"/>
          </p:cNvSpPr>
          <p:nvPr/>
        </p:nvSpPr>
        <p:spPr>
          <a:xfrm>
            <a:off x="1533525" y="2090738"/>
            <a:ext cx="64008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Bounded medical familiarization</a:t>
            </a:r>
          </a:p>
        </p:txBody>
      </p:sp>
      <p:sp>
        <p:nvSpPr>
          <p:cNvPr id="29" name="appendix-cell-2-1">
            <a:extLst>
              <a:ext uri="{FF2B5EF4-FFF2-40B4-BE49-F238E27FC236}">
                <a16:creationId xmlns:a16="http://schemas.microsoft.com/office/drawing/2014/main" id="{48C502B0-000D-4570-BECB-73D67C58F8F8}"/>
              </a:ext>
            </a:extLst>
          </p:cNvPr>
          <p:cNvSpPr>
            <a:spLocks noGrp="1"/>
          </p:cNvSpPr>
          <p:nvPr/>
        </p:nvSpPr>
        <p:spPr>
          <a:xfrm>
            <a:off x="1533525" y="2524125"/>
            <a:ext cx="64008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VDI/privacy/local-offline controls</a:t>
            </a:r>
          </a:p>
        </p:txBody>
      </p:sp>
      <p:sp>
        <p:nvSpPr>
          <p:cNvPr id="30" name="appendix-cell-3-1">
            <a:extLst>
              <a:ext uri="{FF2B5EF4-FFF2-40B4-BE49-F238E27FC236}">
                <a16:creationId xmlns:a16="http://schemas.microsoft.com/office/drawing/2014/main" id="{F7A1467D-08C1-4C96-9BAA-C958B6D24D89}"/>
              </a:ext>
            </a:extLst>
          </p:cNvPr>
          <p:cNvSpPr>
            <a:spLocks noGrp="1"/>
          </p:cNvSpPr>
          <p:nvPr/>
        </p:nvSpPr>
        <p:spPr>
          <a:xfrm>
            <a:off x="1533525" y="2957513"/>
            <a:ext cx="64008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Short weekly task-focused cadence</a:t>
            </a:r>
          </a:p>
        </p:txBody>
      </p:sp>
      <p:sp>
        <p:nvSpPr>
          <p:cNvPr id="31" name="appendix-cell-4-1">
            <a:extLst>
              <a:ext uri="{FF2B5EF4-FFF2-40B4-BE49-F238E27FC236}">
                <a16:creationId xmlns:a16="http://schemas.microsoft.com/office/drawing/2014/main" id="{4B973686-EF6D-410A-BDD0-F76EC714E149}"/>
              </a:ext>
            </a:extLst>
          </p:cNvPr>
          <p:cNvSpPr>
            <a:spLocks noGrp="1"/>
          </p:cNvSpPr>
          <p:nvPr/>
        </p:nvSpPr>
        <p:spPr>
          <a:xfrm>
            <a:off x="1533525" y="3390900"/>
            <a:ext cx="64008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Next package: RQs, literature, workbook</a:t>
            </a:r>
          </a:p>
        </p:txBody>
      </p:sp>
      <p:sp>
        <p:nvSpPr>
          <p:cNvPr id="32" name="appendix-cell-5-1">
            <a:extLst>
              <a:ext uri="{FF2B5EF4-FFF2-40B4-BE49-F238E27FC236}">
                <a16:creationId xmlns:a16="http://schemas.microsoft.com/office/drawing/2014/main" id="{76DCFCD8-2C74-4763-997F-B7A98773B36B}"/>
              </a:ext>
            </a:extLst>
          </p:cNvPr>
          <p:cNvSpPr>
            <a:spLocks noGrp="1"/>
          </p:cNvSpPr>
          <p:nvPr/>
        </p:nvSpPr>
        <p:spPr>
          <a:xfrm>
            <a:off x="1533525" y="3824288"/>
            <a:ext cx="64008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paper per row; synthesis separated</a:t>
            </a:r>
          </a:p>
        </p:txBody>
      </p:sp>
      <p:sp>
        <p:nvSpPr>
          <p:cNvPr id="33" name="appendix-cell-6-1">
            <a:extLst>
              <a:ext uri="{FF2B5EF4-FFF2-40B4-BE49-F238E27FC236}">
                <a16:creationId xmlns:a16="http://schemas.microsoft.com/office/drawing/2014/main" id="{FC04A453-C602-4280-993E-FFBC786B2E7C}"/>
              </a:ext>
            </a:extLst>
          </p:cNvPr>
          <p:cNvSpPr>
            <a:spLocks noGrp="1"/>
          </p:cNvSpPr>
          <p:nvPr/>
        </p:nvSpPr>
        <p:spPr>
          <a:xfrm>
            <a:off x="1533525" y="4257675"/>
            <a:ext cx="64008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Living taxonomy and gap resource</a:t>
            </a:r>
          </a:p>
        </p:txBody>
      </p:sp>
      <p:sp>
        <p:nvSpPr>
          <p:cNvPr id="34" name="appendix-cell-7-1">
            <a:extLst>
              <a:ext uri="{FF2B5EF4-FFF2-40B4-BE49-F238E27FC236}">
                <a16:creationId xmlns:a16="http://schemas.microsoft.com/office/drawing/2014/main" id="{04291D7C-0238-43AF-B63F-F2CBC7A375D6}"/>
              </a:ext>
            </a:extLst>
          </p:cNvPr>
          <p:cNvSpPr>
            <a:spLocks noGrp="1"/>
          </p:cNvSpPr>
          <p:nvPr/>
        </p:nvSpPr>
        <p:spPr>
          <a:xfrm>
            <a:off x="1533525" y="4691063"/>
            <a:ext cx="64008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Working/source Drive separation</a:t>
            </a:r>
          </a:p>
        </p:txBody>
      </p:sp>
      <p:sp>
        <p:nvSpPr>
          <p:cNvPr id="35" name="appendix-cell-8-1">
            <a:extLst>
              <a:ext uri="{FF2B5EF4-FFF2-40B4-BE49-F238E27FC236}">
                <a16:creationId xmlns:a16="http://schemas.microsoft.com/office/drawing/2014/main" id="{1FCF02DE-F941-4FAF-B50D-582B8019A822}"/>
              </a:ext>
            </a:extLst>
          </p:cNvPr>
          <p:cNvSpPr>
            <a:spLocks noGrp="1"/>
          </p:cNvSpPr>
          <p:nvPr/>
        </p:nvSpPr>
        <p:spPr>
          <a:xfrm>
            <a:off x="1533525" y="5124450"/>
            <a:ext cx="64008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September draft / October target</a:t>
            </a:r>
          </a:p>
        </p:txBody>
      </p:sp>
      <p:sp>
        <p:nvSpPr>
          <p:cNvPr id="36" name="appendix-cell-9-1">
            <a:extLst>
              <a:ext uri="{FF2B5EF4-FFF2-40B4-BE49-F238E27FC236}">
                <a16:creationId xmlns:a16="http://schemas.microsoft.com/office/drawing/2014/main" id="{349163EB-3311-489E-A1E5-8DC6A631CC7C}"/>
              </a:ext>
            </a:extLst>
          </p:cNvPr>
          <p:cNvSpPr>
            <a:spLocks noGrp="1"/>
          </p:cNvSpPr>
          <p:nvPr/>
        </p:nvSpPr>
        <p:spPr>
          <a:xfrm>
            <a:off x="1533525" y="5557838"/>
            <a:ext cx="640080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Penina work reused with provenance</a:t>
            </a:r>
          </a:p>
        </p:txBody>
      </p:sp>
      <p:sp>
        <p:nvSpPr>
          <p:cNvPr id="37" name="appendix-col-line-2">
            <a:extLst>
              <a:ext uri="{FF2B5EF4-FFF2-40B4-BE49-F238E27FC236}">
                <a16:creationId xmlns:a16="http://schemas.microsoft.com/office/drawing/2014/main" id="{76E0F72B-26C4-407A-A6BF-BA838FC69BD1}"/>
              </a:ext>
            </a:extLst>
          </p:cNvPr>
          <p:cNvSpPr>
            <a:spLocks noGrp="1"/>
          </p:cNvSpPr>
          <p:nvPr/>
        </p:nvSpPr>
        <p:spPr>
          <a:xfrm>
            <a:off x="8020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38" name="appendix-cell-0-2">
            <a:extLst>
              <a:ext uri="{FF2B5EF4-FFF2-40B4-BE49-F238E27FC236}">
                <a16:creationId xmlns:a16="http://schemas.microsoft.com/office/drawing/2014/main" id="{5984C8E6-79E3-4236-A853-039E29A71F41}"/>
              </a:ext>
            </a:extLst>
          </p:cNvPr>
          <p:cNvSpPr>
            <a:spLocks noGrp="1"/>
          </p:cNvSpPr>
          <p:nvPr/>
        </p:nvSpPr>
        <p:spPr>
          <a:xfrm>
            <a:off x="8105775" y="1657350"/>
            <a:ext cx="9715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Slide</a:t>
            </a:r>
          </a:p>
        </p:txBody>
      </p:sp>
      <p:sp>
        <p:nvSpPr>
          <p:cNvPr id="39" name="appendix-cell-1-2">
            <a:extLst>
              <a:ext uri="{FF2B5EF4-FFF2-40B4-BE49-F238E27FC236}">
                <a16:creationId xmlns:a16="http://schemas.microsoft.com/office/drawing/2014/main" id="{303D761A-F073-428E-BB0B-15EFD16B30F0}"/>
              </a:ext>
            </a:extLst>
          </p:cNvPr>
          <p:cNvSpPr>
            <a:spLocks noGrp="1"/>
          </p:cNvSpPr>
          <p:nvPr/>
        </p:nvSpPr>
        <p:spPr>
          <a:xfrm>
            <a:off x="8105775" y="2090738"/>
            <a:ext cx="9715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0" name="appendix-cell-2-2">
            <a:extLst>
              <a:ext uri="{FF2B5EF4-FFF2-40B4-BE49-F238E27FC236}">
                <a16:creationId xmlns:a16="http://schemas.microsoft.com/office/drawing/2014/main" id="{7E499EFE-61C6-492E-B3E1-E2DF11BB6151}"/>
              </a:ext>
            </a:extLst>
          </p:cNvPr>
          <p:cNvSpPr>
            <a:spLocks noGrp="1"/>
          </p:cNvSpPr>
          <p:nvPr/>
        </p:nvSpPr>
        <p:spPr>
          <a:xfrm>
            <a:off x="8105775" y="2524125"/>
            <a:ext cx="9715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1" name="appendix-cell-3-2">
            <a:extLst>
              <a:ext uri="{FF2B5EF4-FFF2-40B4-BE49-F238E27FC236}">
                <a16:creationId xmlns:a16="http://schemas.microsoft.com/office/drawing/2014/main" id="{2CF03ED1-F672-4571-8069-C9D330A58A46}"/>
              </a:ext>
            </a:extLst>
          </p:cNvPr>
          <p:cNvSpPr>
            <a:spLocks noGrp="1"/>
          </p:cNvSpPr>
          <p:nvPr/>
        </p:nvSpPr>
        <p:spPr>
          <a:xfrm>
            <a:off x="8105775" y="2957513"/>
            <a:ext cx="9715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10,12</a:t>
            </a:r>
          </a:p>
        </p:txBody>
      </p:sp>
      <p:sp>
        <p:nvSpPr>
          <p:cNvPr id="42" name="appendix-cell-4-2">
            <a:extLst>
              <a:ext uri="{FF2B5EF4-FFF2-40B4-BE49-F238E27FC236}">
                <a16:creationId xmlns:a16="http://schemas.microsoft.com/office/drawing/2014/main" id="{0B0ED6BF-C230-4CB8-A786-3B0612276ADE}"/>
              </a:ext>
            </a:extLst>
          </p:cNvPr>
          <p:cNvSpPr>
            <a:spLocks noGrp="1"/>
          </p:cNvSpPr>
          <p:nvPr/>
        </p:nvSpPr>
        <p:spPr>
          <a:xfrm>
            <a:off x="8105775" y="3390900"/>
            <a:ext cx="9715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3,4,7,10</a:t>
            </a:r>
          </a:p>
        </p:txBody>
      </p:sp>
      <p:sp>
        <p:nvSpPr>
          <p:cNvPr id="43" name="appendix-cell-5-2">
            <a:extLst>
              <a:ext uri="{FF2B5EF4-FFF2-40B4-BE49-F238E27FC236}">
                <a16:creationId xmlns:a16="http://schemas.microsoft.com/office/drawing/2014/main" id="{533F8EB4-078B-495E-A36E-E01F014C2AE2}"/>
              </a:ext>
            </a:extLst>
          </p:cNvPr>
          <p:cNvSpPr>
            <a:spLocks noGrp="1"/>
          </p:cNvSpPr>
          <p:nvPr/>
        </p:nvSpPr>
        <p:spPr>
          <a:xfrm>
            <a:off x="8105775" y="3824288"/>
            <a:ext cx="9715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4" name="appendix-cell-6-2">
            <a:extLst>
              <a:ext uri="{FF2B5EF4-FFF2-40B4-BE49-F238E27FC236}">
                <a16:creationId xmlns:a16="http://schemas.microsoft.com/office/drawing/2014/main" id="{024A7C8C-2FA1-4A78-84D3-EA89B7890490}"/>
              </a:ext>
            </a:extLst>
          </p:cNvPr>
          <p:cNvSpPr>
            <a:spLocks noGrp="1"/>
          </p:cNvSpPr>
          <p:nvPr/>
        </p:nvSpPr>
        <p:spPr>
          <a:xfrm>
            <a:off x="8105775" y="4257675"/>
            <a:ext cx="9715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5" name="appendix-cell-7-2">
            <a:extLst>
              <a:ext uri="{FF2B5EF4-FFF2-40B4-BE49-F238E27FC236}">
                <a16:creationId xmlns:a16="http://schemas.microsoft.com/office/drawing/2014/main" id="{AF8B5232-3848-4E7E-A4D3-9141D63E85AB}"/>
              </a:ext>
            </a:extLst>
          </p:cNvPr>
          <p:cNvSpPr>
            <a:spLocks noGrp="1"/>
          </p:cNvSpPr>
          <p:nvPr/>
        </p:nvSpPr>
        <p:spPr>
          <a:xfrm>
            <a:off x="8105775" y="4691063"/>
            <a:ext cx="9715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6" name="appendix-cell-8-2">
            <a:extLst>
              <a:ext uri="{FF2B5EF4-FFF2-40B4-BE49-F238E27FC236}">
                <a16:creationId xmlns:a16="http://schemas.microsoft.com/office/drawing/2014/main" id="{027B7271-4682-4290-9F7B-DB3B6376907A}"/>
              </a:ext>
            </a:extLst>
          </p:cNvPr>
          <p:cNvSpPr>
            <a:spLocks noGrp="1"/>
          </p:cNvSpPr>
          <p:nvPr/>
        </p:nvSpPr>
        <p:spPr>
          <a:xfrm>
            <a:off x="8105775" y="5124450"/>
            <a:ext cx="9715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7" name="appendix-cell-9-2">
            <a:extLst>
              <a:ext uri="{FF2B5EF4-FFF2-40B4-BE49-F238E27FC236}">
                <a16:creationId xmlns:a16="http://schemas.microsoft.com/office/drawing/2014/main" id="{0DF563A4-D618-460F-8D3E-38D46799F7F3}"/>
              </a:ext>
            </a:extLst>
          </p:cNvPr>
          <p:cNvSpPr>
            <a:spLocks noGrp="1"/>
          </p:cNvSpPr>
          <p:nvPr/>
        </p:nvSpPr>
        <p:spPr>
          <a:xfrm>
            <a:off x="8105775" y="5557838"/>
            <a:ext cx="9715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10,A7</a:t>
            </a:r>
          </a:p>
        </p:txBody>
      </p:sp>
      <p:sp>
        <p:nvSpPr>
          <p:cNvPr id="48" name="appendix-col-line-3">
            <a:extLst>
              <a:ext uri="{FF2B5EF4-FFF2-40B4-BE49-F238E27FC236}">
                <a16:creationId xmlns:a16="http://schemas.microsoft.com/office/drawing/2014/main" id="{DA1B3B90-6FF0-497F-9DB2-D348B82E333A}"/>
              </a:ext>
            </a:extLst>
          </p:cNvPr>
          <p:cNvSpPr>
            <a:spLocks noGrp="1"/>
          </p:cNvSpPr>
          <p:nvPr/>
        </p:nvSpPr>
        <p:spPr>
          <a:xfrm>
            <a:off x="9163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49" name="appendix-cell-0-3">
            <a:extLst>
              <a:ext uri="{FF2B5EF4-FFF2-40B4-BE49-F238E27FC236}">
                <a16:creationId xmlns:a16="http://schemas.microsoft.com/office/drawing/2014/main" id="{3D7A6155-4CB4-45DE-971E-277610042851}"/>
              </a:ext>
            </a:extLst>
          </p:cNvPr>
          <p:cNvSpPr>
            <a:spLocks noGrp="1"/>
          </p:cNvSpPr>
          <p:nvPr/>
        </p:nvSpPr>
        <p:spPr>
          <a:xfrm>
            <a:off x="9248775" y="1657350"/>
            <a:ext cx="24574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Current state</a:t>
            </a:r>
          </a:p>
        </p:txBody>
      </p:sp>
      <p:sp>
        <p:nvSpPr>
          <p:cNvPr id="50" name="appendix-cell-1-3">
            <a:extLst>
              <a:ext uri="{FF2B5EF4-FFF2-40B4-BE49-F238E27FC236}">
                <a16:creationId xmlns:a16="http://schemas.microsoft.com/office/drawing/2014/main" id="{1C349C38-8680-4150-9136-35729D71C9E2}"/>
              </a:ext>
            </a:extLst>
          </p:cNvPr>
          <p:cNvSpPr>
            <a:spLocks noGrp="1"/>
          </p:cNvSpPr>
          <p:nvPr/>
        </p:nvSpPr>
        <p:spPr>
          <a:xfrm>
            <a:off x="9248775" y="2090738"/>
            <a:ext cx="24574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51" name="appendix-cell-2-3">
            <a:extLst>
              <a:ext uri="{FF2B5EF4-FFF2-40B4-BE49-F238E27FC236}">
                <a16:creationId xmlns:a16="http://schemas.microsoft.com/office/drawing/2014/main" id="{A996CB1E-E789-4903-8117-4AB735FA36F8}"/>
              </a:ext>
            </a:extLst>
          </p:cNvPr>
          <p:cNvSpPr>
            <a:spLocks noGrp="1"/>
          </p:cNvSpPr>
          <p:nvPr/>
        </p:nvSpPr>
        <p:spPr>
          <a:xfrm>
            <a:off x="9248775" y="2524125"/>
            <a:ext cx="24574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Blocked</a:t>
            </a:r>
          </a:p>
        </p:txBody>
      </p:sp>
      <p:sp>
        <p:nvSpPr>
          <p:cNvPr id="52" name="appendix-cell-3-3">
            <a:extLst>
              <a:ext uri="{FF2B5EF4-FFF2-40B4-BE49-F238E27FC236}">
                <a16:creationId xmlns:a16="http://schemas.microsoft.com/office/drawing/2014/main" id="{8A56EAC6-D830-46AA-ABF5-65A75EFC2342}"/>
              </a:ext>
            </a:extLst>
          </p:cNvPr>
          <p:cNvSpPr>
            <a:spLocks noGrp="1"/>
          </p:cNvSpPr>
          <p:nvPr/>
        </p:nvSpPr>
        <p:spPr>
          <a:xfrm>
            <a:off x="9248775" y="2957513"/>
            <a:ext cx="24574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53" name="appendix-cell-4-3">
            <a:extLst>
              <a:ext uri="{FF2B5EF4-FFF2-40B4-BE49-F238E27FC236}">
                <a16:creationId xmlns:a16="http://schemas.microsoft.com/office/drawing/2014/main" id="{DF3FB4D3-026A-4E0D-AD45-845EAAFE234E}"/>
              </a:ext>
            </a:extLst>
          </p:cNvPr>
          <p:cNvSpPr>
            <a:spLocks noGrp="1"/>
          </p:cNvSpPr>
          <p:nvPr/>
        </p:nvSpPr>
        <p:spPr>
          <a:xfrm>
            <a:off x="9248775" y="3390900"/>
            <a:ext cx="24574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54" name="appendix-cell-5-3">
            <a:extLst>
              <a:ext uri="{FF2B5EF4-FFF2-40B4-BE49-F238E27FC236}">
                <a16:creationId xmlns:a16="http://schemas.microsoft.com/office/drawing/2014/main" id="{355D411D-F499-4293-8B63-17B19AC8C897}"/>
              </a:ext>
            </a:extLst>
          </p:cNvPr>
          <p:cNvSpPr>
            <a:spLocks noGrp="1"/>
          </p:cNvSpPr>
          <p:nvPr/>
        </p:nvSpPr>
        <p:spPr>
          <a:xfrm>
            <a:off x="9248775" y="3824288"/>
            <a:ext cx="24574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55" name="appendix-cell-6-3">
            <a:extLst>
              <a:ext uri="{FF2B5EF4-FFF2-40B4-BE49-F238E27FC236}">
                <a16:creationId xmlns:a16="http://schemas.microsoft.com/office/drawing/2014/main" id="{CAD2944A-0495-473A-A24E-A4002156394E}"/>
              </a:ext>
            </a:extLst>
          </p:cNvPr>
          <p:cNvSpPr>
            <a:spLocks noGrp="1"/>
          </p:cNvSpPr>
          <p:nvPr/>
        </p:nvSpPr>
        <p:spPr>
          <a:xfrm>
            <a:off x="9248775" y="4257675"/>
            <a:ext cx="24574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56" name="appendix-cell-7-3">
            <a:extLst>
              <a:ext uri="{FF2B5EF4-FFF2-40B4-BE49-F238E27FC236}">
                <a16:creationId xmlns:a16="http://schemas.microsoft.com/office/drawing/2014/main" id="{F63FF7A5-CEE4-4698-8D40-2CB06171FD1F}"/>
              </a:ext>
            </a:extLst>
          </p:cNvPr>
          <p:cNvSpPr>
            <a:spLocks noGrp="1"/>
          </p:cNvSpPr>
          <p:nvPr/>
        </p:nvSpPr>
        <p:spPr>
          <a:xfrm>
            <a:off x="9248775" y="4691063"/>
            <a:ext cx="24574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57" name="appendix-cell-8-3">
            <a:extLst>
              <a:ext uri="{FF2B5EF4-FFF2-40B4-BE49-F238E27FC236}">
                <a16:creationId xmlns:a16="http://schemas.microsoft.com/office/drawing/2014/main" id="{BC70ACC3-4B4C-4535-BA98-AA8FE0A3BC9D}"/>
              </a:ext>
            </a:extLst>
          </p:cNvPr>
          <p:cNvSpPr>
            <a:spLocks noGrp="1"/>
          </p:cNvSpPr>
          <p:nvPr/>
        </p:nvSpPr>
        <p:spPr>
          <a:xfrm>
            <a:off x="9248775" y="5124450"/>
            <a:ext cx="24574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58" name="appendix-cell-9-3">
            <a:extLst>
              <a:ext uri="{FF2B5EF4-FFF2-40B4-BE49-F238E27FC236}">
                <a16:creationId xmlns:a16="http://schemas.microsoft.com/office/drawing/2014/main" id="{4884F45A-088C-490F-83C6-EBE97DE0DC20}"/>
              </a:ext>
            </a:extLst>
          </p:cNvPr>
          <p:cNvSpPr>
            <a:spLocks noGrp="1"/>
          </p:cNvSpPr>
          <p:nvPr/>
        </p:nvSpPr>
        <p:spPr>
          <a:xfrm>
            <a:off x="9248775" y="5557838"/>
            <a:ext cx="2457450" cy="35718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59" name="appendix-col-line-4">
            <a:extLst>
              <a:ext uri="{FF2B5EF4-FFF2-40B4-BE49-F238E27FC236}">
                <a16:creationId xmlns:a16="http://schemas.microsoft.com/office/drawing/2014/main" id="{BB241BCA-F61A-424B-806B-9858E24F24F7}"/>
              </a:ext>
            </a:extLst>
          </p:cNvPr>
          <p:cNvSpPr>
            <a:spLocks noGrp="1"/>
          </p:cNvSpPr>
          <p:nvPr/>
        </p:nvSpPr>
        <p:spPr>
          <a:xfrm>
            <a:off x="117919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62" name="appendix-title">
            <a:extLst>
              <a:ext uri="{FF2B5EF4-FFF2-40B4-BE49-F238E27FC236}">
                <a16:creationId xmlns:a16="http://schemas.microsoft.com/office/drawing/2014/main" id="{6E1AE52E-F1D6-5337-2127-21E2DD0B052E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11410950" cy="609600"/>
          </a:xfrm>
          <a:prstGeom prst="rect">
            <a:avLst/>
          </a:prstGeom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27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US" sz="2700" b="1">
                <a:solidFill>
                  <a:srgbClr val="000000"/>
                </a:solidFill>
                <a:latin typeface="Arial" panose="020B0604020202020204" pitchFamily="34" charset="0"/>
                <a:ea typeface="Arial"/>
                <a:cs typeface="Arial"/>
              </a:rPr>
              <a:t>Requirements R-11–R-19 · evidence appendix</a:t>
            </a:r>
            <a:endParaRPr sz="2700" b="1">
              <a:solidFill>
                <a:srgbClr val="000000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957527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appendix-title">
            <a:extLst>
              <a:ext uri="{FF2B5EF4-FFF2-40B4-BE49-F238E27FC236}">
                <a16:creationId xmlns:a16="http://schemas.microsoft.com/office/drawing/2014/main" id="{EFE939C9-5F6A-48FA-BAD8-05A0A3EDF90D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11391900" cy="609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27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Appendix · Actions A-01–A-08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50739733-7461-4945-9CFF-2764B3FA4FC6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A3</a:t>
            </a:r>
          </a:p>
        </p:txBody>
      </p:sp>
      <p:sp>
        <p:nvSpPr>
          <p:cNvPr id="3" name="appendix-subtitle">
            <a:extLst>
              <a:ext uri="{FF2B5EF4-FFF2-40B4-BE49-F238E27FC236}">
                <a16:creationId xmlns:a16="http://schemas.microsoft.com/office/drawing/2014/main" id="{06942110-4025-470A-8566-49B3E8A6A355}"/>
              </a:ext>
            </a:extLst>
          </p:cNvPr>
          <p:cNvSpPr>
            <a:spLocks noGrp="1"/>
          </p:cNvSpPr>
          <p:nvPr/>
        </p:nvSpPr>
        <p:spPr>
          <a:xfrm>
            <a:off x="400050" y="1000125"/>
            <a:ext cx="11334750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Two actions are narrowly verified; all other actions retain their current gate.</a:t>
            </a:r>
          </a:p>
        </p:txBody>
      </p:sp>
      <p:sp>
        <p:nvSpPr>
          <p:cNvPr id="4" name="appendix-row-line-0">
            <a:extLst>
              <a:ext uri="{FF2B5EF4-FFF2-40B4-BE49-F238E27FC236}">
                <a16:creationId xmlns:a16="http://schemas.microsoft.com/office/drawing/2014/main" id="{9B2C19D2-8774-4D37-AA00-552BCD93DFC7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5" name="appendix-row-line-1">
            <a:extLst>
              <a:ext uri="{FF2B5EF4-FFF2-40B4-BE49-F238E27FC236}">
                <a16:creationId xmlns:a16="http://schemas.microsoft.com/office/drawing/2014/main" id="{A595612E-EF32-4D1F-84C5-545C9F0EC2F8}"/>
              </a:ext>
            </a:extLst>
          </p:cNvPr>
          <p:cNvSpPr>
            <a:spLocks noGrp="1"/>
          </p:cNvSpPr>
          <p:nvPr/>
        </p:nvSpPr>
        <p:spPr>
          <a:xfrm>
            <a:off x="400050" y="2100792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6" name="appendix-row-line-2">
            <a:extLst>
              <a:ext uri="{FF2B5EF4-FFF2-40B4-BE49-F238E27FC236}">
                <a16:creationId xmlns:a16="http://schemas.microsoft.com/office/drawing/2014/main" id="{BAF45918-B55F-4864-B5DC-C1005EB31257}"/>
              </a:ext>
            </a:extLst>
          </p:cNvPr>
          <p:cNvSpPr>
            <a:spLocks noGrp="1"/>
          </p:cNvSpPr>
          <p:nvPr/>
        </p:nvSpPr>
        <p:spPr>
          <a:xfrm>
            <a:off x="400050" y="2582333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7" name="appendix-row-line-3">
            <a:extLst>
              <a:ext uri="{FF2B5EF4-FFF2-40B4-BE49-F238E27FC236}">
                <a16:creationId xmlns:a16="http://schemas.microsoft.com/office/drawing/2014/main" id="{46384792-CDC1-4F08-A2C9-70E2B77A4A1E}"/>
              </a:ext>
            </a:extLst>
          </p:cNvPr>
          <p:cNvSpPr>
            <a:spLocks noGrp="1"/>
          </p:cNvSpPr>
          <p:nvPr/>
        </p:nvSpPr>
        <p:spPr>
          <a:xfrm>
            <a:off x="400050" y="306387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8" name="appendix-row-line-4">
            <a:extLst>
              <a:ext uri="{FF2B5EF4-FFF2-40B4-BE49-F238E27FC236}">
                <a16:creationId xmlns:a16="http://schemas.microsoft.com/office/drawing/2014/main" id="{A26C4F09-4EFA-4D54-8FF4-DBD401727E0D}"/>
              </a:ext>
            </a:extLst>
          </p:cNvPr>
          <p:cNvSpPr>
            <a:spLocks noGrp="1"/>
          </p:cNvSpPr>
          <p:nvPr/>
        </p:nvSpPr>
        <p:spPr>
          <a:xfrm>
            <a:off x="400050" y="3545417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9" name="appendix-row-line-5">
            <a:extLst>
              <a:ext uri="{FF2B5EF4-FFF2-40B4-BE49-F238E27FC236}">
                <a16:creationId xmlns:a16="http://schemas.microsoft.com/office/drawing/2014/main" id="{9F5316DF-7177-4036-837E-098D45B7120C}"/>
              </a:ext>
            </a:extLst>
          </p:cNvPr>
          <p:cNvSpPr>
            <a:spLocks noGrp="1"/>
          </p:cNvSpPr>
          <p:nvPr/>
        </p:nvSpPr>
        <p:spPr>
          <a:xfrm>
            <a:off x="400050" y="4026958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0" name="appendix-row-line-6">
            <a:extLst>
              <a:ext uri="{FF2B5EF4-FFF2-40B4-BE49-F238E27FC236}">
                <a16:creationId xmlns:a16="http://schemas.microsoft.com/office/drawing/2014/main" id="{6BAAF080-6CD6-4647-A76C-8A833C6AA5A7}"/>
              </a:ext>
            </a:extLst>
          </p:cNvPr>
          <p:cNvSpPr>
            <a:spLocks noGrp="1"/>
          </p:cNvSpPr>
          <p:nvPr/>
        </p:nvSpPr>
        <p:spPr>
          <a:xfrm>
            <a:off x="400050" y="450850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1" name="appendix-row-line-7">
            <a:extLst>
              <a:ext uri="{FF2B5EF4-FFF2-40B4-BE49-F238E27FC236}">
                <a16:creationId xmlns:a16="http://schemas.microsoft.com/office/drawing/2014/main" id="{4E844F4F-5265-4FDA-ACD5-0FFD1A48680E}"/>
              </a:ext>
            </a:extLst>
          </p:cNvPr>
          <p:cNvSpPr>
            <a:spLocks noGrp="1"/>
          </p:cNvSpPr>
          <p:nvPr/>
        </p:nvSpPr>
        <p:spPr>
          <a:xfrm>
            <a:off x="400050" y="4990042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2" name="appendix-row-line-8">
            <a:extLst>
              <a:ext uri="{FF2B5EF4-FFF2-40B4-BE49-F238E27FC236}">
                <a16:creationId xmlns:a16="http://schemas.microsoft.com/office/drawing/2014/main" id="{CC324E61-505D-4F1F-BE41-FE1F5331049D}"/>
              </a:ext>
            </a:extLst>
          </p:cNvPr>
          <p:cNvSpPr>
            <a:spLocks noGrp="1"/>
          </p:cNvSpPr>
          <p:nvPr/>
        </p:nvSpPr>
        <p:spPr>
          <a:xfrm>
            <a:off x="400050" y="5471583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3" name="appendix-row-line-9">
            <a:extLst>
              <a:ext uri="{FF2B5EF4-FFF2-40B4-BE49-F238E27FC236}">
                <a16:creationId xmlns:a16="http://schemas.microsoft.com/office/drawing/2014/main" id="{2A65C90C-253B-4133-9482-6D60CF70FCB0}"/>
              </a:ext>
            </a:extLst>
          </p:cNvPr>
          <p:cNvSpPr>
            <a:spLocks noGrp="1"/>
          </p:cNvSpPr>
          <p:nvPr/>
        </p:nvSpPr>
        <p:spPr>
          <a:xfrm>
            <a:off x="400050" y="595312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4" name="appendix-col-line-0">
            <a:extLst>
              <a:ext uri="{FF2B5EF4-FFF2-40B4-BE49-F238E27FC236}">
                <a16:creationId xmlns:a16="http://schemas.microsoft.com/office/drawing/2014/main" id="{8700098A-92CE-4A42-ABCC-4967B99659A0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5" name="appendix-cell-0-0">
            <a:extLst>
              <a:ext uri="{FF2B5EF4-FFF2-40B4-BE49-F238E27FC236}">
                <a16:creationId xmlns:a16="http://schemas.microsoft.com/office/drawing/2014/main" id="{B8B24C59-211F-44A6-8F42-C6AC6A89A559}"/>
              </a:ext>
            </a:extLst>
          </p:cNvPr>
          <p:cNvSpPr>
            <a:spLocks noGrp="1"/>
          </p:cNvSpPr>
          <p:nvPr/>
        </p:nvSpPr>
        <p:spPr>
          <a:xfrm>
            <a:off x="485775" y="1657350"/>
            <a:ext cx="8763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ID</a:t>
            </a:r>
          </a:p>
        </p:txBody>
      </p:sp>
      <p:sp>
        <p:nvSpPr>
          <p:cNvPr id="16" name="appendix-cell-1-0">
            <a:extLst>
              <a:ext uri="{FF2B5EF4-FFF2-40B4-BE49-F238E27FC236}">
                <a16:creationId xmlns:a16="http://schemas.microsoft.com/office/drawing/2014/main" id="{5B675900-196F-41B1-91AF-4AEF76FB7BE5}"/>
              </a:ext>
            </a:extLst>
          </p:cNvPr>
          <p:cNvSpPr>
            <a:spLocks noGrp="1"/>
          </p:cNvSpPr>
          <p:nvPr/>
        </p:nvSpPr>
        <p:spPr>
          <a:xfrm>
            <a:off x="485775" y="2138892"/>
            <a:ext cx="8763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A-01</a:t>
            </a:r>
          </a:p>
        </p:txBody>
      </p:sp>
      <p:sp>
        <p:nvSpPr>
          <p:cNvPr id="17" name="appendix-cell-2-0">
            <a:extLst>
              <a:ext uri="{FF2B5EF4-FFF2-40B4-BE49-F238E27FC236}">
                <a16:creationId xmlns:a16="http://schemas.microsoft.com/office/drawing/2014/main" id="{3B2AA12F-CBE2-4F62-97FF-14A7F76DA51C}"/>
              </a:ext>
            </a:extLst>
          </p:cNvPr>
          <p:cNvSpPr>
            <a:spLocks noGrp="1"/>
          </p:cNvSpPr>
          <p:nvPr/>
        </p:nvSpPr>
        <p:spPr>
          <a:xfrm>
            <a:off x="485775" y="2620433"/>
            <a:ext cx="8763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A-02</a:t>
            </a:r>
          </a:p>
        </p:txBody>
      </p:sp>
      <p:sp>
        <p:nvSpPr>
          <p:cNvPr id="18" name="appendix-cell-3-0">
            <a:extLst>
              <a:ext uri="{FF2B5EF4-FFF2-40B4-BE49-F238E27FC236}">
                <a16:creationId xmlns:a16="http://schemas.microsoft.com/office/drawing/2014/main" id="{127443E1-C857-4460-99E9-ADB5B42AA5F0}"/>
              </a:ext>
            </a:extLst>
          </p:cNvPr>
          <p:cNvSpPr>
            <a:spLocks noGrp="1"/>
          </p:cNvSpPr>
          <p:nvPr/>
        </p:nvSpPr>
        <p:spPr>
          <a:xfrm>
            <a:off x="485775" y="3101975"/>
            <a:ext cx="8763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A-03</a:t>
            </a:r>
          </a:p>
        </p:txBody>
      </p:sp>
      <p:sp>
        <p:nvSpPr>
          <p:cNvPr id="19" name="appendix-cell-4-0">
            <a:extLst>
              <a:ext uri="{FF2B5EF4-FFF2-40B4-BE49-F238E27FC236}">
                <a16:creationId xmlns:a16="http://schemas.microsoft.com/office/drawing/2014/main" id="{F703082F-50DE-4116-96AB-9FF4FF3F30DF}"/>
              </a:ext>
            </a:extLst>
          </p:cNvPr>
          <p:cNvSpPr>
            <a:spLocks noGrp="1"/>
          </p:cNvSpPr>
          <p:nvPr/>
        </p:nvSpPr>
        <p:spPr>
          <a:xfrm>
            <a:off x="485775" y="3583517"/>
            <a:ext cx="8763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A-04</a:t>
            </a:r>
          </a:p>
        </p:txBody>
      </p:sp>
      <p:sp>
        <p:nvSpPr>
          <p:cNvPr id="20" name="appendix-cell-5-0">
            <a:extLst>
              <a:ext uri="{FF2B5EF4-FFF2-40B4-BE49-F238E27FC236}">
                <a16:creationId xmlns:a16="http://schemas.microsoft.com/office/drawing/2014/main" id="{52A2C1A7-B67A-4D5F-BDF0-04508081DF15}"/>
              </a:ext>
            </a:extLst>
          </p:cNvPr>
          <p:cNvSpPr>
            <a:spLocks noGrp="1"/>
          </p:cNvSpPr>
          <p:nvPr/>
        </p:nvSpPr>
        <p:spPr>
          <a:xfrm>
            <a:off x="485775" y="4065058"/>
            <a:ext cx="8763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A-05</a:t>
            </a:r>
          </a:p>
        </p:txBody>
      </p:sp>
      <p:sp>
        <p:nvSpPr>
          <p:cNvPr id="21" name="appendix-cell-6-0">
            <a:extLst>
              <a:ext uri="{FF2B5EF4-FFF2-40B4-BE49-F238E27FC236}">
                <a16:creationId xmlns:a16="http://schemas.microsoft.com/office/drawing/2014/main" id="{48EEEF86-8E3D-4FC6-A83A-FCE3471880D7}"/>
              </a:ext>
            </a:extLst>
          </p:cNvPr>
          <p:cNvSpPr>
            <a:spLocks noGrp="1"/>
          </p:cNvSpPr>
          <p:nvPr/>
        </p:nvSpPr>
        <p:spPr>
          <a:xfrm>
            <a:off x="485775" y="4546600"/>
            <a:ext cx="8763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A-06</a:t>
            </a:r>
          </a:p>
        </p:txBody>
      </p:sp>
      <p:sp>
        <p:nvSpPr>
          <p:cNvPr id="22" name="appendix-cell-7-0">
            <a:extLst>
              <a:ext uri="{FF2B5EF4-FFF2-40B4-BE49-F238E27FC236}">
                <a16:creationId xmlns:a16="http://schemas.microsoft.com/office/drawing/2014/main" id="{00FBC35A-AB0F-483A-8AAC-9BF97FC871F8}"/>
              </a:ext>
            </a:extLst>
          </p:cNvPr>
          <p:cNvSpPr>
            <a:spLocks noGrp="1"/>
          </p:cNvSpPr>
          <p:nvPr/>
        </p:nvSpPr>
        <p:spPr>
          <a:xfrm>
            <a:off x="485775" y="5028142"/>
            <a:ext cx="8763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A-07</a:t>
            </a:r>
          </a:p>
        </p:txBody>
      </p:sp>
      <p:sp>
        <p:nvSpPr>
          <p:cNvPr id="23" name="appendix-cell-8-0">
            <a:extLst>
              <a:ext uri="{FF2B5EF4-FFF2-40B4-BE49-F238E27FC236}">
                <a16:creationId xmlns:a16="http://schemas.microsoft.com/office/drawing/2014/main" id="{9D9ACCA8-60BF-4289-BE04-386AF8BF6D19}"/>
              </a:ext>
            </a:extLst>
          </p:cNvPr>
          <p:cNvSpPr>
            <a:spLocks noGrp="1"/>
          </p:cNvSpPr>
          <p:nvPr/>
        </p:nvSpPr>
        <p:spPr>
          <a:xfrm>
            <a:off x="485775" y="5509683"/>
            <a:ext cx="8763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A-08</a:t>
            </a:r>
          </a:p>
        </p:txBody>
      </p:sp>
      <p:sp>
        <p:nvSpPr>
          <p:cNvPr id="24" name="appendix-col-line-1">
            <a:extLst>
              <a:ext uri="{FF2B5EF4-FFF2-40B4-BE49-F238E27FC236}">
                <a16:creationId xmlns:a16="http://schemas.microsoft.com/office/drawing/2014/main" id="{4B041136-6903-4315-90C7-C2A2264318C5}"/>
              </a:ext>
            </a:extLst>
          </p:cNvPr>
          <p:cNvSpPr>
            <a:spLocks noGrp="1"/>
          </p:cNvSpPr>
          <p:nvPr/>
        </p:nvSpPr>
        <p:spPr>
          <a:xfrm>
            <a:off x="144780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25" name="appendix-cell-0-1">
            <a:extLst>
              <a:ext uri="{FF2B5EF4-FFF2-40B4-BE49-F238E27FC236}">
                <a16:creationId xmlns:a16="http://schemas.microsoft.com/office/drawing/2014/main" id="{427C8100-0724-477B-9020-5A3B3C299394}"/>
              </a:ext>
            </a:extLst>
          </p:cNvPr>
          <p:cNvSpPr>
            <a:spLocks noGrp="1"/>
          </p:cNvSpPr>
          <p:nvPr/>
        </p:nvSpPr>
        <p:spPr>
          <a:xfrm>
            <a:off x="1533525" y="1657350"/>
            <a:ext cx="64008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Action</a:t>
            </a:r>
          </a:p>
        </p:txBody>
      </p:sp>
      <p:sp>
        <p:nvSpPr>
          <p:cNvPr id="26" name="appendix-cell-1-1">
            <a:extLst>
              <a:ext uri="{FF2B5EF4-FFF2-40B4-BE49-F238E27FC236}">
                <a16:creationId xmlns:a16="http://schemas.microsoft.com/office/drawing/2014/main" id="{130C8543-1B48-422B-A585-331EAA483449}"/>
              </a:ext>
            </a:extLst>
          </p:cNvPr>
          <p:cNvSpPr>
            <a:spLocks noGrp="1"/>
          </p:cNvSpPr>
          <p:nvPr/>
        </p:nvSpPr>
        <p:spPr>
          <a:xfrm>
            <a:off x="1533525" y="2138892"/>
            <a:ext cx="64008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Draft RQs and study map</a:t>
            </a:r>
          </a:p>
        </p:txBody>
      </p:sp>
      <p:sp>
        <p:nvSpPr>
          <p:cNvPr id="27" name="appendix-cell-2-1">
            <a:extLst>
              <a:ext uri="{FF2B5EF4-FFF2-40B4-BE49-F238E27FC236}">
                <a16:creationId xmlns:a16="http://schemas.microsoft.com/office/drawing/2014/main" id="{46ABA0BC-08FF-43D6-8216-D2CFF71085B7}"/>
              </a:ext>
            </a:extLst>
          </p:cNvPr>
          <p:cNvSpPr>
            <a:spLocks noGrp="1"/>
          </p:cNvSpPr>
          <p:nvPr/>
        </p:nvSpPr>
        <p:spPr>
          <a:xfrm>
            <a:off x="1533525" y="2620433"/>
            <a:ext cx="64008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Begin literature review</a:t>
            </a:r>
          </a:p>
        </p:txBody>
      </p:sp>
      <p:sp>
        <p:nvSpPr>
          <p:cNvPr id="28" name="appendix-cell-3-1">
            <a:extLst>
              <a:ext uri="{FF2B5EF4-FFF2-40B4-BE49-F238E27FC236}">
                <a16:creationId xmlns:a16="http://schemas.microsoft.com/office/drawing/2014/main" id="{9AE82885-6EC0-42CB-A36B-D5044D95E69B}"/>
              </a:ext>
            </a:extLst>
          </p:cNvPr>
          <p:cNvSpPr>
            <a:spLocks noGrp="1"/>
          </p:cNvSpPr>
          <p:nvPr/>
        </p:nvSpPr>
        <p:spPr>
          <a:xfrm>
            <a:off x="1533525" y="3101975"/>
            <a:ext cx="64008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Build and seed literature matrix</a:t>
            </a:r>
          </a:p>
        </p:txBody>
      </p:sp>
      <p:sp>
        <p:nvSpPr>
          <p:cNvPr id="29" name="appendix-cell-4-1">
            <a:extLst>
              <a:ext uri="{FF2B5EF4-FFF2-40B4-BE49-F238E27FC236}">
                <a16:creationId xmlns:a16="http://schemas.microsoft.com/office/drawing/2014/main" id="{D4EAF703-33CE-4746-B06B-39221E7FCE21}"/>
              </a:ext>
            </a:extLst>
          </p:cNvPr>
          <p:cNvSpPr>
            <a:spLocks noGrp="1"/>
          </p:cNvSpPr>
          <p:nvPr/>
        </p:nvSpPr>
        <p:spPr>
          <a:xfrm>
            <a:off x="1533525" y="3583517"/>
            <a:ext cx="64008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Create working area and confirm access</a:t>
            </a:r>
          </a:p>
        </p:txBody>
      </p:sp>
      <p:sp>
        <p:nvSpPr>
          <p:cNvPr id="30" name="appendix-cell-5-1">
            <a:extLst>
              <a:ext uri="{FF2B5EF4-FFF2-40B4-BE49-F238E27FC236}">
                <a16:creationId xmlns:a16="http://schemas.microsoft.com/office/drawing/2014/main" id="{FF8C7E42-C32E-4B24-91D2-82CCDB97CD4C}"/>
              </a:ext>
            </a:extLst>
          </p:cNvPr>
          <p:cNvSpPr>
            <a:spLocks noGrp="1"/>
          </p:cNvSpPr>
          <p:nvPr/>
        </p:nvSpPr>
        <p:spPr>
          <a:xfrm>
            <a:off x="1533525" y="4065058"/>
            <a:ext cx="64008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Share source resources viewer-only</a:t>
            </a:r>
          </a:p>
        </p:txBody>
      </p:sp>
      <p:sp>
        <p:nvSpPr>
          <p:cNvPr id="31" name="appendix-cell-6-1">
            <a:extLst>
              <a:ext uri="{FF2B5EF4-FFF2-40B4-BE49-F238E27FC236}">
                <a16:creationId xmlns:a16="http://schemas.microsoft.com/office/drawing/2014/main" id="{CF55C679-CAB8-4833-BDF8-9A6482C039FA}"/>
              </a:ext>
            </a:extLst>
          </p:cNvPr>
          <p:cNvSpPr>
            <a:spLocks noGrp="1"/>
          </p:cNvSpPr>
          <p:nvPr/>
        </p:nvSpPr>
        <p:spPr>
          <a:xfrm>
            <a:off x="1533525" y="4546600"/>
            <a:ext cx="64008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Finalize Wednesday invitation</a:t>
            </a:r>
          </a:p>
        </p:txBody>
      </p:sp>
      <p:sp>
        <p:nvSpPr>
          <p:cNvPr id="32" name="appendix-cell-7-1">
            <a:extLst>
              <a:ext uri="{FF2B5EF4-FFF2-40B4-BE49-F238E27FC236}">
                <a16:creationId xmlns:a16="http://schemas.microsoft.com/office/drawing/2014/main" id="{0279C906-F17E-496C-A1DC-326DA2A4D333}"/>
              </a:ext>
            </a:extLst>
          </p:cNvPr>
          <p:cNvSpPr>
            <a:spLocks noGrp="1"/>
          </p:cNvSpPr>
          <p:nvPr/>
        </p:nvSpPr>
        <p:spPr>
          <a:xfrm>
            <a:off x="1533525" y="5028142"/>
            <a:ext cx="64008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Run one-task weekly cycle</a:t>
            </a:r>
          </a:p>
        </p:txBody>
      </p:sp>
      <p:sp>
        <p:nvSpPr>
          <p:cNvPr id="33" name="appendix-cell-8-1">
            <a:extLst>
              <a:ext uri="{FF2B5EF4-FFF2-40B4-BE49-F238E27FC236}">
                <a16:creationId xmlns:a16="http://schemas.microsoft.com/office/drawing/2014/main" id="{507EACA6-EF32-40F4-96A2-45FD27150BCD}"/>
              </a:ext>
            </a:extLst>
          </p:cNvPr>
          <p:cNvSpPr>
            <a:spLocks noGrp="1"/>
          </p:cNvSpPr>
          <p:nvPr/>
        </p:nvSpPr>
        <p:spPr>
          <a:xfrm>
            <a:off x="1533525" y="5509683"/>
            <a:ext cx="640080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Bounded medical-resource inspection</a:t>
            </a:r>
          </a:p>
        </p:txBody>
      </p:sp>
      <p:sp>
        <p:nvSpPr>
          <p:cNvPr id="34" name="appendix-col-line-2">
            <a:extLst>
              <a:ext uri="{FF2B5EF4-FFF2-40B4-BE49-F238E27FC236}">
                <a16:creationId xmlns:a16="http://schemas.microsoft.com/office/drawing/2014/main" id="{F2DB9D75-7344-4EC8-AACF-82A01B2EBB01}"/>
              </a:ext>
            </a:extLst>
          </p:cNvPr>
          <p:cNvSpPr>
            <a:spLocks noGrp="1"/>
          </p:cNvSpPr>
          <p:nvPr/>
        </p:nvSpPr>
        <p:spPr>
          <a:xfrm>
            <a:off x="8020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35" name="appendix-cell-0-2">
            <a:extLst>
              <a:ext uri="{FF2B5EF4-FFF2-40B4-BE49-F238E27FC236}">
                <a16:creationId xmlns:a16="http://schemas.microsoft.com/office/drawing/2014/main" id="{592B17DC-0EF6-47EE-B64D-DCCA6FE43826}"/>
              </a:ext>
            </a:extLst>
          </p:cNvPr>
          <p:cNvSpPr>
            <a:spLocks noGrp="1"/>
          </p:cNvSpPr>
          <p:nvPr/>
        </p:nvSpPr>
        <p:spPr>
          <a:xfrm>
            <a:off x="8105775" y="1657350"/>
            <a:ext cx="9715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Slide</a:t>
            </a:r>
          </a:p>
        </p:txBody>
      </p:sp>
      <p:sp>
        <p:nvSpPr>
          <p:cNvPr id="36" name="appendix-cell-1-2">
            <a:extLst>
              <a:ext uri="{FF2B5EF4-FFF2-40B4-BE49-F238E27FC236}">
                <a16:creationId xmlns:a16="http://schemas.microsoft.com/office/drawing/2014/main" id="{05217B6B-CBB2-44B8-B355-50BCA5B431BC}"/>
              </a:ext>
            </a:extLst>
          </p:cNvPr>
          <p:cNvSpPr>
            <a:spLocks noGrp="1"/>
          </p:cNvSpPr>
          <p:nvPr/>
        </p:nvSpPr>
        <p:spPr>
          <a:xfrm>
            <a:off x="8105775" y="2138892"/>
            <a:ext cx="9715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3,4</a:t>
            </a:r>
          </a:p>
        </p:txBody>
      </p:sp>
      <p:sp>
        <p:nvSpPr>
          <p:cNvPr id="37" name="appendix-cell-2-2">
            <a:extLst>
              <a:ext uri="{FF2B5EF4-FFF2-40B4-BE49-F238E27FC236}">
                <a16:creationId xmlns:a16="http://schemas.microsoft.com/office/drawing/2014/main" id="{42856341-40CC-4A91-B065-AD2526A2A315}"/>
              </a:ext>
            </a:extLst>
          </p:cNvPr>
          <p:cNvSpPr>
            <a:spLocks noGrp="1"/>
          </p:cNvSpPr>
          <p:nvPr/>
        </p:nvSpPr>
        <p:spPr>
          <a:xfrm>
            <a:off x="8105775" y="2620433"/>
            <a:ext cx="9715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8" name="appendix-cell-3-2">
            <a:extLst>
              <a:ext uri="{FF2B5EF4-FFF2-40B4-BE49-F238E27FC236}">
                <a16:creationId xmlns:a16="http://schemas.microsoft.com/office/drawing/2014/main" id="{95ED308C-CF53-4494-AF23-F315BECC3315}"/>
              </a:ext>
            </a:extLst>
          </p:cNvPr>
          <p:cNvSpPr>
            <a:spLocks noGrp="1"/>
          </p:cNvSpPr>
          <p:nvPr/>
        </p:nvSpPr>
        <p:spPr>
          <a:xfrm>
            <a:off x="8105775" y="3101975"/>
            <a:ext cx="9715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2,7</a:t>
            </a:r>
          </a:p>
        </p:txBody>
      </p:sp>
      <p:sp>
        <p:nvSpPr>
          <p:cNvPr id="39" name="appendix-cell-4-2">
            <a:extLst>
              <a:ext uri="{FF2B5EF4-FFF2-40B4-BE49-F238E27FC236}">
                <a16:creationId xmlns:a16="http://schemas.microsoft.com/office/drawing/2014/main" id="{920BCA37-B92C-4C17-B15F-C948B58A0CAB}"/>
              </a:ext>
            </a:extLst>
          </p:cNvPr>
          <p:cNvSpPr>
            <a:spLocks noGrp="1"/>
          </p:cNvSpPr>
          <p:nvPr/>
        </p:nvSpPr>
        <p:spPr>
          <a:xfrm>
            <a:off x="8105775" y="3583517"/>
            <a:ext cx="9715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0" name="appendix-cell-5-2">
            <a:extLst>
              <a:ext uri="{FF2B5EF4-FFF2-40B4-BE49-F238E27FC236}">
                <a16:creationId xmlns:a16="http://schemas.microsoft.com/office/drawing/2014/main" id="{E45FC0E4-FFD5-4A09-962F-C396BBE33981}"/>
              </a:ext>
            </a:extLst>
          </p:cNvPr>
          <p:cNvSpPr>
            <a:spLocks noGrp="1"/>
          </p:cNvSpPr>
          <p:nvPr/>
        </p:nvSpPr>
        <p:spPr>
          <a:xfrm>
            <a:off x="8105775" y="4065058"/>
            <a:ext cx="9715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9,10</a:t>
            </a:r>
          </a:p>
        </p:txBody>
      </p:sp>
      <p:sp>
        <p:nvSpPr>
          <p:cNvPr id="41" name="appendix-cell-6-2">
            <a:extLst>
              <a:ext uri="{FF2B5EF4-FFF2-40B4-BE49-F238E27FC236}">
                <a16:creationId xmlns:a16="http://schemas.microsoft.com/office/drawing/2014/main" id="{E3230515-2545-428B-8738-BA8E266EB736}"/>
              </a:ext>
            </a:extLst>
          </p:cNvPr>
          <p:cNvSpPr>
            <a:spLocks noGrp="1"/>
          </p:cNvSpPr>
          <p:nvPr/>
        </p:nvSpPr>
        <p:spPr>
          <a:xfrm>
            <a:off x="8105775" y="4546600"/>
            <a:ext cx="9715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2,10</a:t>
            </a:r>
          </a:p>
        </p:txBody>
      </p:sp>
      <p:sp>
        <p:nvSpPr>
          <p:cNvPr id="42" name="appendix-cell-7-2">
            <a:extLst>
              <a:ext uri="{FF2B5EF4-FFF2-40B4-BE49-F238E27FC236}">
                <a16:creationId xmlns:a16="http://schemas.microsoft.com/office/drawing/2014/main" id="{FF804FA7-8017-4E37-961D-2F55690D3035}"/>
              </a:ext>
            </a:extLst>
          </p:cNvPr>
          <p:cNvSpPr>
            <a:spLocks noGrp="1"/>
          </p:cNvSpPr>
          <p:nvPr/>
        </p:nvSpPr>
        <p:spPr>
          <a:xfrm>
            <a:off x="8105775" y="5028142"/>
            <a:ext cx="9715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3" name="appendix-cell-8-2">
            <a:extLst>
              <a:ext uri="{FF2B5EF4-FFF2-40B4-BE49-F238E27FC236}">
                <a16:creationId xmlns:a16="http://schemas.microsoft.com/office/drawing/2014/main" id="{9DB2B250-16FF-4714-9EE2-491CF7308CAB}"/>
              </a:ext>
            </a:extLst>
          </p:cNvPr>
          <p:cNvSpPr>
            <a:spLocks noGrp="1"/>
          </p:cNvSpPr>
          <p:nvPr/>
        </p:nvSpPr>
        <p:spPr>
          <a:xfrm>
            <a:off x="8105775" y="5509683"/>
            <a:ext cx="9715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4" name="appendix-col-line-3">
            <a:extLst>
              <a:ext uri="{FF2B5EF4-FFF2-40B4-BE49-F238E27FC236}">
                <a16:creationId xmlns:a16="http://schemas.microsoft.com/office/drawing/2014/main" id="{A203E2B3-DCA7-4F68-B548-0A1E602CE04E}"/>
              </a:ext>
            </a:extLst>
          </p:cNvPr>
          <p:cNvSpPr>
            <a:spLocks noGrp="1"/>
          </p:cNvSpPr>
          <p:nvPr/>
        </p:nvSpPr>
        <p:spPr>
          <a:xfrm>
            <a:off x="9163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45" name="appendix-cell-0-3">
            <a:extLst>
              <a:ext uri="{FF2B5EF4-FFF2-40B4-BE49-F238E27FC236}">
                <a16:creationId xmlns:a16="http://schemas.microsoft.com/office/drawing/2014/main" id="{BBB7C3BB-2CEE-4C54-A09F-F531149348FF}"/>
              </a:ext>
            </a:extLst>
          </p:cNvPr>
          <p:cNvSpPr>
            <a:spLocks noGrp="1"/>
          </p:cNvSpPr>
          <p:nvPr/>
        </p:nvSpPr>
        <p:spPr>
          <a:xfrm>
            <a:off x="9248775" y="1657350"/>
            <a:ext cx="24574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Current state</a:t>
            </a:r>
          </a:p>
        </p:txBody>
      </p:sp>
      <p:sp>
        <p:nvSpPr>
          <p:cNvPr id="46" name="appendix-cell-1-3">
            <a:extLst>
              <a:ext uri="{FF2B5EF4-FFF2-40B4-BE49-F238E27FC236}">
                <a16:creationId xmlns:a16="http://schemas.microsoft.com/office/drawing/2014/main" id="{5C441BAC-0A88-4273-82D4-31FC24423CF9}"/>
              </a:ext>
            </a:extLst>
          </p:cNvPr>
          <p:cNvSpPr>
            <a:spLocks noGrp="1"/>
          </p:cNvSpPr>
          <p:nvPr/>
        </p:nvSpPr>
        <p:spPr>
          <a:xfrm>
            <a:off x="9248775" y="2138892"/>
            <a:ext cx="24574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47" name="appendix-cell-2-3">
            <a:extLst>
              <a:ext uri="{FF2B5EF4-FFF2-40B4-BE49-F238E27FC236}">
                <a16:creationId xmlns:a16="http://schemas.microsoft.com/office/drawing/2014/main" id="{61CA18E5-A9DE-42B1-BA5F-A38CEE0512F6}"/>
              </a:ext>
            </a:extLst>
          </p:cNvPr>
          <p:cNvSpPr>
            <a:spLocks noGrp="1"/>
          </p:cNvSpPr>
          <p:nvPr/>
        </p:nvSpPr>
        <p:spPr>
          <a:xfrm>
            <a:off x="9248775" y="2620433"/>
            <a:ext cx="24574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48" name="appendix-cell-3-3">
            <a:extLst>
              <a:ext uri="{FF2B5EF4-FFF2-40B4-BE49-F238E27FC236}">
                <a16:creationId xmlns:a16="http://schemas.microsoft.com/office/drawing/2014/main" id="{F0DF2CB1-7365-4D77-8D9A-745E2438202E}"/>
              </a:ext>
            </a:extLst>
          </p:cNvPr>
          <p:cNvSpPr>
            <a:spLocks noGrp="1"/>
          </p:cNvSpPr>
          <p:nvPr/>
        </p:nvSpPr>
        <p:spPr>
          <a:xfrm>
            <a:off x="9248775" y="3101975"/>
            <a:ext cx="24574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Verified</a:t>
            </a:r>
          </a:p>
        </p:txBody>
      </p:sp>
      <p:sp>
        <p:nvSpPr>
          <p:cNvPr id="49" name="appendix-cell-4-3">
            <a:extLst>
              <a:ext uri="{FF2B5EF4-FFF2-40B4-BE49-F238E27FC236}">
                <a16:creationId xmlns:a16="http://schemas.microsoft.com/office/drawing/2014/main" id="{0FEC8DA3-AA90-4163-A2AF-F01D7B7FE531}"/>
              </a:ext>
            </a:extLst>
          </p:cNvPr>
          <p:cNvSpPr>
            <a:spLocks noGrp="1"/>
          </p:cNvSpPr>
          <p:nvPr/>
        </p:nvSpPr>
        <p:spPr>
          <a:xfrm>
            <a:off x="9248775" y="3583517"/>
            <a:ext cx="24574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50" name="appendix-cell-5-3">
            <a:extLst>
              <a:ext uri="{FF2B5EF4-FFF2-40B4-BE49-F238E27FC236}">
                <a16:creationId xmlns:a16="http://schemas.microsoft.com/office/drawing/2014/main" id="{A5186836-DD9E-4A97-A160-DCEB0D638D2E}"/>
              </a:ext>
            </a:extLst>
          </p:cNvPr>
          <p:cNvSpPr>
            <a:spLocks noGrp="1"/>
          </p:cNvSpPr>
          <p:nvPr/>
        </p:nvSpPr>
        <p:spPr>
          <a:xfrm>
            <a:off x="9248775" y="4065058"/>
            <a:ext cx="24574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51" name="appendix-cell-6-3">
            <a:extLst>
              <a:ext uri="{FF2B5EF4-FFF2-40B4-BE49-F238E27FC236}">
                <a16:creationId xmlns:a16="http://schemas.microsoft.com/office/drawing/2014/main" id="{401BAD8D-7DE2-4168-951B-2FBB00D0A84B}"/>
              </a:ext>
            </a:extLst>
          </p:cNvPr>
          <p:cNvSpPr>
            <a:spLocks noGrp="1"/>
          </p:cNvSpPr>
          <p:nvPr/>
        </p:nvSpPr>
        <p:spPr>
          <a:xfrm>
            <a:off x="9248775" y="4546600"/>
            <a:ext cx="24574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Verified</a:t>
            </a:r>
          </a:p>
        </p:txBody>
      </p:sp>
      <p:sp>
        <p:nvSpPr>
          <p:cNvPr id="52" name="appendix-cell-7-3">
            <a:extLst>
              <a:ext uri="{FF2B5EF4-FFF2-40B4-BE49-F238E27FC236}">
                <a16:creationId xmlns:a16="http://schemas.microsoft.com/office/drawing/2014/main" id="{BEAD4714-4B97-4923-9B0D-679679F0F480}"/>
              </a:ext>
            </a:extLst>
          </p:cNvPr>
          <p:cNvSpPr>
            <a:spLocks noGrp="1"/>
          </p:cNvSpPr>
          <p:nvPr/>
        </p:nvSpPr>
        <p:spPr>
          <a:xfrm>
            <a:off x="9248775" y="5028142"/>
            <a:ext cx="24574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53" name="appendix-cell-8-3">
            <a:extLst>
              <a:ext uri="{FF2B5EF4-FFF2-40B4-BE49-F238E27FC236}">
                <a16:creationId xmlns:a16="http://schemas.microsoft.com/office/drawing/2014/main" id="{BA6FA50A-1EC2-4A9B-A81A-DE3625DC3059}"/>
              </a:ext>
            </a:extLst>
          </p:cNvPr>
          <p:cNvSpPr>
            <a:spLocks noGrp="1"/>
          </p:cNvSpPr>
          <p:nvPr/>
        </p:nvSpPr>
        <p:spPr>
          <a:xfrm>
            <a:off x="9248775" y="5509683"/>
            <a:ext cx="2457450" cy="405342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54" name="appendix-col-line-4">
            <a:extLst>
              <a:ext uri="{FF2B5EF4-FFF2-40B4-BE49-F238E27FC236}">
                <a16:creationId xmlns:a16="http://schemas.microsoft.com/office/drawing/2014/main" id="{CE2B031E-48A3-4613-88AA-0529159E2E74}"/>
              </a:ext>
            </a:extLst>
          </p:cNvPr>
          <p:cNvSpPr>
            <a:spLocks noGrp="1"/>
          </p:cNvSpPr>
          <p:nvPr/>
        </p:nvSpPr>
        <p:spPr>
          <a:xfrm>
            <a:off x="117919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600654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-number">
            <a:extLst>
              <a:ext uri="{FF2B5EF4-FFF2-40B4-BE49-F238E27FC236}">
                <a16:creationId xmlns:a16="http://schemas.microsoft.com/office/drawing/2014/main" id="{9643AC75-9809-40B3-966F-EC47681799FD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A4</a:t>
            </a:r>
          </a:p>
        </p:txBody>
      </p:sp>
      <p:sp>
        <p:nvSpPr>
          <p:cNvPr id="3" name="appendix-subtitle">
            <a:extLst>
              <a:ext uri="{FF2B5EF4-FFF2-40B4-BE49-F238E27FC236}">
                <a16:creationId xmlns:a16="http://schemas.microsoft.com/office/drawing/2014/main" id="{A15BC777-CF94-482E-8B13-522DE338A4DF}"/>
              </a:ext>
            </a:extLst>
          </p:cNvPr>
          <p:cNvSpPr>
            <a:spLocks noGrp="1"/>
          </p:cNvSpPr>
          <p:nvPr/>
        </p:nvSpPr>
        <p:spPr>
          <a:xfrm>
            <a:off x="400050" y="1000125"/>
            <a:ext cx="11334750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Blocked and partial actions retain their human, institutional, or evidence gates.</a:t>
            </a:r>
          </a:p>
        </p:txBody>
      </p:sp>
      <p:sp>
        <p:nvSpPr>
          <p:cNvPr id="4" name="appendix-row-line-0">
            <a:extLst>
              <a:ext uri="{FF2B5EF4-FFF2-40B4-BE49-F238E27FC236}">
                <a16:creationId xmlns:a16="http://schemas.microsoft.com/office/drawing/2014/main" id="{11E357FE-FE16-4458-8E2F-D140F9A5F4F0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5" name="appendix-row-line-1">
            <a:extLst>
              <a:ext uri="{FF2B5EF4-FFF2-40B4-BE49-F238E27FC236}">
                <a16:creationId xmlns:a16="http://schemas.microsoft.com/office/drawing/2014/main" id="{9ACE4F36-02AB-4FF3-BEE1-85EBEFB37BBD}"/>
              </a:ext>
            </a:extLst>
          </p:cNvPr>
          <p:cNvSpPr>
            <a:spLocks noGrp="1"/>
          </p:cNvSpPr>
          <p:nvPr/>
        </p:nvSpPr>
        <p:spPr>
          <a:xfrm>
            <a:off x="400050" y="2160984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6" name="appendix-row-line-2">
            <a:extLst>
              <a:ext uri="{FF2B5EF4-FFF2-40B4-BE49-F238E27FC236}">
                <a16:creationId xmlns:a16="http://schemas.microsoft.com/office/drawing/2014/main" id="{DBF66B74-2269-4044-9D6A-D44DED55060C}"/>
              </a:ext>
            </a:extLst>
          </p:cNvPr>
          <p:cNvSpPr>
            <a:spLocks noGrp="1"/>
          </p:cNvSpPr>
          <p:nvPr/>
        </p:nvSpPr>
        <p:spPr>
          <a:xfrm>
            <a:off x="400050" y="2702719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7" name="appendix-row-line-3">
            <a:extLst>
              <a:ext uri="{FF2B5EF4-FFF2-40B4-BE49-F238E27FC236}">
                <a16:creationId xmlns:a16="http://schemas.microsoft.com/office/drawing/2014/main" id="{900769FA-4DC8-42CC-B39A-0CDBFC54CACB}"/>
              </a:ext>
            </a:extLst>
          </p:cNvPr>
          <p:cNvSpPr>
            <a:spLocks noGrp="1"/>
          </p:cNvSpPr>
          <p:nvPr/>
        </p:nvSpPr>
        <p:spPr>
          <a:xfrm>
            <a:off x="400050" y="3244453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8" name="appendix-row-line-4">
            <a:extLst>
              <a:ext uri="{FF2B5EF4-FFF2-40B4-BE49-F238E27FC236}">
                <a16:creationId xmlns:a16="http://schemas.microsoft.com/office/drawing/2014/main" id="{490EE6FC-FCDD-4EEC-8B2B-C972BB588C75}"/>
              </a:ext>
            </a:extLst>
          </p:cNvPr>
          <p:cNvSpPr>
            <a:spLocks noGrp="1"/>
          </p:cNvSpPr>
          <p:nvPr/>
        </p:nvSpPr>
        <p:spPr>
          <a:xfrm>
            <a:off x="400050" y="3786188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9" name="appendix-row-line-5">
            <a:extLst>
              <a:ext uri="{FF2B5EF4-FFF2-40B4-BE49-F238E27FC236}">
                <a16:creationId xmlns:a16="http://schemas.microsoft.com/office/drawing/2014/main" id="{09D03EB1-77F9-4E46-AA6C-A75BB5D6B09F}"/>
              </a:ext>
            </a:extLst>
          </p:cNvPr>
          <p:cNvSpPr>
            <a:spLocks noGrp="1"/>
          </p:cNvSpPr>
          <p:nvPr/>
        </p:nvSpPr>
        <p:spPr>
          <a:xfrm>
            <a:off x="400050" y="4327922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0" name="appendix-row-line-6">
            <a:extLst>
              <a:ext uri="{FF2B5EF4-FFF2-40B4-BE49-F238E27FC236}">
                <a16:creationId xmlns:a16="http://schemas.microsoft.com/office/drawing/2014/main" id="{C929810B-92FA-49BE-AE64-192F3A433E09}"/>
              </a:ext>
            </a:extLst>
          </p:cNvPr>
          <p:cNvSpPr>
            <a:spLocks noGrp="1"/>
          </p:cNvSpPr>
          <p:nvPr/>
        </p:nvSpPr>
        <p:spPr>
          <a:xfrm>
            <a:off x="400050" y="4869656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1" name="appendix-row-line-7">
            <a:extLst>
              <a:ext uri="{FF2B5EF4-FFF2-40B4-BE49-F238E27FC236}">
                <a16:creationId xmlns:a16="http://schemas.microsoft.com/office/drawing/2014/main" id="{D2D43A20-733B-48E0-BFD6-221C75DA7DBE}"/>
              </a:ext>
            </a:extLst>
          </p:cNvPr>
          <p:cNvSpPr>
            <a:spLocks noGrp="1"/>
          </p:cNvSpPr>
          <p:nvPr/>
        </p:nvSpPr>
        <p:spPr>
          <a:xfrm>
            <a:off x="400050" y="5411391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2" name="appendix-row-line-8">
            <a:extLst>
              <a:ext uri="{FF2B5EF4-FFF2-40B4-BE49-F238E27FC236}">
                <a16:creationId xmlns:a16="http://schemas.microsoft.com/office/drawing/2014/main" id="{10765CEE-3EA5-4F05-BF34-B3137579D54B}"/>
              </a:ext>
            </a:extLst>
          </p:cNvPr>
          <p:cNvSpPr>
            <a:spLocks noGrp="1"/>
          </p:cNvSpPr>
          <p:nvPr/>
        </p:nvSpPr>
        <p:spPr>
          <a:xfrm>
            <a:off x="400050" y="595312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3" name="appendix-col-line-0">
            <a:extLst>
              <a:ext uri="{FF2B5EF4-FFF2-40B4-BE49-F238E27FC236}">
                <a16:creationId xmlns:a16="http://schemas.microsoft.com/office/drawing/2014/main" id="{F009778F-AE27-4875-A64D-FB8115BA32FB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4" name="appendix-cell-0-0">
            <a:extLst>
              <a:ext uri="{FF2B5EF4-FFF2-40B4-BE49-F238E27FC236}">
                <a16:creationId xmlns:a16="http://schemas.microsoft.com/office/drawing/2014/main" id="{4B236553-D1AA-4952-8FBE-37C2264E9967}"/>
              </a:ext>
            </a:extLst>
          </p:cNvPr>
          <p:cNvSpPr>
            <a:spLocks noGrp="1"/>
          </p:cNvSpPr>
          <p:nvPr/>
        </p:nvSpPr>
        <p:spPr>
          <a:xfrm>
            <a:off x="485775" y="1657350"/>
            <a:ext cx="87630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ID</a:t>
            </a:r>
          </a:p>
        </p:txBody>
      </p:sp>
      <p:sp>
        <p:nvSpPr>
          <p:cNvPr id="15" name="appendix-cell-1-0">
            <a:extLst>
              <a:ext uri="{FF2B5EF4-FFF2-40B4-BE49-F238E27FC236}">
                <a16:creationId xmlns:a16="http://schemas.microsoft.com/office/drawing/2014/main" id="{51E038BF-8EAE-48BF-AB12-AE5DB9353F38}"/>
              </a:ext>
            </a:extLst>
          </p:cNvPr>
          <p:cNvSpPr>
            <a:spLocks noGrp="1"/>
          </p:cNvSpPr>
          <p:nvPr/>
        </p:nvSpPr>
        <p:spPr>
          <a:xfrm>
            <a:off x="485775" y="2199084"/>
            <a:ext cx="87630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A-09</a:t>
            </a:r>
          </a:p>
        </p:txBody>
      </p:sp>
      <p:sp>
        <p:nvSpPr>
          <p:cNvPr id="16" name="appendix-cell-2-0">
            <a:extLst>
              <a:ext uri="{FF2B5EF4-FFF2-40B4-BE49-F238E27FC236}">
                <a16:creationId xmlns:a16="http://schemas.microsoft.com/office/drawing/2014/main" id="{437ACDF8-D0D0-4904-86D5-A57144001BA0}"/>
              </a:ext>
            </a:extLst>
          </p:cNvPr>
          <p:cNvSpPr>
            <a:spLocks noGrp="1"/>
          </p:cNvSpPr>
          <p:nvPr/>
        </p:nvSpPr>
        <p:spPr>
          <a:xfrm>
            <a:off x="485775" y="2740819"/>
            <a:ext cx="87630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A-10</a:t>
            </a:r>
          </a:p>
        </p:txBody>
      </p:sp>
      <p:sp>
        <p:nvSpPr>
          <p:cNvPr id="17" name="appendix-cell-3-0">
            <a:extLst>
              <a:ext uri="{FF2B5EF4-FFF2-40B4-BE49-F238E27FC236}">
                <a16:creationId xmlns:a16="http://schemas.microsoft.com/office/drawing/2014/main" id="{F07414FA-1D3A-47C3-98FB-6951AE053348}"/>
              </a:ext>
            </a:extLst>
          </p:cNvPr>
          <p:cNvSpPr>
            <a:spLocks noGrp="1"/>
          </p:cNvSpPr>
          <p:nvPr/>
        </p:nvSpPr>
        <p:spPr>
          <a:xfrm>
            <a:off x="485775" y="3282553"/>
            <a:ext cx="87630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A-11</a:t>
            </a:r>
          </a:p>
        </p:txBody>
      </p:sp>
      <p:sp>
        <p:nvSpPr>
          <p:cNvPr id="18" name="appendix-cell-4-0">
            <a:extLst>
              <a:ext uri="{FF2B5EF4-FFF2-40B4-BE49-F238E27FC236}">
                <a16:creationId xmlns:a16="http://schemas.microsoft.com/office/drawing/2014/main" id="{9637914E-EED6-4A44-933A-85DDD32BE5D0}"/>
              </a:ext>
            </a:extLst>
          </p:cNvPr>
          <p:cNvSpPr>
            <a:spLocks noGrp="1"/>
          </p:cNvSpPr>
          <p:nvPr/>
        </p:nvSpPr>
        <p:spPr>
          <a:xfrm>
            <a:off x="485775" y="3824288"/>
            <a:ext cx="87630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A-12</a:t>
            </a:r>
          </a:p>
        </p:txBody>
      </p:sp>
      <p:sp>
        <p:nvSpPr>
          <p:cNvPr id="19" name="appendix-cell-5-0">
            <a:extLst>
              <a:ext uri="{FF2B5EF4-FFF2-40B4-BE49-F238E27FC236}">
                <a16:creationId xmlns:a16="http://schemas.microsoft.com/office/drawing/2014/main" id="{2F22C81C-BAA9-4EA6-8CE2-D004FB5C0B3F}"/>
              </a:ext>
            </a:extLst>
          </p:cNvPr>
          <p:cNvSpPr>
            <a:spLocks noGrp="1"/>
          </p:cNvSpPr>
          <p:nvPr/>
        </p:nvSpPr>
        <p:spPr>
          <a:xfrm>
            <a:off x="485775" y="4366022"/>
            <a:ext cx="87630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A-13</a:t>
            </a:r>
          </a:p>
        </p:txBody>
      </p:sp>
      <p:sp>
        <p:nvSpPr>
          <p:cNvPr id="20" name="appendix-cell-6-0">
            <a:extLst>
              <a:ext uri="{FF2B5EF4-FFF2-40B4-BE49-F238E27FC236}">
                <a16:creationId xmlns:a16="http://schemas.microsoft.com/office/drawing/2014/main" id="{AF3EE747-A902-47CE-9E79-C33BFA613AFC}"/>
              </a:ext>
            </a:extLst>
          </p:cNvPr>
          <p:cNvSpPr>
            <a:spLocks noGrp="1"/>
          </p:cNvSpPr>
          <p:nvPr/>
        </p:nvSpPr>
        <p:spPr>
          <a:xfrm>
            <a:off x="485775" y="4907756"/>
            <a:ext cx="87630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A-14</a:t>
            </a:r>
          </a:p>
        </p:txBody>
      </p:sp>
      <p:sp>
        <p:nvSpPr>
          <p:cNvPr id="21" name="appendix-cell-7-0">
            <a:extLst>
              <a:ext uri="{FF2B5EF4-FFF2-40B4-BE49-F238E27FC236}">
                <a16:creationId xmlns:a16="http://schemas.microsoft.com/office/drawing/2014/main" id="{87D05425-D628-4E15-9236-143DB645A77A}"/>
              </a:ext>
            </a:extLst>
          </p:cNvPr>
          <p:cNvSpPr>
            <a:spLocks noGrp="1"/>
          </p:cNvSpPr>
          <p:nvPr/>
        </p:nvSpPr>
        <p:spPr>
          <a:xfrm>
            <a:off x="485775" y="5449491"/>
            <a:ext cx="87630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A-15</a:t>
            </a:r>
          </a:p>
        </p:txBody>
      </p:sp>
      <p:sp>
        <p:nvSpPr>
          <p:cNvPr id="22" name="appendix-col-line-1">
            <a:extLst>
              <a:ext uri="{FF2B5EF4-FFF2-40B4-BE49-F238E27FC236}">
                <a16:creationId xmlns:a16="http://schemas.microsoft.com/office/drawing/2014/main" id="{5E2C4CDC-151C-49D1-8E3A-B1E430F8E960}"/>
              </a:ext>
            </a:extLst>
          </p:cNvPr>
          <p:cNvSpPr>
            <a:spLocks noGrp="1"/>
          </p:cNvSpPr>
          <p:nvPr/>
        </p:nvSpPr>
        <p:spPr>
          <a:xfrm>
            <a:off x="144780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23" name="appendix-cell-0-1">
            <a:extLst>
              <a:ext uri="{FF2B5EF4-FFF2-40B4-BE49-F238E27FC236}">
                <a16:creationId xmlns:a16="http://schemas.microsoft.com/office/drawing/2014/main" id="{B63A39A4-E978-43EC-ACE3-D67567CDD844}"/>
              </a:ext>
            </a:extLst>
          </p:cNvPr>
          <p:cNvSpPr>
            <a:spLocks noGrp="1"/>
          </p:cNvSpPr>
          <p:nvPr/>
        </p:nvSpPr>
        <p:spPr>
          <a:xfrm>
            <a:off x="1533525" y="1657350"/>
            <a:ext cx="640080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Action</a:t>
            </a:r>
          </a:p>
        </p:txBody>
      </p:sp>
      <p:sp>
        <p:nvSpPr>
          <p:cNvPr id="24" name="appendix-cell-1-1">
            <a:extLst>
              <a:ext uri="{FF2B5EF4-FFF2-40B4-BE49-F238E27FC236}">
                <a16:creationId xmlns:a16="http://schemas.microsoft.com/office/drawing/2014/main" id="{E38BDF9D-CB49-4CD0-BDAB-D2F6E896DF32}"/>
              </a:ext>
            </a:extLst>
          </p:cNvPr>
          <p:cNvSpPr>
            <a:spLocks noGrp="1"/>
          </p:cNvSpPr>
          <p:nvPr/>
        </p:nvSpPr>
        <p:spPr>
          <a:xfrm>
            <a:off x="1533525" y="2199084"/>
            <a:ext cx="640080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Validate medical route and approvals</a:t>
            </a:r>
          </a:p>
        </p:txBody>
      </p:sp>
      <p:sp>
        <p:nvSpPr>
          <p:cNvPr id="25" name="appendix-cell-2-1">
            <a:extLst>
              <a:ext uri="{FF2B5EF4-FFF2-40B4-BE49-F238E27FC236}">
                <a16:creationId xmlns:a16="http://schemas.microsoft.com/office/drawing/2014/main" id="{C06F9D33-5C22-4F98-A48A-04E0581FC96C}"/>
              </a:ext>
            </a:extLst>
          </p:cNvPr>
          <p:cNvSpPr>
            <a:spLocks noGrp="1"/>
          </p:cNvSpPr>
          <p:nvPr/>
        </p:nvSpPr>
        <p:spPr>
          <a:xfrm>
            <a:off x="1533525" y="2740819"/>
            <a:ext cx="640080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Draft Plan A/B and trigger</a:t>
            </a:r>
          </a:p>
        </p:txBody>
      </p:sp>
      <p:sp>
        <p:nvSpPr>
          <p:cNvPr id="26" name="appendix-cell-3-1">
            <a:extLst>
              <a:ext uri="{FF2B5EF4-FFF2-40B4-BE49-F238E27FC236}">
                <a16:creationId xmlns:a16="http://schemas.microsoft.com/office/drawing/2014/main" id="{BB8E2A43-B528-4BC0-9B64-A803F3AADFE9}"/>
              </a:ext>
            </a:extLst>
          </p:cNvPr>
          <p:cNvSpPr>
            <a:spLocks noGrp="1"/>
          </p:cNvSpPr>
          <p:nvPr/>
        </p:nvSpPr>
        <p:spPr>
          <a:xfrm>
            <a:off x="1533525" y="3282553"/>
            <a:ext cx="640080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Document VDI and model constraints</a:t>
            </a:r>
          </a:p>
        </p:txBody>
      </p:sp>
      <p:sp>
        <p:nvSpPr>
          <p:cNvPr id="27" name="appendix-cell-4-1">
            <a:extLst>
              <a:ext uri="{FF2B5EF4-FFF2-40B4-BE49-F238E27FC236}">
                <a16:creationId xmlns:a16="http://schemas.microsoft.com/office/drawing/2014/main" id="{38CCE1A4-34FE-485F-AFC4-9A8FB9920AB0}"/>
              </a:ext>
            </a:extLst>
          </p:cNvPr>
          <p:cNvSpPr>
            <a:spLocks noGrp="1"/>
          </p:cNvSpPr>
          <p:nvPr/>
        </p:nvSpPr>
        <p:spPr>
          <a:xfrm>
            <a:off x="1533525" y="3824288"/>
            <a:ext cx="640080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Produce developed proposal draft</a:t>
            </a:r>
          </a:p>
        </p:txBody>
      </p:sp>
      <p:sp>
        <p:nvSpPr>
          <p:cNvPr id="28" name="appendix-cell-5-1">
            <a:extLst>
              <a:ext uri="{FF2B5EF4-FFF2-40B4-BE49-F238E27FC236}">
                <a16:creationId xmlns:a16="http://schemas.microsoft.com/office/drawing/2014/main" id="{8D0A12DA-CE15-4767-A1A4-9657F639D523}"/>
              </a:ext>
            </a:extLst>
          </p:cNvPr>
          <p:cNvSpPr>
            <a:spLocks noGrp="1"/>
          </p:cNvSpPr>
          <p:nvPr/>
        </p:nvSpPr>
        <p:spPr>
          <a:xfrm>
            <a:off x="1533525" y="4366022"/>
            <a:ext cx="640080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Prepare full submission</a:t>
            </a:r>
          </a:p>
        </p:txBody>
      </p:sp>
      <p:sp>
        <p:nvSpPr>
          <p:cNvPr id="29" name="appendix-cell-6-1">
            <a:extLst>
              <a:ext uri="{FF2B5EF4-FFF2-40B4-BE49-F238E27FC236}">
                <a16:creationId xmlns:a16="http://schemas.microsoft.com/office/drawing/2014/main" id="{28E03D5A-958F-4400-9B0B-1E55565BFB73}"/>
              </a:ext>
            </a:extLst>
          </p:cNvPr>
          <p:cNvSpPr>
            <a:spLocks noGrp="1"/>
          </p:cNvSpPr>
          <p:nvPr/>
        </p:nvSpPr>
        <p:spPr>
          <a:xfrm>
            <a:off x="1533525" y="4907756"/>
            <a:ext cx="640080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Verify university process</a:t>
            </a:r>
          </a:p>
        </p:txBody>
      </p:sp>
      <p:sp>
        <p:nvSpPr>
          <p:cNvPr id="30" name="appendix-cell-7-1">
            <a:extLst>
              <a:ext uri="{FF2B5EF4-FFF2-40B4-BE49-F238E27FC236}">
                <a16:creationId xmlns:a16="http://schemas.microsoft.com/office/drawing/2014/main" id="{A966E24E-511B-464C-B83D-B6CB892D9C32}"/>
              </a:ext>
            </a:extLst>
          </p:cNvPr>
          <p:cNvSpPr>
            <a:spLocks noGrp="1"/>
          </p:cNvSpPr>
          <p:nvPr/>
        </p:nvSpPr>
        <p:spPr>
          <a:xfrm>
            <a:off x="1533525" y="5449491"/>
            <a:ext cx="640080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Clarify partner meeting/status</a:t>
            </a:r>
          </a:p>
        </p:txBody>
      </p:sp>
      <p:sp>
        <p:nvSpPr>
          <p:cNvPr id="31" name="appendix-col-line-2">
            <a:extLst>
              <a:ext uri="{FF2B5EF4-FFF2-40B4-BE49-F238E27FC236}">
                <a16:creationId xmlns:a16="http://schemas.microsoft.com/office/drawing/2014/main" id="{F680B813-217D-40C9-AA22-B13668C5116E}"/>
              </a:ext>
            </a:extLst>
          </p:cNvPr>
          <p:cNvSpPr>
            <a:spLocks noGrp="1"/>
          </p:cNvSpPr>
          <p:nvPr/>
        </p:nvSpPr>
        <p:spPr>
          <a:xfrm>
            <a:off x="8020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32" name="appendix-cell-0-2">
            <a:extLst>
              <a:ext uri="{FF2B5EF4-FFF2-40B4-BE49-F238E27FC236}">
                <a16:creationId xmlns:a16="http://schemas.microsoft.com/office/drawing/2014/main" id="{55D31E4E-9217-4191-BF86-3CB7CC25A620}"/>
              </a:ext>
            </a:extLst>
          </p:cNvPr>
          <p:cNvSpPr>
            <a:spLocks noGrp="1"/>
          </p:cNvSpPr>
          <p:nvPr/>
        </p:nvSpPr>
        <p:spPr>
          <a:xfrm>
            <a:off x="8105775" y="1657350"/>
            <a:ext cx="97155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Slide</a:t>
            </a:r>
          </a:p>
        </p:txBody>
      </p:sp>
      <p:sp>
        <p:nvSpPr>
          <p:cNvPr id="33" name="appendix-cell-1-2">
            <a:extLst>
              <a:ext uri="{FF2B5EF4-FFF2-40B4-BE49-F238E27FC236}">
                <a16:creationId xmlns:a16="http://schemas.microsoft.com/office/drawing/2014/main" id="{A5114E61-41B8-4065-8EBD-FBB0A41D13EC}"/>
              </a:ext>
            </a:extLst>
          </p:cNvPr>
          <p:cNvSpPr>
            <a:spLocks noGrp="1"/>
          </p:cNvSpPr>
          <p:nvPr/>
        </p:nvSpPr>
        <p:spPr>
          <a:xfrm>
            <a:off x="8105775" y="2199084"/>
            <a:ext cx="97155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34" name="appendix-cell-2-2">
            <a:extLst>
              <a:ext uri="{FF2B5EF4-FFF2-40B4-BE49-F238E27FC236}">
                <a16:creationId xmlns:a16="http://schemas.microsoft.com/office/drawing/2014/main" id="{C69F481B-CC96-43B9-8D94-2D74C8AACB55}"/>
              </a:ext>
            </a:extLst>
          </p:cNvPr>
          <p:cNvSpPr>
            <a:spLocks noGrp="1"/>
          </p:cNvSpPr>
          <p:nvPr/>
        </p:nvSpPr>
        <p:spPr>
          <a:xfrm>
            <a:off x="8105775" y="2740819"/>
            <a:ext cx="97155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5" name="appendix-cell-3-2">
            <a:extLst>
              <a:ext uri="{FF2B5EF4-FFF2-40B4-BE49-F238E27FC236}">
                <a16:creationId xmlns:a16="http://schemas.microsoft.com/office/drawing/2014/main" id="{D0E5E389-8888-4A16-87B3-D2B6DF9DD26E}"/>
              </a:ext>
            </a:extLst>
          </p:cNvPr>
          <p:cNvSpPr>
            <a:spLocks noGrp="1"/>
          </p:cNvSpPr>
          <p:nvPr/>
        </p:nvSpPr>
        <p:spPr>
          <a:xfrm>
            <a:off x="8105775" y="3282553"/>
            <a:ext cx="97155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36" name="appendix-cell-4-2">
            <a:extLst>
              <a:ext uri="{FF2B5EF4-FFF2-40B4-BE49-F238E27FC236}">
                <a16:creationId xmlns:a16="http://schemas.microsoft.com/office/drawing/2014/main" id="{2FA834EE-FB95-46BB-9999-0E9897054AC5}"/>
              </a:ext>
            </a:extLst>
          </p:cNvPr>
          <p:cNvSpPr>
            <a:spLocks noGrp="1"/>
          </p:cNvSpPr>
          <p:nvPr/>
        </p:nvSpPr>
        <p:spPr>
          <a:xfrm>
            <a:off x="8105775" y="3824288"/>
            <a:ext cx="97155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7" name="appendix-cell-5-2">
            <a:extLst>
              <a:ext uri="{FF2B5EF4-FFF2-40B4-BE49-F238E27FC236}">
                <a16:creationId xmlns:a16="http://schemas.microsoft.com/office/drawing/2014/main" id="{ADFFC256-CB18-42AE-8599-293BA6B3CBA5}"/>
              </a:ext>
            </a:extLst>
          </p:cNvPr>
          <p:cNvSpPr>
            <a:spLocks noGrp="1"/>
          </p:cNvSpPr>
          <p:nvPr/>
        </p:nvSpPr>
        <p:spPr>
          <a:xfrm>
            <a:off x="8105775" y="4366022"/>
            <a:ext cx="97155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8" name="appendix-cell-6-2">
            <a:extLst>
              <a:ext uri="{FF2B5EF4-FFF2-40B4-BE49-F238E27FC236}">
                <a16:creationId xmlns:a16="http://schemas.microsoft.com/office/drawing/2014/main" id="{F774B8D7-BFFA-45CE-897C-EBD5A37B436F}"/>
              </a:ext>
            </a:extLst>
          </p:cNvPr>
          <p:cNvSpPr>
            <a:spLocks noGrp="1"/>
          </p:cNvSpPr>
          <p:nvPr/>
        </p:nvSpPr>
        <p:spPr>
          <a:xfrm>
            <a:off x="8105775" y="4907756"/>
            <a:ext cx="97155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9" name="appendix-cell-7-2">
            <a:extLst>
              <a:ext uri="{FF2B5EF4-FFF2-40B4-BE49-F238E27FC236}">
                <a16:creationId xmlns:a16="http://schemas.microsoft.com/office/drawing/2014/main" id="{073F0A45-5632-479B-9E57-1374DCCC0D23}"/>
              </a:ext>
            </a:extLst>
          </p:cNvPr>
          <p:cNvSpPr>
            <a:spLocks noGrp="1"/>
          </p:cNvSpPr>
          <p:nvPr/>
        </p:nvSpPr>
        <p:spPr>
          <a:xfrm>
            <a:off x="8105775" y="5449491"/>
            <a:ext cx="97155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9,10</a:t>
            </a:r>
          </a:p>
        </p:txBody>
      </p:sp>
      <p:sp>
        <p:nvSpPr>
          <p:cNvPr id="40" name="appendix-col-line-3">
            <a:extLst>
              <a:ext uri="{FF2B5EF4-FFF2-40B4-BE49-F238E27FC236}">
                <a16:creationId xmlns:a16="http://schemas.microsoft.com/office/drawing/2014/main" id="{8FE6D569-53D3-40F1-8245-9553E3CE5434}"/>
              </a:ext>
            </a:extLst>
          </p:cNvPr>
          <p:cNvSpPr>
            <a:spLocks noGrp="1"/>
          </p:cNvSpPr>
          <p:nvPr/>
        </p:nvSpPr>
        <p:spPr>
          <a:xfrm>
            <a:off x="9163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41" name="appendix-cell-0-3">
            <a:extLst>
              <a:ext uri="{FF2B5EF4-FFF2-40B4-BE49-F238E27FC236}">
                <a16:creationId xmlns:a16="http://schemas.microsoft.com/office/drawing/2014/main" id="{D9C0F646-9872-4BEF-A11F-27D4C81F0440}"/>
              </a:ext>
            </a:extLst>
          </p:cNvPr>
          <p:cNvSpPr>
            <a:spLocks noGrp="1"/>
          </p:cNvSpPr>
          <p:nvPr/>
        </p:nvSpPr>
        <p:spPr>
          <a:xfrm>
            <a:off x="9248775" y="1657350"/>
            <a:ext cx="245745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Current state</a:t>
            </a:r>
          </a:p>
        </p:txBody>
      </p:sp>
      <p:sp>
        <p:nvSpPr>
          <p:cNvPr id="42" name="appendix-cell-1-3">
            <a:extLst>
              <a:ext uri="{FF2B5EF4-FFF2-40B4-BE49-F238E27FC236}">
                <a16:creationId xmlns:a16="http://schemas.microsoft.com/office/drawing/2014/main" id="{0156F3CF-BCB2-44ED-AFFB-5C068A06A4E0}"/>
              </a:ext>
            </a:extLst>
          </p:cNvPr>
          <p:cNvSpPr>
            <a:spLocks noGrp="1"/>
          </p:cNvSpPr>
          <p:nvPr/>
        </p:nvSpPr>
        <p:spPr>
          <a:xfrm>
            <a:off x="9248775" y="2199084"/>
            <a:ext cx="245745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Blocked</a:t>
            </a:r>
          </a:p>
        </p:txBody>
      </p:sp>
      <p:sp>
        <p:nvSpPr>
          <p:cNvPr id="43" name="appendix-cell-2-3">
            <a:extLst>
              <a:ext uri="{FF2B5EF4-FFF2-40B4-BE49-F238E27FC236}">
                <a16:creationId xmlns:a16="http://schemas.microsoft.com/office/drawing/2014/main" id="{E600CAE4-6B45-49E8-AC0B-C2CA78988B13}"/>
              </a:ext>
            </a:extLst>
          </p:cNvPr>
          <p:cNvSpPr>
            <a:spLocks noGrp="1"/>
          </p:cNvSpPr>
          <p:nvPr/>
        </p:nvSpPr>
        <p:spPr>
          <a:xfrm>
            <a:off x="9248775" y="2740819"/>
            <a:ext cx="245745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44" name="appendix-cell-3-3">
            <a:extLst>
              <a:ext uri="{FF2B5EF4-FFF2-40B4-BE49-F238E27FC236}">
                <a16:creationId xmlns:a16="http://schemas.microsoft.com/office/drawing/2014/main" id="{FEB0ADDF-85E2-456A-A445-1197D5ABCC37}"/>
              </a:ext>
            </a:extLst>
          </p:cNvPr>
          <p:cNvSpPr>
            <a:spLocks noGrp="1"/>
          </p:cNvSpPr>
          <p:nvPr/>
        </p:nvSpPr>
        <p:spPr>
          <a:xfrm>
            <a:off x="9248775" y="3282553"/>
            <a:ext cx="245745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45" name="appendix-cell-4-3">
            <a:extLst>
              <a:ext uri="{FF2B5EF4-FFF2-40B4-BE49-F238E27FC236}">
                <a16:creationId xmlns:a16="http://schemas.microsoft.com/office/drawing/2014/main" id="{C5CF526A-D857-4376-A988-8C2FAACA87AB}"/>
              </a:ext>
            </a:extLst>
          </p:cNvPr>
          <p:cNvSpPr>
            <a:spLocks noGrp="1"/>
          </p:cNvSpPr>
          <p:nvPr/>
        </p:nvSpPr>
        <p:spPr>
          <a:xfrm>
            <a:off x="9248775" y="3824288"/>
            <a:ext cx="245745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46" name="appendix-cell-5-3">
            <a:extLst>
              <a:ext uri="{FF2B5EF4-FFF2-40B4-BE49-F238E27FC236}">
                <a16:creationId xmlns:a16="http://schemas.microsoft.com/office/drawing/2014/main" id="{FC230142-AF93-4E99-9EDE-34CCA2A47F01}"/>
              </a:ext>
            </a:extLst>
          </p:cNvPr>
          <p:cNvSpPr>
            <a:spLocks noGrp="1"/>
          </p:cNvSpPr>
          <p:nvPr/>
        </p:nvSpPr>
        <p:spPr>
          <a:xfrm>
            <a:off x="9248775" y="4366022"/>
            <a:ext cx="245745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47" name="appendix-cell-6-3">
            <a:extLst>
              <a:ext uri="{FF2B5EF4-FFF2-40B4-BE49-F238E27FC236}">
                <a16:creationId xmlns:a16="http://schemas.microsoft.com/office/drawing/2014/main" id="{DA11789A-7165-4318-8A17-40A264AD9753}"/>
              </a:ext>
            </a:extLst>
          </p:cNvPr>
          <p:cNvSpPr>
            <a:spLocks noGrp="1"/>
          </p:cNvSpPr>
          <p:nvPr/>
        </p:nvSpPr>
        <p:spPr>
          <a:xfrm>
            <a:off x="9248775" y="4907756"/>
            <a:ext cx="245745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48" name="appendix-cell-7-3">
            <a:extLst>
              <a:ext uri="{FF2B5EF4-FFF2-40B4-BE49-F238E27FC236}">
                <a16:creationId xmlns:a16="http://schemas.microsoft.com/office/drawing/2014/main" id="{6D49DF68-E2F4-47E4-93EF-D104B944AA75}"/>
              </a:ext>
            </a:extLst>
          </p:cNvPr>
          <p:cNvSpPr>
            <a:spLocks noGrp="1"/>
          </p:cNvSpPr>
          <p:nvPr/>
        </p:nvSpPr>
        <p:spPr>
          <a:xfrm>
            <a:off x="9248775" y="5449491"/>
            <a:ext cx="2457450" cy="465534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Blocked</a:t>
            </a:r>
          </a:p>
        </p:txBody>
      </p:sp>
      <p:sp>
        <p:nvSpPr>
          <p:cNvPr id="49" name="appendix-col-line-4">
            <a:extLst>
              <a:ext uri="{FF2B5EF4-FFF2-40B4-BE49-F238E27FC236}">
                <a16:creationId xmlns:a16="http://schemas.microsoft.com/office/drawing/2014/main" id="{389DF178-E222-47F2-83F5-0A536BC6118A}"/>
              </a:ext>
            </a:extLst>
          </p:cNvPr>
          <p:cNvSpPr>
            <a:spLocks noGrp="1"/>
          </p:cNvSpPr>
          <p:nvPr/>
        </p:nvSpPr>
        <p:spPr>
          <a:xfrm>
            <a:off x="117919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52" name="appendix-title">
            <a:extLst>
              <a:ext uri="{FF2B5EF4-FFF2-40B4-BE49-F238E27FC236}">
                <a16:creationId xmlns:a16="http://schemas.microsoft.com/office/drawing/2014/main" id="{AEC2D1DA-3045-C100-57F4-B87736540D11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11410950" cy="609600"/>
          </a:xfrm>
          <a:prstGeom prst="rect">
            <a:avLst/>
          </a:prstGeom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27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US" sz="2700" b="1">
                <a:solidFill>
                  <a:srgbClr val="000000"/>
                </a:solidFill>
                <a:latin typeface="Arial" panose="020B0604020202020204" pitchFamily="34" charset="0"/>
                <a:ea typeface="Arial"/>
                <a:cs typeface="Arial"/>
              </a:rPr>
              <a:t>Actions A-09–A-15 · evidence appendix</a:t>
            </a:r>
            <a:endParaRPr sz="2700" b="1">
              <a:solidFill>
                <a:srgbClr val="000000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339367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appendix-title">
            <a:extLst>
              <a:ext uri="{FF2B5EF4-FFF2-40B4-BE49-F238E27FC236}">
                <a16:creationId xmlns:a16="http://schemas.microsoft.com/office/drawing/2014/main" id="{7ABBB37B-803F-4ACE-9C92-46195C4E7627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11391900" cy="609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27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Appendix · Questions Q-01–Q-10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3FD43553-2870-456C-9B1B-AD487A1B98A3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A5</a:t>
            </a:r>
          </a:p>
        </p:txBody>
      </p:sp>
      <p:sp>
        <p:nvSpPr>
          <p:cNvPr id="3" name="appendix-subtitle">
            <a:extLst>
              <a:ext uri="{FF2B5EF4-FFF2-40B4-BE49-F238E27FC236}">
                <a16:creationId xmlns:a16="http://schemas.microsoft.com/office/drawing/2014/main" id="{1DC77137-CD52-4D57-AC26-C867D6E074D3}"/>
              </a:ext>
            </a:extLst>
          </p:cNvPr>
          <p:cNvSpPr>
            <a:spLocks noGrp="1"/>
          </p:cNvSpPr>
          <p:nvPr/>
        </p:nvSpPr>
        <p:spPr>
          <a:xfrm>
            <a:off x="400050" y="1000125"/>
            <a:ext cx="11334750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Questions close only through an explicit accountable decision or authoritative evidence.</a:t>
            </a:r>
          </a:p>
        </p:txBody>
      </p:sp>
      <p:sp>
        <p:nvSpPr>
          <p:cNvPr id="4" name="appendix-row-line-0">
            <a:extLst>
              <a:ext uri="{FF2B5EF4-FFF2-40B4-BE49-F238E27FC236}">
                <a16:creationId xmlns:a16="http://schemas.microsoft.com/office/drawing/2014/main" id="{FA6EE180-4659-4A6D-B94B-A560FEAC94E0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5" name="appendix-row-line-1">
            <a:extLst>
              <a:ext uri="{FF2B5EF4-FFF2-40B4-BE49-F238E27FC236}">
                <a16:creationId xmlns:a16="http://schemas.microsoft.com/office/drawing/2014/main" id="{F0EF6677-5CF7-4E92-9A37-80FF34FC99B2}"/>
              </a:ext>
            </a:extLst>
          </p:cNvPr>
          <p:cNvSpPr>
            <a:spLocks noGrp="1"/>
          </p:cNvSpPr>
          <p:nvPr/>
        </p:nvSpPr>
        <p:spPr>
          <a:xfrm>
            <a:off x="400050" y="2013239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6" name="appendix-row-line-2">
            <a:extLst>
              <a:ext uri="{FF2B5EF4-FFF2-40B4-BE49-F238E27FC236}">
                <a16:creationId xmlns:a16="http://schemas.microsoft.com/office/drawing/2014/main" id="{10531BEA-7200-417D-B6AC-0DEFE04185AD}"/>
              </a:ext>
            </a:extLst>
          </p:cNvPr>
          <p:cNvSpPr>
            <a:spLocks noGrp="1"/>
          </p:cNvSpPr>
          <p:nvPr/>
        </p:nvSpPr>
        <p:spPr>
          <a:xfrm>
            <a:off x="400050" y="2407227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7" name="appendix-row-line-3">
            <a:extLst>
              <a:ext uri="{FF2B5EF4-FFF2-40B4-BE49-F238E27FC236}">
                <a16:creationId xmlns:a16="http://schemas.microsoft.com/office/drawing/2014/main" id="{77E27C1C-2B20-4C06-A84C-8A9A7FF40A6B}"/>
              </a:ext>
            </a:extLst>
          </p:cNvPr>
          <p:cNvSpPr>
            <a:spLocks noGrp="1"/>
          </p:cNvSpPr>
          <p:nvPr/>
        </p:nvSpPr>
        <p:spPr>
          <a:xfrm>
            <a:off x="400050" y="2801216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8" name="appendix-row-line-4">
            <a:extLst>
              <a:ext uri="{FF2B5EF4-FFF2-40B4-BE49-F238E27FC236}">
                <a16:creationId xmlns:a16="http://schemas.microsoft.com/office/drawing/2014/main" id="{FC023110-3D9A-4EEA-844D-6811F0F05524}"/>
              </a:ext>
            </a:extLst>
          </p:cNvPr>
          <p:cNvSpPr>
            <a:spLocks noGrp="1"/>
          </p:cNvSpPr>
          <p:nvPr/>
        </p:nvSpPr>
        <p:spPr>
          <a:xfrm>
            <a:off x="400050" y="319520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9" name="appendix-row-line-5">
            <a:extLst>
              <a:ext uri="{FF2B5EF4-FFF2-40B4-BE49-F238E27FC236}">
                <a16:creationId xmlns:a16="http://schemas.microsoft.com/office/drawing/2014/main" id="{809A0CFD-0E02-4380-846A-65C23AA29C01}"/>
              </a:ext>
            </a:extLst>
          </p:cNvPr>
          <p:cNvSpPr>
            <a:spLocks noGrp="1"/>
          </p:cNvSpPr>
          <p:nvPr/>
        </p:nvSpPr>
        <p:spPr>
          <a:xfrm>
            <a:off x="400050" y="3589193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0" name="appendix-row-line-6">
            <a:extLst>
              <a:ext uri="{FF2B5EF4-FFF2-40B4-BE49-F238E27FC236}">
                <a16:creationId xmlns:a16="http://schemas.microsoft.com/office/drawing/2014/main" id="{8605A0E2-F6B3-41D2-B2A7-0184A80262EE}"/>
              </a:ext>
            </a:extLst>
          </p:cNvPr>
          <p:cNvSpPr>
            <a:spLocks noGrp="1"/>
          </p:cNvSpPr>
          <p:nvPr/>
        </p:nvSpPr>
        <p:spPr>
          <a:xfrm>
            <a:off x="400050" y="3983182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1" name="appendix-row-line-7">
            <a:extLst>
              <a:ext uri="{FF2B5EF4-FFF2-40B4-BE49-F238E27FC236}">
                <a16:creationId xmlns:a16="http://schemas.microsoft.com/office/drawing/2014/main" id="{32FC37D1-2B97-4BD1-B65D-DDA3B8E7E81E}"/>
              </a:ext>
            </a:extLst>
          </p:cNvPr>
          <p:cNvSpPr>
            <a:spLocks noGrp="1"/>
          </p:cNvSpPr>
          <p:nvPr/>
        </p:nvSpPr>
        <p:spPr>
          <a:xfrm>
            <a:off x="400050" y="437717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2" name="appendix-row-line-8">
            <a:extLst>
              <a:ext uri="{FF2B5EF4-FFF2-40B4-BE49-F238E27FC236}">
                <a16:creationId xmlns:a16="http://schemas.microsoft.com/office/drawing/2014/main" id="{96F56C43-740A-4FDE-9AA4-1F1AA187C033}"/>
              </a:ext>
            </a:extLst>
          </p:cNvPr>
          <p:cNvSpPr>
            <a:spLocks noGrp="1"/>
          </p:cNvSpPr>
          <p:nvPr/>
        </p:nvSpPr>
        <p:spPr>
          <a:xfrm>
            <a:off x="400050" y="4771159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3" name="appendix-row-line-9">
            <a:extLst>
              <a:ext uri="{FF2B5EF4-FFF2-40B4-BE49-F238E27FC236}">
                <a16:creationId xmlns:a16="http://schemas.microsoft.com/office/drawing/2014/main" id="{B2B65AB0-F812-4843-87E5-ABB16EBE2DDE}"/>
              </a:ext>
            </a:extLst>
          </p:cNvPr>
          <p:cNvSpPr>
            <a:spLocks noGrp="1"/>
          </p:cNvSpPr>
          <p:nvPr/>
        </p:nvSpPr>
        <p:spPr>
          <a:xfrm>
            <a:off x="400050" y="5165148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4" name="appendix-row-line-10">
            <a:extLst>
              <a:ext uri="{FF2B5EF4-FFF2-40B4-BE49-F238E27FC236}">
                <a16:creationId xmlns:a16="http://schemas.microsoft.com/office/drawing/2014/main" id="{15C8478D-8D33-4B32-9F12-7423648DD155}"/>
              </a:ext>
            </a:extLst>
          </p:cNvPr>
          <p:cNvSpPr>
            <a:spLocks noGrp="1"/>
          </p:cNvSpPr>
          <p:nvPr/>
        </p:nvSpPr>
        <p:spPr>
          <a:xfrm>
            <a:off x="400050" y="5559136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5" name="appendix-row-line-11">
            <a:extLst>
              <a:ext uri="{FF2B5EF4-FFF2-40B4-BE49-F238E27FC236}">
                <a16:creationId xmlns:a16="http://schemas.microsoft.com/office/drawing/2014/main" id="{CEED037C-0479-410B-8B15-5F1F48243C97}"/>
              </a:ext>
            </a:extLst>
          </p:cNvPr>
          <p:cNvSpPr>
            <a:spLocks noGrp="1"/>
          </p:cNvSpPr>
          <p:nvPr/>
        </p:nvSpPr>
        <p:spPr>
          <a:xfrm>
            <a:off x="400050" y="595312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6" name="appendix-col-line-0">
            <a:extLst>
              <a:ext uri="{FF2B5EF4-FFF2-40B4-BE49-F238E27FC236}">
                <a16:creationId xmlns:a16="http://schemas.microsoft.com/office/drawing/2014/main" id="{6AFFB1B4-93EE-466D-972C-760E1103C8E7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7" name="appendix-cell-0-0">
            <a:extLst>
              <a:ext uri="{FF2B5EF4-FFF2-40B4-BE49-F238E27FC236}">
                <a16:creationId xmlns:a16="http://schemas.microsoft.com/office/drawing/2014/main" id="{305AFC5A-1C6F-4284-954E-F0B6A18B26CD}"/>
              </a:ext>
            </a:extLst>
          </p:cNvPr>
          <p:cNvSpPr>
            <a:spLocks noGrp="1"/>
          </p:cNvSpPr>
          <p:nvPr/>
        </p:nvSpPr>
        <p:spPr>
          <a:xfrm>
            <a:off x="485775" y="1657350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ID</a:t>
            </a:r>
          </a:p>
        </p:txBody>
      </p:sp>
      <p:sp>
        <p:nvSpPr>
          <p:cNvPr id="18" name="appendix-cell-1-0">
            <a:extLst>
              <a:ext uri="{FF2B5EF4-FFF2-40B4-BE49-F238E27FC236}">
                <a16:creationId xmlns:a16="http://schemas.microsoft.com/office/drawing/2014/main" id="{F48DF983-66A8-4ED1-A348-A231641EC3CD}"/>
              </a:ext>
            </a:extLst>
          </p:cNvPr>
          <p:cNvSpPr>
            <a:spLocks noGrp="1"/>
          </p:cNvSpPr>
          <p:nvPr/>
        </p:nvSpPr>
        <p:spPr>
          <a:xfrm>
            <a:off x="485775" y="2051339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Q-01</a:t>
            </a:r>
          </a:p>
        </p:txBody>
      </p:sp>
      <p:sp>
        <p:nvSpPr>
          <p:cNvPr id="19" name="appendix-cell-2-0">
            <a:extLst>
              <a:ext uri="{FF2B5EF4-FFF2-40B4-BE49-F238E27FC236}">
                <a16:creationId xmlns:a16="http://schemas.microsoft.com/office/drawing/2014/main" id="{B75C696C-3A46-4752-A58C-5428870F1A43}"/>
              </a:ext>
            </a:extLst>
          </p:cNvPr>
          <p:cNvSpPr>
            <a:spLocks noGrp="1"/>
          </p:cNvSpPr>
          <p:nvPr/>
        </p:nvSpPr>
        <p:spPr>
          <a:xfrm>
            <a:off x="485775" y="2445327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Q-02</a:t>
            </a:r>
          </a:p>
        </p:txBody>
      </p:sp>
      <p:sp>
        <p:nvSpPr>
          <p:cNvPr id="20" name="appendix-cell-3-0">
            <a:extLst>
              <a:ext uri="{FF2B5EF4-FFF2-40B4-BE49-F238E27FC236}">
                <a16:creationId xmlns:a16="http://schemas.microsoft.com/office/drawing/2014/main" id="{CEB1C9AF-AD84-4709-9631-8A54DEC5C20D}"/>
              </a:ext>
            </a:extLst>
          </p:cNvPr>
          <p:cNvSpPr>
            <a:spLocks noGrp="1"/>
          </p:cNvSpPr>
          <p:nvPr/>
        </p:nvSpPr>
        <p:spPr>
          <a:xfrm>
            <a:off x="485775" y="2839316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Q-03</a:t>
            </a:r>
          </a:p>
        </p:txBody>
      </p:sp>
      <p:sp>
        <p:nvSpPr>
          <p:cNvPr id="21" name="appendix-cell-4-0">
            <a:extLst>
              <a:ext uri="{FF2B5EF4-FFF2-40B4-BE49-F238E27FC236}">
                <a16:creationId xmlns:a16="http://schemas.microsoft.com/office/drawing/2014/main" id="{864FBFA6-18B0-4E6E-B42D-47244B9D0181}"/>
              </a:ext>
            </a:extLst>
          </p:cNvPr>
          <p:cNvSpPr>
            <a:spLocks noGrp="1"/>
          </p:cNvSpPr>
          <p:nvPr/>
        </p:nvSpPr>
        <p:spPr>
          <a:xfrm>
            <a:off x="485775" y="3233305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Q-04</a:t>
            </a:r>
          </a:p>
        </p:txBody>
      </p:sp>
      <p:sp>
        <p:nvSpPr>
          <p:cNvPr id="22" name="appendix-cell-5-0">
            <a:extLst>
              <a:ext uri="{FF2B5EF4-FFF2-40B4-BE49-F238E27FC236}">
                <a16:creationId xmlns:a16="http://schemas.microsoft.com/office/drawing/2014/main" id="{505ABE83-ADB5-4BB5-80ED-C75275971C95}"/>
              </a:ext>
            </a:extLst>
          </p:cNvPr>
          <p:cNvSpPr>
            <a:spLocks noGrp="1"/>
          </p:cNvSpPr>
          <p:nvPr/>
        </p:nvSpPr>
        <p:spPr>
          <a:xfrm>
            <a:off x="485775" y="3627293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Q-05</a:t>
            </a:r>
          </a:p>
        </p:txBody>
      </p:sp>
      <p:sp>
        <p:nvSpPr>
          <p:cNvPr id="23" name="appendix-cell-6-0">
            <a:extLst>
              <a:ext uri="{FF2B5EF4-FFF2-40B4-BE49-F238E27FC236}">
                <a16:creationId xmlns:a16="http://schemas.microsoft.com/office/drawing/2014/main" id="{7897B25B-C89E-4E80-8D06-C4BA8F1185DE}"/>
              </a:ext>
            </a:extLst>
          </p:cNvPr>
          <p:cNvSpPr>
            <a:spLocks noGrp="1"/>
          </p:cNvSpPr>
          <p:nvPr/>
        </p:nvSpPr>
        <p:spPr>
          <a:xfrm>
            <a:off x="485775" y="4021282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Q-06</a:t>
            </a:r>
          </a:p>
        </p:txBody>
      </p:sp>
      <p:sp>
        <p:nvSpPr>
          <p:cNvPr id="24" name="appendix-cell-7-0">
            <a:extLst>
              <a:ext uri="{FF2B5EF4-FFF2-40B4-BE49-F238E27FC236}">
                <a16:creationId xmlns:a16="http://schemas.microsoft.com/office/drawing/2014/main" id="{BD66AA01-AE2A-4FB2-B8F8-1027C9F46BDD}"/>
              </a:ext>
            </a:extLst>
          </p:cNvPr>
          <p:cNvSpPr>
            <a:spLocks noGrp="1"/>
          </p:cNvSpPr>
          <p:nvPr/>
        </p:nvSpPr>
        <p:spPr>
          <a:xfrm>
            <a:off x="485775" y="4415270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Q-07</a:t>
            </a:r>
          </a:p>
        </p:txBody>
      </p:sp>
      <p:sp>
        <p:nvSpPr>
          <p:cNvPr id="25" name="appendix-cell-8-0">
            <a:extLst>
              <a:ext uri="{FF2B5EF4-FFF2-40B4-BE49-F238E27FC236}">
                <a16:creationId xmlns:a16="http://schemas.microsoft.com/office/drawing/2014/main" id="{0A8C4A60-4B7F-4E6E-9900-6BB4DB3DDAF9}"/>
              </a:ext>
            </a:extLst>
          </p:cNvPr>
          <p:cNvSpPr>
            <a:spLocks noGrp="1"/>
          </p:cNvSpPr>
          <p:nvPr/>
        </p:nvSpPr>
        <p:spPr>
          <a:xfrm>
            <a:off x="485775" y="4809259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Q-08</a:t>
            </a:r>
          </a:p>
        </p:txBody>
      </p:sp>
      <p:sp>
        <p:nvSpPr>
          <p:cNvPr id="26" name="appendix-cell-9-0">
            <a:extLst>
              <a:ext uri="{FF2B5EF4-FFF2-40B4-BE49-F238E27FC236}">
                <a16:creationId xmlns:a16="http://schemas.microsoft.com/office/drawing/2014/main" id="{8372CEAC-A621-492F-8B2F-2C3B3E353580}"/>
              </a:ext>
            </a:extLst>
          </p:cNvPr>
          <p:cNvSpPr>
            <a:spLocks noGrp="1"/>
          </p:cNvSpPr>
          <p:nvPr/>
        </p:nvSpPr>
        <p:spPr>
          <a:xfrm>
            <a:off x="485775" y="5203248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Q-09</a:t>
            </a:r>
          </a:p>
        </p:txBody>
      </p:sp>
      <p:sp>
        <p:nvSpPr>
          <p:cNvPr id="27" name="appendix-cell-10-0">
            <a:extLst>
              <a:ext uri="{FF2B5EF4-FFF2-40B4-BE49-F238E27FC236}">
                <a16:creationId xmlns:a16="http://schemas.microsoft.com/office/drawing/2014/main" id="{A055077E-DC92-44AD-BF0F-929E371B1D31}"/>
              </a:ext>
            </a:extLst>
          </p:cNvPr>
          <p:cNvSpPr>
            <a:spLocks noGrp="1"/>
          </p:cNvSpPr>
          <p:nvPr/>
        </p:nvSpPr>
        <p:spPr>
          <a:xfrm>
            <a:off x="485775" y="5597236"/>
            <a:ext cx="8763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Q-10</a:t>
            </a:r>
          </a:p>
        </p:txBody>
      </p:sp>
      <p:sp>
        <p:nvSpPr>
          <p:cNvPr id="28" name="appendix-col-line-1">
            <a:extLst>
              <a:ext uri="{FF2B5EF4-FFF2-40B4-BE49-F238E27FC236}">
                <a16:creationId xmlns:a16="http://schemas.microsoft.com/office/drawing/2014/main" id="{EFEE573B-EA61-4D42-9522-F9C1AE84A9AD}"/>
              </a:ext>
            </a:extLst>
          </p:cNvPr>
          <p:cNvSpPr>
            <a:spLocks noGrp="1"/>
          </p:cNvSpPr>
          <p:nvPr/>
        </p:nvSpPr>
        <p:spPr>
          <a:xfrm>
            <a:off x="144780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29" name="appendix-cell-0-1">
            <a:extLst>
              <a:ext uri="{FF2B5EF4-FFF2-40B4-BE49-F238E27FC236}">
                <a16:creationId xmlns:a16="http://schemas.microsoft.com/office/drawing/2014/main" id="{4CE3DA69-A860-45A8-96A3-B8E46902747B}"/>
              </a:ext>
            </a:extLst>
          </p:cNvPr>
          <p:cNvSpPr>
            <a:spLocks noGrp="1"/>
          </p:cNvSpPr>
          <p:nvPr/>
        </p:nvSpPr>
        <p:spPr>
          <a:xfrm>
            <a:off x="1533525" y="1657350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Question</a:t>
            </a:r>
          </a:p>
        </p:txBody>
      </p:sp>
      <p:sp>
        <p:nvSpPr>
          <p:cNvPr id="30" name="appendix-cell-1-1">
            <a:extLst>
              <a:ext uri="{FF2B5EF4-FFF2-40B4-BE49-F238E27FC236}">
                <a16:creationId xmlns:a16="http://schemas.microsoft.com/office/drawing/2014/main" id="{63245D26-9DFF-46D5-8169-B53EA343A41D}"/>
              </a:ext>
            </a:extLst>
          </p:cNvPr>
          <p:cNvSpPr>
            <a:spLocks noGrp="1"/>
          </p:cNvSpPr>
          <p:nvPr/>
        </p:nvSpPr>
        <p:spPr>
          <a:xfrm>
            <a:off x="1533525" y="2051339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Final U-RQ and SQ wording</a:t>
            </a:r>
          </a:p>
        </p:txBody>
      </p:sp>
      <p:sp>
        <p:nvSpPr>
          <p:cNvPr id="31" name="appendix-cell-2-1">
            <a:extLst>
              <a:ext uri="{FF2B5EF4-FFF2-40B4-BE49-F238E27FC236}">
                <a16:creationId xmlns:a16="http://schemas.microsoft.com/office/drawing/2014/main" id="{CB8F604D-FDAB-4998-8139-6FB86C3B06BE}"/>
              </a:ext>
            </a:extLst>
          </p:cNvPr>
          <p:cNvSpPr>
            <a:spLocks noGrp="1"/>
          </p:cNvSpPr>
          <p:nvPr/>
        </p:nvSpPr>
        <p:spPr>
          <a:xfrm>
            <a:off x="1533525" y="2445327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Whether/how medicine is used</a:t>
            </a:r>
          </a:p>
        </p:txBody>
      </p:sp>
      <p:sp>
        <p:nvSpPr>
          <p:cNvPr id="32" name="appendix-cell-3-1">
            <a:extLst>
              <a:ext uri="{FF2B5EF4-FFF2-40B4-BE49-F238E27FC236}">
                <a16:creationId xmlns:a16="http://schemas.microsoft.com/office/drawing/2014/main" id="{6472F1AB-2B21-460B-8720-8EE839423F4D}"/>
              </a:ext>
            </a:extLst>
          </p:cNvPr>
          <p:cNvSpPr>
            <a:spLocks noGrp="1"/>
          </p:cNvSpPr>
          <p:nvPr/>
        </p:nvSpPr>
        <p:spPr>
          <a:xfrm>
            <a:off x="1533525" y="2839316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 A/B boundary and trigger</a:t>
            </a:r>
          </a:p>
        </p:txBody>
      </p:sp>
      <p:sp>
        <p:nvSpPr>
          <p:cNvPr id="33" name="appendix-cell-4-1">
            <a:extLst>
              <a:ext uri="{FF2B5EF4-FFF2-40B4-BE49-F238E27FC236}">
                <a16:creationId xmlns:a16="http://schemas.microsoft.com/office/drawing/2014/main" id="{39587151-5A16-4C88-8E08-E2C5D8E4A3A2}"/>
              </a:ext>
            </a:extLst>
          </p:cNvPr>
          <p:cNvSpPr>
            <a:spLocks noGrp="1"/>
          </p:cNvSpPr>
          <p:nvPr/>
        </p:nvSpPr>
        <p:spPr>
          <a:xfrm>
            <a:off x="1533525" y="3233305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Literature taxonomy and fields</a:t>
            </a:r>
          </a:p>
        </p:txBody>
      </p:sp>
      <p:sp>
        <p:nvSpPr>
          <p:cNvPr id="34" name="appendix-cell-5-1">
            <a:extLst>
              <a:ext uri="{FF2B5EF4-FFF2-40B4-BE49-F238E27FC236}">
                <a16:creationId xmlns:a16="http://schemas.microsoft.com/office/drawing/2014/main" id="{7D594783-F748-4A1D-98C2-7E8D965DC45A}"/>
              </a:ext>
            </a:extLst>
          </p:cNvPr>
          <p:cNvSpPr>
            <a:spLocks noGrp="1"/>
          </p:cNvSpPr>
          <p:nvPr/>
        </p:nvSpPr>
        <p:spPr>
          <a:xfrm>
            <a:off x="1533525" y="3627293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MIMIC selection and governance</a:t>
            </a:r>
          </a:p>
        </p:txBody>
      </p:sp>
      <p:sp>
        <p:nvSpPr>
          <p:cNvPr id="35" name="appendix-cell-6-1">
            <a:extLst>
              <a:ext uri="{FF2B5EF4-FFF2-40B4-BE49-F238E27FC236}">
                <a16:creationId xmlns:a16="http://schemas.microsoft.com/office/drawing/2014/main" id="{D5FDE8EC-3676-4844-B47D-799EFF770755}"/>
              </a:ext>
            </a:extLst>
          </p:cNvPr>
          <p:cNvSpPr>
            <a:spLocks noGrp="1"/>
          </p:cNvSpPr>
          <p:nvPr/>
        </p:nvSpPr>
        <p:spPr>
          <a:xfrm>
            <a:off x="1533525" y="4021282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Approved local/offline models</a:t>
            </a:r>
          </a:p>
        </p:txBody>
      </p:sp>
      <p:sp>
        <p:nvSpPr>
          <p:cNvPr id="36" name="appendix-cell-7-1">
            <a:extLst>
              <a:ext uri="{FF2B5EF4-FFF2-40B4-BE49-F238E27FC236}">
                <a16:creationId xmlns:a16="http://schemas.microsoft.com/office/drawing/2014/main" id="{FBC9D638-DDCB-44BC-B063-C5A367620186}"/>
              </a:ext>
            </a:extLst>
          </p:cNvPr>
          <p:cNvSpPr>
            <a:spLocks noGrp="1"/>
          </p:cNvSpPr>
          <p:nvPr/>
        </p:nvSpPr>
        <p:spPr>
          <a:xfrm>
            <a:off x="1533525" y="4415270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Calendar and Drive permissions</a:t>
            </a:r>
          </a:p>
        </p:txBody>
      </p:sp>
      <p:sp>
        <p:nvSpPr>
          <p:cNvPr id="37" name="appendix-cell-8-1">
            <a:extLst>
              <a:ext uri="{FF2B5EF4-FFF2-40B4-BE49-F238E27FC236}">
                <a16:creationId xmlns:a16="http://schemas.microsoft.com/office/drawing/2014/main" id="{D8CA2B18-4242-494E-B7A5-38E0C13ABCED}"/>
              </a:ext>
            </a:extLst>
          </p:cNvPr>
          <p:cNvSpPr>
            <a:spLocks noGrp="1"/>
          </p:cNvSpPr>
          <p:nvPr/>
        </p:nvSpPr>
        <p:spPr>
          <a:xfrm>
            <a:off x="1533525" y="4809259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Official candidacy policy</a:t>
            </a:r>
          </a:p>
        </p:txBody>
      </p:sp>
      <p:sp>
        <p:nvSpPr>
          <p:cNvPr id="38" name="appendix-cell-9-1">
            <a:extLst>
              <a:ext uri="{FF2B5EF4-FFF2-40B4-BE49-F238E27FC236}">
                <a16:creationId xmlns:a16="http://schemas.microsoft.com/office/drawing/2014/main" id="{9DB814DC-6E34-43D5-8DA2-4D0CA2124AE9}"/>
              </a:ext>
            </a:extLst>
          </p:cNvPr>
          <p:cNvSpPr>
            <a:spLocks noGrp="1"/>
          </p:cNvSpPr>
          <p:nvPr/>
        </p:nvSpPr>
        <p:spPr>
          <a:xfrm>
            <a:off x="1533525" y="5203248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Clalit use case and prerequisites</a:t>
            </a:r>
          </a:p>
        </p:txBody>
      </p:sp>
      <p:sp>
        <p:nvSpPr>
          <p:cNvPr id="39" name="appendix-cell-10-1">
            <a:extLst>
              <a:ext uri="{FF2B5EF4-FFF2-40B4-BE49-F238E27FC236}">
                <a16:creationId xmlns:a16="http://schemas.microsoft.com/office/drawing/2014/main" id="{A35F4BB1-E43F-478B-ACA1-F8CD041960CE}"/>
              </a:ext>
            </a:extLst>
          </p:cNvPr>
          <p:cNvSpPr>
            <a:spLocks noGrp="1"/>
          </p:cNvSpPr>
          <p:nvPr/>
        </p:nvSpPr>
        <p:spPr>
          <a:xfrm>
            <a:off x="1533525" y="5597236"/>
            <a:ext cx="640080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Partner meeting/mechanism/second partner</a:t>
            </a:r>
          </a:p>
        </p:txBody>
      </p:sp>
      <p:sp>
        <p:nvSpPr>
          <p:cNvPr id="40" name="appendix-col-line-2">
            <a:extLst>
              <a:ext uri="{FF2B5EF4-FFF2-40B4-BE49-F238E27FC236}">
                <a16:creationId xmlns:a16="http://schemas.microsoft.com/office/drawing/2014/main" id="{3877AE50-AF4B-46B0-8C6D-B1C92EF0D78C}"/>
              </a:ext>
            </a:extLst>
          </p:cNvPr>
          <p:cNvSpPr>
            <a:spLocks noGrp="1"/>
          </p:cNvSpPr>
          <p:nvPr/>
        </p:nvSpPr>
        <p:spPr>
          <a:xfrm>
            <a:off x="8020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41" name="appendix-cell-0-2">
            <a:extLst>
              <a:ext uri="{FF2B5EF4-FFF2-40B4-BE49-F238E27FC236}">
                <a16:creationId xmlns:a16="http://schemas.microsoft.com/office/drawing/2014/main" id="{C631F2AD-6F9E-4B0E-86B1-28DB26914032}"/>
              </a:ext>
            </a:extLst>
          </p:cNvPr>
          <p:cNvSpPr>
            <a:spLocks noGrp="1"/>
          </p:cNvSpPr>
          <p:nvPr/>
        </p:nvSpPr>
        <p:spPr>
          <a:xfrm>
            <a:off x="8105775" y="1657350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Slide</a:t>
            </a:r>
          </a:p>
        </p:txBody>
      </p:sp>
      <p:sp>
        <p:nvSpPr>
          <p:cNvPr id="42" name="appendix-cell-1-2">
            <a:extLst>
              <a:ext uri="{FF2B5EF4-FFF2-40B4-BE49-F238E27FC236}">
                <a16:creationId xmlns:a16="http://schemas.microsoft.com/office/drawing/2014/main" id="{4C152BE9-935F-42C4-B9EE-8F17BAF256B7}"/>
              </a:ext>
            </a:extLst>
          </p:cNvPr>
          <p:cNvSpPr>
            <a:spLocks noGrp="1"/>
          </p:cNvSpPr>
          <p:nvPr/>
        </p:nvSpPr>
        <p:spPr>
          <a:xfrm>
            <a:off x="8105775" y="2051339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3,11</a:t>
            </a:r>
          </a:p>
        </p:txBody>
      </p:sp>
      <p:sp>
        <p:nvSpPr>
          <p:cNvPr id="43" name="appendix-cell-2-2">
            <a:extLst>
              <a:ext uri="{FF2B5EF4-FFF2-40B4-BE49-F238E27FC236}">
                <a16:creationId xmlns:a16="http://schemas.microsoft.com/office/drawing/2014/main" id="{05E864E0-EB86-476D-857E-03E01F7262F1}"/>
              </a:ext>
            </a:extLst>
          </p:cNvPr>
          <p:cNvSpPr>
            <a:spLocks noGrp="1"/>
          </p:cNvSpPr>
          <p:nvPr/>
        </p:nvSpPr>
        <p:spPr>
          <a:xfrm>
            <a:off x="8105775" y="2445327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6,9</a:t>
            </a:r>
          </a:p>
        </p:txBody>
      </p:sp>
      <p:sp>
        <p:nvSpPr>
          <p:cNvPr id="44" name="appendix-cell-3-2">
            <a:extLst>
              <a:ext uri="{FF2B5EF4-FFF2-40B4-BE49-F238E27FC236}">
                <a16:creationId xmlns:a16="http://schemas.microsoft.com/office/drawing/2014/main" id="{0DA0AE33-DE7B-462C-B29D-B625A003C19E}"/>
              </a:ext>
            </a:extLst>
          </p:cNvPr>
          <p:cNvSpPr>
            <a:spLocks noGrp="1"/>
          </p:cNvSpPr>
          <p:nvPr/>
        </p:nvSpPr>
        <p:spPr>
          <a:xfrm>
            <a:off x="8105775" y="2839316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6,11</a:t>
            </a:r>
          </a:p>
        </p:txBody>
      </p:sp>
      <p:sp>
        <p:nvSpPr>
          <p:cNvPr id="45" name="appendix-cell-4-2">
            <a:extLst>
              <a:ext uri="{FF2B5EF4-FFF2-40B4-BE49-F238E27FC236}">
                <a16:creationId xmlns:a16="http://schemas.microsoft.com/office/drawing/2014/main" id="{835B2525-AD0C-43C8-A6DD-A23EF98D5F7D}"/>
              </a:ext>
            </a:extLst>
          </p:cNvPr>
          <p:cNvSpPr>
            <a:spLocks noGrp="1"/>
          </p:cNvSpPr>
          <p:nvPr/>
        </p:nvSpPr>
        <p:spPr>
          <a:xfrm>
            <a:off x="8105775" y="3233305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6" name="appendix-cell-5-2">
            <a:extLst>
              <a:ext uri="{FF2B5EF4-FFF2-40B4-BE49-F238E27FC236}">
                <a16:creationId xmlns:a16="http://schemas.microsoft.com/office/drawing/2014/main" id="{5C0F3A00-3864-4C73-A4F9-E291C0EF3CAB}"/>
              </a:ext>
            </a:extLst>
          </p:cNvPr>
          <p:cNvSpPr>
            <a:spLocks noGrp="1"/>
          </p:cNvSpPr>
          <p:nvPr/>
        </p:nvSpPr>
        <p:spPr>
          <a:xfrm>
            <a:off x="8105775" y="3627293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7" name="appendix-cell-6-2">
            <a:extLst>
              <a:ext uri="{FF2B5EF4-FFF2-40B4-BE49-F238E27FC236}">
                <a16:creationId xmlns:a16="http://schemas.microsoft.com/office/drawing/2014/main" id="{A98A65D7-26ED-42AF-BA33-5B46AE9D7467}"/>
              </a:ext>
            </a:extLst>
          </p:cNvPr>
          <p:cNvSpPr>
            <a:spLocks noGrp="1"/>
          </p:cNvSpPr>
          <p:nvPr/>
        </p:nvSpPr>
        <p:spPr>
          <a:xfrm>
            <a:off x="8105775" y="4021282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8" name="appendix-cell-7-2">
            <a:extLst>
              <a:ext uri="{FF2B5EF4-FFF2-40B4-BE49-F238E27FC236}">
                <a16:creationId xmlns:a16="http://schemas.microsoft.com/office/drawing/2014/main" id="{0E0015AE-E224-4B16-B3B7-51CC668AF0EE}"/>
              </a:ext>
            </a:extLst>
          </p:cNvPr>
          <p:cNvSpPr>
            <a:spLocks noGrp="1"/>
          </p:cNvSpPr>
          <p:nvPr/>
        </p:nvSpPr>
        <p:spPr>
          <a:xfrm>
            <a:off x="8105775" y="4415270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9" name="appendix-cell-8-2">
            <a:extLst>
              <a:ext uri="{FF2B5EF4-FFF2-40B4-BE49-F238E27FC236}">
                <a16:creationId xmlns:a16="http://schemas.microsoft.com/office/drawing/2014/main" id="{5758DA2E-3234-4AAB-B630-6B89D6AD0FC8}"/>
              </a:ext>
            </a:extLst>
          </p:cNvPr>
          <p:cNvSpPr>
            <a:spLocks noGrp="1"/>
          </p:cNvSpPr>
          <p:nvPr/>
        </p:nvSpPr>
        <p:spPr>
          <a:xfrm>
            <a:off x="8105775" y="4809259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0" name="appendix-cell-9-2">
            <a:extLst>
              <a:ext uri="{FF2B5EF4-FFF2-40B4-BE49-F238E27FC236}">
                <a16:creationId xmlns:a16="http://schemas.microsoft.com/office/drawing/2014/main" id="{51623743-650C-4141-B4A6-6B4DE8A84788}"/>
              </a:ext>
            </a:extLst>
          </p:cNvPr>
          <p:cNvSpPr>
            <a:spLocks noGrp="1"/>
          </p:cNvSpPr>
          <p:nvPr/>
        </p:nvSpPr>
        <p:spPr>
          <a:xfrm>
            <a:off x="8105775" y="5203248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51" name="appendix-cell-10-2">
            <a:extLst>
              <a:ext uri="{FF2B5EF4-FFF2-40B4-BE49-F238E27FC236}">
                <a16:creationId xmlns:a16="http://schemas.microsoft.com/office/drawing/2014/main" id="{2C31FA32-A1FB-4D72-A3E6-7C31BE7A4141}"/>
              </a:ext>
            </a:extLst>
          </p:cNvPr>
          <p:cNvSpPr>
            <a:spLocks noGrp="1"/>
          </p:cNvSpPr>
          <p:nvPr/>
        </p:nvSpPr>
        <p:spPr>
          <a:xfrm>
            <a:off x="8105775" y="5597236"/>
            <a:ext cx="9715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52" name="appendix-col-line-3">
            <a:extLst>
              <a:ext uri="{FF2B5EF4-FFF2-40B4-BE49-F238E27FC236}">
                <a16:creationId xmlns:a16="http://schemas.microsoft.com/office/drawing/2014/main" id="{17FE1B05-241E-443A-8540-B8414A2F298D}"/>
              </a:ext>
            </a:extLst>
          </p:cNvPr>
          <p:cNvSpPr>
            <a:spLocks noGrp="1"/>
          </p:cNvSpPr>
          <p:nvPr/>
        </p:nvSpPr>
        <p:spPr>
          <a:xfrm>
            <a:off x="9163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53" name="appendix-cell-0-3">
            <a:extLst>
              <a:ext uri="{FF2B5EF4-FFF2-40B4-BE49-F238E27FC236}">
                <a16:creationId xmlns:a16="http://schemas.microsoft.com/office/drawing/2014/main" id="{7196F678-1E05-4002-9876-295412A1A4B9}"/>
              </a:ext>
            </a:extLst>
          </p:cNvPr>
          <p:cNvSpPr>
            <a:spLocks noGrp="1"/>
          </p:cNvSpPr>
          <p:nvPr/>
        </p:nvSpPr>
        <p:spPr>
          <a:xfrm>
            <a:off x="9248775" y="1657350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Current state</a:t>
            </a:r>
          </a:p>
        </p:txBody>
      </p:sp>
      <p:sp>
        <p:nvSpPr>
          <p:cNvPr id="54" name="appendix-cell-1-3">
            <a:extLst>
              <a:ext uri="{FF2B5EF4-FFF2-40B4-BE49-F238E27FC236}">
                <a16:creationId xmlns:a16="http://schemas.microsoft.com/office/drawing/2014/main" id="{0744A36C-6945-4B4B-B44F-1A9C9B42EF39}"/>
              </a:ext>
            </a:extLst>
          </p:cNvPr>
          <p:cNvSpPr>
            <a:spLocks noGrp="1"/>
          </p:cNvSpPr>
          <p:nvPr/>
        </p:nvSpPr>
        <p:spPr>
          <a:xfrm>
            <a:off x="9248775" y="2051339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55" name="appendix-cell-2-3">
            <a:extLst>
              <a:ext uri="{FF2B5EF4-FFF2-40B4-BE49-F238E27FC236}">
                <a16:creationId xmlns:a16="http://schemas.microsoft.com/office/drawing/2014/main" id="{D5FCFAEF-FCCE-4021-9085-7362DFAE7CE3}"/>
              </a:ext>
            </a:extLst>
          </p:cNvPr>
          <p:cNvSpPr>
            <a:spLocks noGrp="1"/>
          </p:cNvSpPr>
          <p:nvPr/>
        </p:nvSpPr>
        <p:spPr>
          <a:xfrm>
            <a:off x="9248775" y="2445327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Blocked</a:t>
            </a:r>
          </a:p>
        </p:txBody>
      </p:sp>
      <p:sp>
        <p:nvSpPr>
          <p:cNvPr id="56" name="appendix-cell-3-3">
            <a:extLst>
              <a:ext uri="{FF2B5EF4-FFF2-40B4-BE49-F238E27FC236}">
                <a16:creationId xmlns:a16="http://schemas.microsoft.com/office/drawing/2014/main" id="{B4596B1E-BC11-493E-95F8-8DB3B9267DB6}"/>
              </a:ext>
            </a:extLst>
          </p:cNvPr>
          <p:cNvSpPr>
            <a:spLocks noGrp="1"/>
          </p:cNvSpPr>
          <p:nvPr/>
        </p:nvSpPr>
        <p:spPr>
          <a:xfrm>
            <a:off x="9248775" y="2839316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Awaiting</a:t>
            </a:r>
          </a:p>
        </p:txBody>
      </p:sp>
      <p:sp>
        <p:nvSpPr>
          <p:cNvPr id="57" name="appendix-cell-4-3">
            <a:extLst>
              <a:ext uri="{FF2B5EF4-FFF2-40B4-BE49-F238E27FC236}">
                <a16:creationId xmlns:a16="http://schemas.microsoft.com/office/drawing/2014/main" id="{F5C82D81-A915-41A1-A63E-432DB8D00B17}"/>
              </a:ext>
            </a:extLst>
          </p:cNvPr>
          <p:cNvSpPr>
            <a:spLocks noGrp="1"/>
          </p:cNvSpPr>
          <p:nvPr/>
        </p:nvSpPr>
        <p:spPr>
          <a:xfrm>
            <a:off x="9248775" y="3233305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58" name="appendix-cell-5-3">
            <a:extLst>
              <a:ext uri="{FF2B5EF4-FFF2-40B4-BE49-F238E27FC236}">
                <a16:creationId xmlns:a16="http://schemas.microsoft.com/office/drawing/2014/main" id="{173C37BB-6423-484B-A0F8-11A5970DC1A7}"/>
              </a:ext>
            </a:extLst>
          </p:cNvPr>
          <p:cNvSpPr>
            <a:spLocks noGrp="1"/>
          </p:cNvSpPr>
          <p:nvPr/>
        </p:nvSpPr>
        <p:spPr>
          <a:xfrm>
            <a:off x="9248775" y="3627293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Blocked</a:t>
            </a:r>
          </a:p>
        </p:txBody>
      </p:sp>
      <p:sp>
        <p:nvSpPr>
          <p:cNvPr id="59" name="appendix-cell-6-3">
            <a:extLst>
              <a:ext uri="{FF2B5EF4-FFF2-40B4-BE49-F238E27FC236}">
                <a16:creationId xmlns:a16="http://schemas.microsoft.com/office/drawing/2014/main" id="{E0EED6D4-66DF-4EA2-9895-B3E43A91004A}"/>
              </a:ext>
            </a:extLst>
          </p:cNvPr>
          <p:cNvSpPr>
            <a:spLocks noGrp="1"/>
          </p:cNvSpPr>
          <p:nvPr/>
        </p:nvSpPr>
        <p:spPr>
          <a:xfrm>
            <a:off x="9248775" y="4021282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Blocked</a:t>
            </a:r>
          </a:p>
        </p:txBody>
      </p:sp>
      <p:sp>
        <p:nvSpPr>
          <p:cNvPr id="60" name="appendix-cell-7-3">
            <a:extLst>
              <a:ext uri="{FF2B5EF4-FFF2-40B4-BE49-F238E27FC236}">
                <a16:creationId xmlns:a16="http://schemas.microsoft.com/office/drawing/2014/main" id="{C8D4B53B-5DF6-4EC0-AFF1-7F6C0FDA2142}"/>
              </a:ext>
            </a:extLst>
          </p:cNvPr>
          <p:cNvSpPr>
            <a:spLocks noGrp="1"/>
          </p:cNvSpPr>
          <p:nvPr/>
        </p:nvSpPr>
        <p:spPr>
          <a:xfrm>
            <a:off x="9248775" y="4415270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Partial</a:t>
            </a:r>
          </a:p>
        </p:txBody>
      </p:sp>
      <p:sp>
        <p:nvSpPr>
          <p:cNvPr id="61" name="appendix-cell-8-3">
            <a:extLst>
              <a:ext uri="{FF2B5EF4-FFF2-40B4-BE49-F238E27FC236}">
                <a16:creationId xmlns:a16="http://schemas.microsoft.com/office/drawing/2014/main" id="{8FAB1592-883D-411D-A13C-0C7F5D2A0F02}"/>
              </a:ext>
            </a:extLst>
          </p:cNvPr>
          <p:cNvSpPr>
            <a:spLocks noGrp="1"/>
          </p:cNvSpPr>
          <p:nvPr/>
        </p:nvSpPr>
        <p:spPr>
          <a:xfrm>
            <a:off x="9248775" y="4809259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62" name="appendix-cell-9-3">
            <a:extLst>
              <a:ext uri="{FF2B5EF4-FFF2-40B4-BE49-F238E27FC236}">
                <a16:creationId xmlns:a16="http://schemas.microsoft.com/office/drawing/2014/main" id="{209272E3-0573-4896-9B31-D1BDCB239952}"/>
              </a:ext>
            </a:extLst>
          </p:cNvPr>
          <p:cNvSpPr>
            <a:spLocks noGrp="1"/>
          </p:cNvSpPr>
          <p:nvPr/>
        </p:nvSpPr>
        <p:spPr>
          <a:xfrm>
            <a:off x="9248775" y="5203248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Blocked</a:t>
            </a:r>
          </a:p>
        </p:txBody>
      </p:sp>
      <p:sp>
        <p:nvSpPr>
          <p:cNvPr id="63" name="appendix-cell-10-3">
            <a:extLst>
              <a:ext uri="{FF2B5EF4-FFF2-40B4-BE49-F238E27FC236}">
                <a16:creationId xmlns:a16="http://schemas.microsoft.com/office/drawing/2014/main" id="{7BB73608-F679-44F6-99C0-AB7C269045E8}"/>
              </a:ext>
            </a:extLst>
          </p:cNvPr>
          <p:cNvSpPr>
            <a:spLocks noGrp="1"/>
          </p:cNvSpPr>
          <p:nvPr/>
        </p:nvSpPr>
        <p:spPr>
          <a:xfrm>
            <a:off x="9248775" y="5597236"/>
            <a:ext cx="2457450" cy="317789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Blocked</a:t>
            </a:r>
          </a:p>
        </p:txBody>
      </p:sp>
      <p:sp>
        <p:nvSpPr>
          <p:cNvPr id="64" name="appendix-col-line-4">
            <a:extLst>
              <a:ext uri="{FF2B5EF4-FFF2-40B4-BE49-F238E27FC236}">
                <a16:creationId xmlns:a16="http://schemas.microsoft.com/office/drawing/2014/main" id="{F1E56B02-BE36-4E60-8881-626257CC16F3}"/>
              </a:ext>
            </a:extLst>
          </p:cNvPr>
          <p:cNvSpPr>
            <a:spLocks noGrp="1"/>
          </p:cNvSpPr>
          <p:nvPr/>
        </p:nvSpPr>
        <p:spPr>
          <a:xfrm>
            <a:off x="117919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7912547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appendix-title">
            <a:extLst>
              <a:ext uri="{FF2B5EF4-FFF2-40B4-BE49-F238E27FC236}">
                <a16:creationId xmlns:a16="http://schemas.microsoft.com/office/drawing/2014/main" id="{1BA8FBEC-B05D-46B7-849F-FE2DBFD3EA33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11391900" cy="609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27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Claim states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97B172A6-1F18-4780-B267-0A3A96D63228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A6</a:t>
            </a:r>
          </a:p>
        </p:txBody>
      </p:sp>
      <p:sp>
        <p:nvSpPr>
          <p:cNvPr id="3" name="appendix-subtitle">
            <a:extLst>
              <a:ext uri="{FF2B5EF4-FFF2-40B4-BE49-F238E27FC236}">
                <a16:creationId xmlns:a16="http://schemas.microsoft.com/office/drawing/2014/main" id="{7DC4E619-FA03-4CB4-9D85-C2D869174747}"/>
              </a:ext>
            </a:extLst>
          </p:cNvPr>
          <p:cNvSpPr>
            <a:spLocks noGrp="1"/>
          </p:cNvSpPr>
          <p:nvPr/>
        </p:nvSpPr>
        <p:spPr>
          <a:xfrm>
            <a:off x="400050" y="1000125"/>
            <a:ext cx="11334750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A stronger wording requires stronger evidence; planned work never becomes a result by repetition.</a:t>
            </a:r>
          </a:p>
        </p:txBody>
      </p:sp>
      <p:sp>
        <p:nvSpPr>
          <p:cNvPr id="4" name="appendix-row-line-0">
            <a:extLst>
              <a:ext uri="{FF2B5EF4-FFF2-40B4-BE49-F238E27FC236}">
                <a16:creationId xmlns:a16="http://schemas.microsoft.com/office/drawing/2014/main" id="{0889DF83-1F12-40C2-8209-F151DD068276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5" name="appendix-row-line-1">
            <a:extLst>
              <a:ext uri="{FF2B5EF4-FFF2-40B4-BE49-F238E27FC236}">
                <a16:creationId xmlns:a16="http://schemas.microsoft.com/office/drawing/2014/main" id="{1FF61227-F2B7-4D3F-A757-043BC3EDA95A}"/>
              </a:ext>
            </a:extLst>
          </p:cNvPr>
          <p:cNvSpPr>
            <a:spLocks noGrp="1"/>
          </p:cNvSpPr>
          <p:nvPr/>
        </p:nvSpPr>
        <p:spPr>
          <a:xfrm>
            <a:off x="400050" y="2341563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6" name="appendix-row-line-2">
            <a:extLst>
              <a:ext uri="{FF2B5EF4-FFF2-40B4-BE49-F238E27FC236}">
                <a16:creationId xmlns:a16="http://schemas.microsoft.com/office/drawing/2014/main" id="{41FD8547-7CD1-4415-AE60-78AC7BD35350}"/>
              </a:ext>
            </a:extLst>
          </p:cNvPr>
          <p:cNvSpPr>
            <a:spLocks noGrp="1"/>
          </p:cNvSpPr>
          <p:nvPr/>
        </p:nvSpPr>
        <p:spPr>
          <a:xfrm>
            <a:off x="400050" y="306387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7" name="appendix-row-line-3">
            <a:extLst>
              <a:ext uri="{FF2B5EF4-FFF2-40B4-BE49-F238E27FC236}">
                <a16:creationId xmlns:a16="http://schemas.microsoft.com/office/drawing/2014/main" id="{427635F5-072A-4B22-B784-8B838AD330C1}"/>
              </a:ext>
            </a:extLst>
          </p:cNvPr>
          <p:cNvSpPr>
            <a:spLocks noGrp="1"/>
          </p:cNvSpPr>
          <p:nvPr/>
        </p:nvSpPr>
        <p:spPr>
          <a:xfrm>
            <a:off x="400050" y="3786188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8" name="appendix-row-line-4">
            <a:extLst>
              <a:ext uri="{FF2B5EF4-FFF2-40B4-BE49-F238E27FC236}">
                <a16:creationId xmlns:a16="http://schemas.microsoft.com/office/drawing/2014/main" id="{ABEE104B-4E38-4882-A037-A0291EF505EB}"/>
              </a:ext>
            </a:extLst>
          </p:cNvPr>
          <p:cNvSpPr>
            <a:spLocks noGrp="1"/>
          </p:cNvSpPr>
          <p:nvPr/>
        </p:nvSpPr>
        <p:spPr>
          <a:xfrm>
            <a:off x="400050" y="450850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9" name="appendix-row-line-5">
            <a:extLst>
              <a:ext uri="{FF2B5EF4-FFF2-40B4-BE49-F238E27FC236}">
                <a16:creationId xmlns:a16="http://schemas.microsoft.com/office/drawing/2014/main" id="{1D4816A6-051D-4943-A880-737255E60C22}"/>
              </a:ext>
            </a:extLst>
          </p:cNvPr>
          <p:cNvSpPr>
            <a:spLocks noGrp="1"/>
          </p:cNvSpPr>
          <p:nvPr/>
        </p:nvSpPr>
        <p:spPr>
          <a:xfrm>
            <a:off x="400050" y="5230813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0" name="appendix-row-line-6">
            <a:extLst>
              <a:ext uri="{FF2B5EF4-FFF2-40B4-BE49-F238E27FC236}">
                <a16:creationId xmlns:a16="http://schemas.microsoft.com/office/drawing/2014/main" id="{7B1C8031-2E27-420C-937C-C9AA4F93EA83}"/>
              </a:ext>
            </a:extLst>
          </p:cNvPr>
          <p:cNvSpPr>
            <a:spLocks noGrp="1"/>
          </p:cNvSpPr>
          <p:nvPr/>
        </p:nvSpPr>
        <p:spPr>
          <a:xfrm>
            <a:off x="400050" y="595312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1" name="appendix-col-line-0">
            <a:extLst>
              <a:ext uri="{FF2B5EF4-FFF2-40B4-BE49-F238E27FC236}">
                <a16:creationId xmlns:a16="http://schemas.microsoft.com/office/drawing/2014/main" id="{70C84E45-B645-4682-B602-2E05AB66538D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2" name="appendix-cell-0-0">
            <a:extLst>
              <a:ext uri="{FF2B5EF4-FFF2-40B4-BE49-F238E27FC236}">
                <a16:creationId xmlns:a16="http://schemas.microsoft.com/office/drawing/2014/main" id="{E2B683C0-5022-4348-A506-73B9E31EE79B}"/>
              </a:ext>
            </a:extLst>
          </p:cNvPr>
          <p:cNvSpPr>
            <a:spLocks noGrp="1"/>
          </p:cNvSpPr>
          <p:nvPr/>
        </p:nvSpPr>
        <p:spPr>
          <a:xfrm>
            <a:off x="485775" y="1657350"/>
            <a:ext cx="192405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State</a:t>
            </a:r>
          </a:p>
        </p:txBody>
      </p:sp>
      <p:sp>
        <p:nvSpPr>
          <p:cNvPr id="13" name="appendix-cell-1-0">
            <a:extLst>
              <a:ext uri="{FF2B5EF4-FFF2-40B4-BE49-F238E27FC236}">
                <a16:creationId xmlns:a16="http://schemas.microsoft.com/office/drawing/2014/main" id="{4278A2AB-04FC-4813-A734-27454F492705}"/>
              </a:ext>
            </a:extLst>
          </p:cNvPr>
          <p:cNvSpPr>
            <a:spLocks noGrp="1"/>
          </p:cNvSpPr>
          <p:nvPr/>
        </p:nvSpPr>
        <p:spPr>
          <a:xfrm>
            <a:off x="485775" y="2379663"/>
            <a:ext cx="192405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Established</a:t>
            </a:r>
          </a:p>
        </p:txBody>
      </p:sp>
      <p:sp>
        <p:nvSpPr>
          <p:cNvPr id="14" name="appendix-cell-2-0">
            <a:extLst>
              <a:ext uri="{FF2B5EF4-FFF2-40B4-BE49-F238E27FC236}">
                <a16:creationId xmlns:a16="http://schemas.microsoft.com/office/drawing/2014/main" id="{D37ACA63-55A4-4EFE-B878-A6E8A20F96E8}"/>
              </a:ext>
            </a:extLst>
          </p:cNvPr>
          <p:cNvSpPr>
            <a:spLocks noGrp="1"/>
          </p:cNvSpPr>
          <p:nvPr/>
        </p:nvSpPr>
        <p:spPr>
          <a:xfrm>
            <a:off x="485775" y="3101975"/>
            <a:ext cx="192405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15" name="appendix-cell-3-0">
            <a:extLst>
              <a:ext uri="{FF2B5EF4-FFF2-40B4-BE49-F238E27FC236}">
                <a16:creationId xmlns:a16="http://schemas.microsoft.com/office/drawing/2014/main" id="{F677ECD3-8757-4DD8-B807-82BEF5CB2190}"/>
              </a:ext>
            </a:extLst>
          </p:cNvPr>
          <p:cNvSpPr>
            <a:spLocks noGrp="1"/>
          </p:cNvSpPr>
          <p:nvPr/>
        </p:nvSpPr>
        <p:spPr>
          <a:xfrm>
            <a:off x="485775" y="3824288"/>
            <a:ext cx="192405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6" name="appendix-cell-4-0">
            <a:extLst>
              <a:ext uri="{FF2B5EF4-FFF2-40B4-BE49-F238E27FC236}">
                <a16:creationId xmlns:a16="http://schemas.microsoft.com/office/drawing/2014/main" id="{59B2C3D7-7746-4E0A-89AF-E356B0DF7DCA}"/>
              </a:ext>
            </a:extLst>
          </p:cNvPr>
          <p:cNvSpPr>
            <a:spLocks noGrp="1"/>
          </p:cNvSpPr>
          <p:nvPr/>
        </p:nvSpPr>
        <p:spPr>
          <a:xfrm>
            <a:off x="485775" y="4546600"/>
            <a:ext cx="192405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Blocked</a:t>
            </a:r>
          </a:p>
        </p:txBody>
      </p:sp>
      <p:sp>
        <p:nvSpPr>
          <p:cNvPr id="17" name="appendix-cell-5-0">
            <a:extLst>
              <a:ext uri="{FF2B5EF4-FFF2-40B4-BE49-F238E27FC236}">
                <a16:creationId xmlns:a16="http://schemas.microsoft.com/office/drawing/2014/main" id="{E668BBDE-309C-4B08-B53B-DD9E566042D5}"/>
              </a:ext>
            </a:extLst>
          </p:cNvPr>
          <p:cNvSpPr>
            <a:spLocks noGrp="1"/>
          </p:cNvSpPr>
          <p:nvPr/>
        </p:nvSpPr>
        <p:spPr>
          <a:xfrm>
            <a:off x="485775" y="5268913"/>
            <a:ext cx="192405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Partner-dependent</a:t>
            </a:r>
          </a:p>
        </p:txBody>
      </p:sp>
      <p:sp>
        <p:nvSpPr>
          <p:cNvPr id="18" name="appendix-col-line-1">
            <a:extLst>
              <a:ext uri="{FF2B5EF4-FFF2-40B4-BE49-F238E27FC236}">
                <a16:creationId xmlns:a16="http://schemas.microsoft.com/office/drawing/2014/main" id="{64111298-65C0-447F-901A-AFF85CE27699}"/>
              </a:ext>
            </a:extLst>
          </p:cNvPr>
          <p:cNvSpPr>
            <a:spLocks noGrp="1"/>
          </p:cNvSpPr>
          <p:nvPr/>
        </p:nvSpPr>
        <p:spPr>
          <a:xfrm>
            <a:off x="24955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9" name="appendix-cell-0-1">
            <a:extLst>
              <a:ext uri="{FF2B5EF4-FFF2-40B4-BE49-F238E27FC236}">
                <a16:creationId xmlns:a16="http://schemas.microsoft.com/office/drawing/2014/main" id="{970E45EE-EAD2-4BC0-8233-CE7C9678E923}"/>
              </a:ext>
            </a:extLst>
          </p:cNvPr>
          <p:cNvSpPr>
            <a:spLocks noGrp="1"/>
          </p:cNvSpPr>
          <p:nvPr/>
        </p:nvSpPr>
        <p:spPr>
          <a:xfrm>
            <a:off x="2581275" y="1657350"/>
            <a:ext cx="392430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Use when</a:t>
            </a:r>
          </a:p>
        </p:txBody>
      </p:sp>
      <p:sp>
        <p:nvSpPr>
          <p:cNvPr id="20" name="appendix-cell-1-1">
            <a:extLst>
              <a:ext uri="{FF2B5EF4-FFF2-40B4-BE49-F238E27FC236}">
                <a16:creationId xmlns:a16="http://schemas.microsoft.com/office/drawing/2014/main" id="{568D75CE-6901-47C8-93D7-435359CED1AE}"/>
              </a:ext>
            </a:extLst>
          </p:cNvPr>
          <p:cNvSpPr>
            <a:spLocks noGrp="1"/>
          </p:cNvSpPr>
          <p:nvPr/>
        </p:nvSpPr>
        <p:spPr>
          <a:xfrm>
            <a:off x="2581275" y="2379663"/>
            <a:ext cx="392430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Narrow artifact/integrity fact is locally verified</a:t>
            </a:r>
          </a:p>
        </p:txBody>
      </p:sp>
      <p:sp>
        <p:nvSpPr>
          <p:cNvPr id="21" name="appendix-cell-2-1">
            <a:extLst>
              <a:ext uri="{FF2B5EF4-FFF2-40B4-BE49-F238E27FC236}">
                <a16:creationId xmlns:a16="http://schemas.microsoft.com/office/drawing/2014/main" id="{3B3F5DA5-6E4A-449D-8DA4-CE13393E46E9}"/>
              </a:ext>
            </a:extLst>
          </p:cNvPr>
          <p:cNvSpPr>
            <a:spLocks noGrp="1"/>
          </p:cNvSpPr>
          <p:nvPr/>
        </p:nvSpPr>
        <p:spPr>
          <a:xfrm>
            <a:off x="2581275" y="3101975"/>
            <a:ext cx="392430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Evidence exists but validation is incomplete</a:t>
            </a:r>
          </a:p>
        </p:txBody>
      </p:sp>
      <p:sp>
        <p:nvSpPr>
          <p:cNvPr id="22" name="appendix-cell-3-1">
            <a:extLst>
              <a:ext uri="{FF2B5EF4-FFF2-40B4-BE49-F238E27FC236}">
                <a16:creationId xmlns:a16="http://schemas.microsoft.com/office/drawing/2014/main" id="{28DC1306-CB0F-4F98-8F66-CB5506D99F49}"/>
              </a:ext>
            </a:extLst>
          </p:cNvPr>
          <p:cNvSpPr>
            <a:spLocks noGrp="1"/>
          </p:cNvSpPr>
          <p:nvPr/>
        </p:nvSpPr>
        <p:spPr>
          <a:xfrm>
            <a:off x="2581275" y="3824288"/>
            <a:ext cx="392430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Protocol or deliverable has not run</a:t>
            </a:r>
          </a:p>
        </p:txBody>
      </p:sp>
      <p:sp>
        <p:nvSpPr>
          <p:cNvPr id="23" name="appendix-cell-4-1">
            <a:extLst>
              <a:ext uri="{FF2B5EF4-FFF2-40B4-BE49-F238E27FC236}">
                <a16:creationId xmlns:a16="http://schemas.microsoft.com/office/drawing/2014/main" id="{E38E4358-90BE-406E-B685-6295E160F2AF}"/>
              </a:ext>
            </a:extLst>
          </p:cNvPr>
          <p:cNvSpPr>
            <a:spLocks noGrp="1"/>
          </p:cNvSpPr>
          <p:nvPr/>
        </p:nvSpPr>
        <p:spPr>
          <a:xfrm>
            <a:off x="2581275" y="4546600"/>
            <a:ext cx="392430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required prerequisite is absent</a:t>
            </a:r>
          </a:p>
        </p:txBody>
      </p:sp>
      <p:sp>
        <p:nvSpPr>
          <p:cNvPr id="24" name="appendix-cell-5-1">
            <a:extLst>
              <a:ext uri="{FF2B5EF4-FFF2-40B4-BE49-F238E27FC236}">
                <a16:creationId xmlns:a16="http://schemas.microsoft.com/office/drawing/2014/main" id="{529B86B5-844A-4E81-B2C7-F4B888335F68}"/>
              </a:ext>
            </a:extLst>
          </p:cNvPr>
          <p:cNvSpPr>
            <a:spLocks noGrp="1"/>
          </p:cNvSpPr>
          <p:nvPr/>
        </p:nvSpPr>
        <p:spPr>
          <a:xfrm>
            <a:off x="2581275" y="5268913"/>
            <a:ext cx="392430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External people/access/approval control progress</a:t>
            </a:r>
          </a:p>
        </p:txBody>
      </p:sp>
      <p:sp>
        <p:nvSpPr>
          <p:cNvPr id="25" name="appendix-col-line-2">
            <a:extLst>
              <a:ext uri="{FF2B5EF4-FFF2-40B4-BE49-F238E27FC236}">
                <a16:creationId xmlns:a16="http://schemas.microsoft.com/office/drawing/2014/main" id="{9417589A-73FC-4A9E-B1AF-6686F9CE1304}"/>
              </a:ext>
            </a:extLst>
          </p:cNvPr>
          <p:cNvSpPr>
            <a:spLocks noGrp="1"/>
          </p:cNvSpPr>
          <p:nvPr/>
        </p:nvSpPr>
        <p:spPr>
          <a:xfrm>
            <a:off x="659130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26" name="appendix-cell-0-2">
            <a:extLst>
              <a:ext uri="{FF2B5EF4-FFF2-40B4-BE49-F238E27FC236}">
                <a16:creationId xmlns:a16="http://schemas.microsoft.com/office/drawing/2014/main" id="{C88B0C6E-C504-4D68-B70B-5CE949BA35BD}"/>
              </a:ext>
            </a:extLst>
          </p:cNvPr>
          <p:cNvSpPr>
            <a:spLocks noGrp="1"/>
          </p:cNvSpPr>
          <p:nvPr/>
        </p:nvSpPr>
        <p:spPr>
          <a:xfrm>
            <a:off x="6677025" y="1657350"/>
            <a:ext cx="502920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Example in this package</a:t>
            </a:r>
          </a:p>
        </p:txBody>
      </p:sp>
      <p:sp>
        <p:nvSpPr>
          <p:cNvPr id="27" name="appendix-cell-1-2">
            <a:extLst>
              <a:ext uri="{FF2B5EF4-FFF2-40B4-BE49-F238E27FC236}">
                <a16:creationId xmlns:a16="http://schemas.microsoft.com/office/drawing/2014/main" id="{40508876-3950-4364-AF1F-33DEF8FB7688}"/>
              </a:ext>
            </a:extLst>
          </p:cNvPr>
          <p:cNvSpPr>
            <a:spLocks noGrp="1"/>
          </p:cNvSpPr>
          <p:nvPr/>
        </p:nvSpPr>
        <p:spPr>
          <a:xfrm>
            <a:off x="6677025" y="2379663"/>
            <a:ext cx="502920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44 controls captured; calendar accepted</a:t>
            </a:r>
          </a:p>
        </p:txBody>
      </p:sp>
      <p:sp>
        <p:nvSpPr>
          <p:cNvPr id="28" name="appendix-cell-2-2">
            <a:extLst>
              <a:ext uri="{FF2B5EF4-FFF2-40B4-BE49-F238E27FC236}">
                <a16:creationId xmlns:a16="http://schemas.microsoft.com/office/drawing/2014/main" id="{AC08FAAB-8FBD-45F4-9A7D-D8B92DC4EDD0}"/>
              </a:ext>
            </a:extLst>
          </p:cNvPr>
          <p:cNvSpPr>
            <a:spLocks noGrp="1"/>
          </p:cNvSpPr>
          <p:nvPr/>
        </p:nvSpPr>
        <p:spPr>
          <a:xfrm>
            <a:off x="6677025" y="3101975"/>
            <a:ext cx="502920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Novelty and doctoral adequacy</a:t>
            </a:r>
          </a:p>
        </p:txBody>
      </p:sp>
      <p:sp>
        <p:nvSpPr>
          <p:cNvPr id="29" name="appendix-cell-3-2">
            <a:extLst>
              <a:ext uri="{FF2B5EF4-FFF2-40B4-BE49-F238E27FC236}">
                <a16:creationId xmlns:a16="http://schemas.microsoft.com/office/drawing/2014/main" id="{7F4121D4-AE40-4B77-BED3-CDCB8EF1E7BE}"/>
              </a:ext>
            </a:extLst>
          </p:cNvPr>
          <p:cNvSpPr>
            <a:spLocks noGrp="1"/>
          </p:cNvSpPr>
          <p:nvPr/>
        </p:nvSpPr>
        <p:spPr>
          <a:xfrm>
            <a:off x="6677025" y="3824288"/>
            <a:ext cx="502920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Scientific experiments and proposal milestones</a:t>
            </a:r>
          </a:p>
        </p:txBody>
      </p:sp>
      <p:sp>
        <p:nvSpPr>
          <p:cNvPr id="30" name="appendix-cell-4-2">
            <a:extLst>
              <a:ext uri="{FF2B5EF4-FFF2-40B4-BE49-F238E27FC236}">
                <a16:creationId xmlns:a16="http://schemas.microsoft.com/office/drawing/2014/main" id="{42F12078-2E61-462A-A3CD-3A3305431091}"/>
              </a:ext>
            </a:extLst>
          </p:cNvPr>
          <p:cNvSpPr>
            <a:spLocks noGrp="1"/>
          </p:cNvSpPr>
          <p:nvPr/>
        </p:nvSpPr>
        <p:spPr>
          <a:xfrm>
            <a:off x="6677025" y="4546600"/>
            <a:ext cx="502920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EXP-005 labels; medical gates</a:t>
            </a:r>
          </a:p>
        </p:txBody>
      </p:sp>
      <p:sp>
        <p:nvSpPr>
          <p:cNvPr id="31" name="appendix-cell-5-2">
            <a:extLst>
              <a:ext uri="{FF2B5EF4-FFF2-40B4-BE49-F238E27FC236}">
                <a16:creationId xmlns:a16="http://schemas.microsoft.com/office/drawing/2014/main" id="{DEE3E829-FA4F-454A-989B-28AE097C90DD}"/>
              </a:ext>
            </a:extLst>
          </p:cNvPr>
          <p:cNvSpPr>
            <a:spLocks noGrp="1"/>
          </p:cNvSpPr>
          <p:nvPr/>
        </p:nvSpPr>
        <p:spPr>
          <a:xfrm>
            <a:off x="6677025" y="5268913"/>
            <a:ext cx="5029200" cy="646113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Clalit route and clinical feasibility</a:t>
            </a:r>
          </a:p>
        </p:txBody>
      </p:sp>
      <p:sp>
        <p:nvSpPr>
          <p:cNvPr id="32" name="appendix-col-line-3">
            <a:extLst>
              <a:ext uri="{FF2B5EF4-FFF2-40B4-BE49-F238E27FC236}">
                <a16:creationId xmlns:a16="http://schemas.microsoft.com/office/drawing/2014/main" id="{48072D5B-2358-4F5E-B1EF-0E0765714D53}"/>
              </a:ext>
            </a:extLst>
          </p:cNvPr>
          <p:cNvSpPr>
            <a:spLocks noGrp="1"/>
          </p:cNvSpPr>
          <p:nvPr/>
        </p:nvSpPr>
        <p:spPr>
          <a:xfrm>
            <a:off x="117919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34" name="TextBox 33"/>
          <p:cNvSpPr txBox="1"/>
          <p:nvPr/>
        </p:nvSpPr>
        <p:spPr>
          <a:xfrm>
            <a:off x="400050" y="6000750"/>
            <a:ext cx="113919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75" b="0">
                <a:solidFill>
                  <a:srgbClr val="5D6670"/>
                </a:solidFill>
                <a:latin typeface="Arial"/>
              </a:rPr>
              <a:t>Control status used throughout the appendix tables and the Slide 8 bar chart — Verified · Awaiting · Partial · Open · Blocked — is a separate vocabulary from the Claim states above; see iris-requirements-closure-audit.md.</a:t>
            </a:r>
          </a:p>
        </p:txBody>
      </p:sp>
    </p:spTree>
    <p:extLst>
      <p:ext uri="{BB962C8B-B14F-4D97-AF65-F5344CB8AC3E}">
        <p14:creationId xmlns:p14="http://schemas.microsoft.com/office/powerpoint/2010/main" val="1740799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title">
            <a:extLst>
              <a:ext uri="{FF2B5EF4-FFF2-40B4-BE49-F238E27FC236}">
                <a16:creationId xmlns:a16="http://schemas.microsoft.com/office/drawing/2014/main" id="{7E53BFED-FA78-4D5F-B1A5-B4A56F1B681D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000125"/>
          </a:xfrm>
          <a:prstGeom prst="rect">
            <a:avLst/>
          </a:prstGeom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25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1,195 ASR segments exist; full-timeline and human review remain open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7D27B12C-D64C-48F5-83B9-62D7CFB0442F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A7</a:t>
            </a:r>
          </a:p>
        </p:txBody>
      </p:sp>
      <p:sp>
        <p:nvSpPr>
          <p:cNvPr id="3" name="intro">
            <a:extLst>
              <a:ext uri="{FF2B5EF4-FFF2-40B4-BE49-F238E27FC236}">
                <a16:creationId xmlns:a16="http://schemas.microsoft.com/office/drawing/2014/main" id="{89622410-9DCE-4AB3-88E7-2716139803BD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11144250" cy="8763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ASR intervals cover 83.75% of the 46:26.283 media. The 932 internal gaps plus 2.333 s lead/tail require disposition; translation and speaker attribution remain unverified.</a:t>
            </a:r>
          </a:p>
        </p:txBody>
      </p:sp>
      <p:sp>
        <p:nvSpPr>
          <p:cNvPr id="4" name="metric-panel-1">
            <a:extLst>
              <a:ext uri="{FF2B5EF4-FFF2-40B4-BE49-F238E27FC236}">
                <a16:creationId xmlns:a16="http://schemas.microsoft.com/office/drawing/2014/main" id="{3094BC48-B728-4351-BE87-48D16E62D105}"/>
              </a:ext>
            </a:extLst>
          </p:cNvPr>
          <p:cNvSpPr>
            <a:spLocks noGrp="1"/>
          </p:cNvSpPr>
          <p:nvPr/>
        </p:nvSpPr>
        <p:spPr>
          <a:xfrm>
            <a:off x="400050" y="2571750"/>
            <a:ext cx="3571875" cy="3143250"/>
          </a:xfrm>
          <a:prstGeom prst="roundRect">
            <a:avLst>
              <a:gd name="adj" fmla="val 2424"/>
            </a:avLst>
          </a:prstGeom>
          <a:solidFill>
            <a:srgbClr val="D8EFFB"/>
          </a:solidFill>
          <a:ln w="0">
            <a:solidFill>
              <a:srgbClr val="D8EFFB"/>
            </a:solidFill>
            <a:prstDash val="solid"/>
          </a:ln>
        </p:spPr>
      </p:sp>
      <p:sp>
        <p:nvSpPr>
          <p:cNvPr id="5" name="metric-1">
            <a:extLst>
              <a:ext uri="{FF2B5EF4-FFF2-40B4-BE49-F238E27FC236}">
                <a16:creationId xmlns:a16="http://schemas.microsoft.com/office/drawing/2014/main" id="{CFFD0823-2E97-4A28-A2F2-D389462C416D}"/>
              </a:ext>
            </a:extLst>
          </p:cNvPr>
          <p:cNvSpPr>
            <a:spLocks noGrp="1"/>
          </p:cNvSpPr>
          <p:nvPr/>
        </p:nvSpPr>
        <p:spPr>
          <a:xfrm>
            <a:off x="685800" y="3000375"/>
            <a:ext cx="3000375" cy="1047750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1,195</a:t>
            </a:r>
          </a:p>
        </p:txBody>
      </p:sp>
      <p:sp>
        <p:nvSpPr>
          <p:cNvPr id="6" name="metric-copy-1">
            <a:extLst>
              <a:ext uri="{FF2B5EF4-FFF2-40B4-BE49-F238E27FC236}">
                <a16:creationId xmlns:a16="http://schemas.microsoft.com/office/drawing/2014/main" id="{4D2068A1-9C6F-4FF9-9FB4-2BE65432A888}"/>
              </a:ext>
            </a:extLst>
          </p:cNvPr>
          <p:cNvSpPr>
            <a:spLocks noGrp="1"/>
          </p:cNvSpPr>
          <p:nvPr/>
        </p:nvSpPr>
        <p:spPr>
          <a:xfrm>
            <a:off x="685800" y="4238625"/>
            <a:ext cx="3000375" cy="11906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ASR segments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Hebrew ASR + machine English + timestamp anchors</a:t>
            </a:r>
          </a:p>
        </p:txBody>
      </p:sp>
      <p:sp>
        <p:nvSpPr>
          <p:cNvPr id="7" name="metric-panel-2">
            <a:extLst>
              <a:ext uri="{FF2B5EF4-FFF2-40B4-BE49-F238E27FC236}">
                <a16:creationId xmlns:a16="http://schemas.microsoft.com/office/drawing/2014/main" id="{7CAD8C69-9662-448E-87FE-C5F8730F3C6F}"/>
              </a:ext>
            </a:extLst>
          </p:cNvPr>
          <p:cNvSpPr>
            <a:spLocks noGrp="1"/>
          </p:cNvSpPr>
          <p:nvPr/>
        </p:nvSpPr>
        <p:spPr>
          <a:xfrm>
            <a:off x="4314825" y="2571750"/>
            <a:ext cx="3571875" cy="3143250"/>
          </a:xfrm>
          <a:prstGeom prst="roundRect">
            <a:avLst>
              <a:gd name="adj" fmla="val 2424"/>
            </a:avLst>
          </a:prstGeom>
          <a:solidFill>
            <a:srgbClr val="F2F2F2"/>
          </a:solidFill>
          <a:ln w="0">
            <a:solidFill>
              <a:srgbClr val="F2F2F2"/>
            </a:solidFill>
            <a:prstDash val="solid"/>
          </a:ln>
        </p:spPr>
      </p:sp>
      <p:sp>
        <p:nvSpPr>
          <p:cNvPr id="8" name="metric-2">
            <a:extLst>
              <a:ext uri="{FF2B5EF4-FFF2-40B4-BE49-F238E27FC236}">
                <a16:creationId xmlns:a16="http://schemas.microsoft.com/office/drawing/2014/main" id="{054B6AC5-C3D2-41B3-B678-B855CAACDE79}"/>
              </a:ext>
            </a:extLst>
          </p:cNvPr>
          <p:cNvSpPr>
            <a:spLocks noGrp="1"/>
          </p:cNvSpPr>
          <p:nvPr/>
        </p:nvSpPr>
        <p:spPr>
          <a:xfrm>
            <a:off x="4600575" y="3000375"/>
            <a:ext cx="3000375" cy="1047750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2C94C"/>
                </a:solidFill>
                <a:latin typeface="Arial"/>
                <a:ea typeface="Arial"/>
                <a:cs typeface="Arial"/>
              </a:rPr>
              <a:t>910</a:t>
            </a:r>
          </a:p>
        </p:txBody>
      </p:sp>
      <p:sp>
        <p:nvSpPr>
          <p:cNvPr id="9" name="metric-copy-2">
            <a:extLst>
              <a:ext uri="{FF2B5EF4-FFF2-40B4-BE49-F238E27FC236}">
                <a16:creationId xmlns:a16="http://schemas.microsoft.com/office/drawing/2014/main" id="{595404C6-DFA8-48A2-B028-0DB4B4A02E6D}"/>
              </a:ext>
            </a:extLst>
          </p:cNvPr>
          <p:cNvSpPr>
            <a:spLocks noGrp="1"/>
          </p:cNvSpPr>
          <p:nvPr/>
        </p:nvSpPr>
        <p:spPr>
          <a:xfrm>
            <a:off x="4600575" y="4238625"/>
            <a:ext cx="3000375" cy="11906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currently control-linked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285 segments and all media gaps need human disposition</a:t>
            </a:r>
          </a:p>
        </p:txBody>
      </p:sp>
      <p:sp>
        <p:nvSpPr>
          <p:cNvPr id="10" name="metric-panel-3">
            <a:extLst>
              <a:ext uri="{FF2B5EF4-FFF2-40B4-BE49-F238E27FC236}">
                <a16:creationId xmlns:a16="http://schemas.microsoft.com/office/drawing/2014/main" id="{D18F86E4-DD0E-4E01-B0F8-A57A1A3FAFAD}"/>
              </a:ext>
            </a:extLst>
          </p:cNvPr>
          <p:cNvSpPr>
            <a:spLocks noGrp="1"/>
          </p:cNvSpPr>
          <p:nvPr/>
        </p:nvSpPr>
        <p:spPr>
          <a:xfrm>
            <a:off x="8229600" y="2571750"/>
            <a:ext cx="3571875" cy="3143250"/>
          </a:xfrm>
          <a:prstGeom prst="roundRect">
            <a:avLst>
              <a:gd name="adj" fmla="val 2424"/>
            </a:avLst>
          </a:prstGeom>
          <a:solidFill>
            <a:srgbClr val="F2F2F2"/>
          </a:solidFill>
          <a:ln w="0">
            <a:solidFill>
              <a:srgbClr val="F2F2F2"/>
            </a:solidFill>
            <a:prstDash val="solid"/>
          </a:ln>
        </p:spPr>
      </p:sp>
      <p:sp>
        <p:nvSpPr>
          <p:cNvPr id="11" name="metric-3">
            <a:extLst>
              <a:ext uri="{FF2B5EF4-FFF2-40B4-BE49-F238E27FC236}">
                <a16:creationId xmlns:a16="http://schemas.microsoft.com/office/drawing/2014/main" id="{5E18ACEC-3E94-4E8A-84AE-62AA8018D33A}"/>
              </a:ext>
            </a:extLst>
          </p:cNvPr>
          <p:cNvSpPr>
            <a:spLocks noGrp="1"/>
          </p:cNvSpPr>
          <p:nvPr/>
        </p:nvSpPr>
        <p:spPr>
          <a:xfrm>
            <a:off x="8515350" y="3000375"/>
            <a:ext cx="3000375" cy="1047750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D95D5D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2" name="metric-copy-3">
            <a:extLst>
              <a:ext uri="{FF2B5EF4-FFF2-40B4-BE49-F238E27FC236}">
                <a16:creationId xmlns:a16="http://schemas.microsoft.com/office/drawing/2014/main" id="{1706166C-41BD-4622-9820-EF8DB22EF864}"/>
              </a:ext>
            </a:extLst>
          </p:cNvPr>
          <p:cNvSpPr>
            <a:spLocks noGrp="1"/>
          </p:cNvSpPr>
          <p:nvPr/>
        </p:nvSpPr>
        <p:spPr>
          <a:xfrm>
            <a:off x="8515350" y="4238625"/>
            <a:ext cx="3000375" cy="11906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dual-reviewed rows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Reviewer A, Reviewer B and adjudication remain pending</a:t>
            </a:r>
          </a:p>
        </p:txBody>
      </p:sp>
    </p:spTree>
    <p:extLst>
      <p:ext uri="{BB962C8B-B14F-4D97-AF65-F5344CB8AC3E}">
        <p14:creationId xmlns:p14="http://schemas.microsoft.com/office/powerpoint/2010/main" val="10755772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appendix-title">
            <a:extLst>
              <a:ext uri="{FF2B5EF4-FFF2-40B4-BE49-F238E27FC236}">
                <a16:creationId xmlns:a16="http://schemas.microsoft.com/office/drawing/2014/main" id="{D0327214-E478-46B1-9E8D-95B821742417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11391900" cy="609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27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Appendix · Scientific experiments align to the three studies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F48A052B-4467-4567-90C4-20D27BCD765E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A8</a:t>
            </a:r>
          </a:p>
        </p:txBody>
      </p:sp>
      <p:sp>
        <p:nvSpPr>
          <p:cNvPr id="3" name="appendix-subtitle">
            <a:extLst>
              <a:ext uri="{FF2B5EF4-FFF2-40B4-BE49-F238E27FC236}">
                <a16:creationId xmlns:a16="http://schemas.microsoft.com/office/drawing/2014/main" id="{7DEB5409-8E36-458D-8634-B0FDB68D7D19}"/>
              </a:ext>
            </a:extLst>
          </p:cNvPr>
          <p:cNvSpPr>
            <a:spLocks noGrp="1"/>
          </p:cNvSpPr>
          <p:nvPr/>
        </p:nvSpPr>
        <p:spPr>
          <a:xfrm>
            <a:off x="400050" y="1000125"/>
            <a:ext cx="11334750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These are protocols and crosswalks—not completed outcomes.</a:t>
            </a:r>
          </a:p>
        </p:txBody>
      </p:sp>
      <p:sp>
        <p:nvSpPr>
          <p:cNvPr id="4" name="appendix-row-line-0">
            <a:extLst>
              <a:ext uri="{FF2B5EF4-FFF2-40B4-BE49-F238E27FC236}">
                <a16:creationId xmlns:a16="http://schemas.microsoft.com/office/drawing/2014/main" id="{A1487039-E3AE-4713-9060-ACCE95C5AFF9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5" name="appendix-row-line-1">
            <a:extLst>
              <a:ext uri="{FF2B5EF4-FFF2-40B4-BE49-F238E27FC236}">
                <a16:creationId xmlns:a16="http://schemas.microsoft.com/office/drawing/2014/main" id="{7E6E44BD-B5EC-4BF2-A3E5-2FFC75C2FC88}"/>
              </a:ext>
            </a:extLst>
          </p:cNvPr>
          <p:cNvSpPr>
            <a:spLocks noGrp="1"/>
          </p:cNvSpPr>
          <p:nvPr/>
        </p:nvSpPr>
        <p:spPr>
          <a:xfrm>
            <a:off x="400050" y="223837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6" name="appendix-row-line-2">
            <a:extLst>
              <a:ext uri="{FF2B5EF4-FFF2-40B4-BE49-F238E27FC236}">
                <a16:creationId xmlns:a16="http://schemas.microsoft.com/office/drawing/2014/main" id="{0D2D6871-179B-4F9D-B11C-AD1DD899B700}"/>
              </a:ext>
            </a:extLst>
          </p:cNvPr>
          <p:cNvSpPr>
            <a:spLocks noGrp="1"/>
          </p:cNvSpPr>
          <p:nvPr/>
        </p:nvSpPr>
        <p:spPr>
          <a:xfrm>
            <a:off x="400050" y="285750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7" name="appendix-row-line-3">
            <a:extLst>
              <a:ext uri="{FF2B5EF4-FFF2-40B4-BE49-F238E27FC236}">
                <a16:creationId xmlns:a16="http://schemas.microsoft.com/office/drawing/2014/main" id="{F5EB9CA6-71AC-4DBB-9B17-B1C0B5367321}"/>
              </a:ext>
            </a:extLst>
          </p:cNvPr>
          <p:cNvSpPr>
            <a:spLocks noGrp="1"/>
          </p:cNvSpPr>
          <p:nvPr/>
        </p:nvSpPr>
        <p:spPr>
          <a:xfrm>
            <a:off x="400050" y="347662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8" name="appendix-row-line-4">
            <a:extLst>
              <a:ext uri="{FF2B5EF4-FFF2-40B4-BE49-F238E27FC236}">
                <a16:creationId xmlns:a16="http://schemas.microsoft.com/office/drawing/2014/main" id="{464ED57F-C76B-4282-B904-A058D8055DB7}"/>
              </a:ext>
            </a:extLst>
          </p:cNvPr>
          <p:cNvSpPr>
            <a:spLocks noGrp="1"/>
          </p:cNvSpPr>
          <p:nvPr/>
        </p:nvSpPr>
        <p:spPr>
          <a:xfrm>
            <a:off x="400050" y="409575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9" name="appendix-row-line-5">
            <a:extLst>
              <a:ext uri="{FF2B5EF4-FFF2-40B4-BE49-F238E27FC236}">
                <a16:creationId xmlns:a16="http://schemas.microsoft.com/office/drawing/2014/main" id="{AB1BCF20-7276-4635-A726-B607186D42C6}"/>
              </a:ext>
            </a:extLst>
          </p:cNvPr>
          <p:cNvSpPr>
            <a:spLocks noGrp="1"/>
          </p:cNvSpPr>
          <p:nvPr/>
        </p:nvSpPr>
        <p:spPr>
          <a:xfrm>
            <a:off x="400050" y="471487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0" name="appendix-row-line-6">
            <a:extLst>
              <a:ext uri="{FF2B5EF4-FFF2-40B4-BE49-F238E27FC236}">
                <a16:creationId xmlns:a16="http://schemas.microsoft.com/office/drawing/2014/main" id="{E6BD91CC-2F77-435A-9F64-14522197889F}"/>
              </a:ext>
            </a:extLst>
          </p:cNvPr>
          <p:cNvSpPr>
            <a:spLocks noGrp="1"/>
          </p:cNvSpPr>
          <p:nvPr/>
        </p:nvSpPr>
        <p:spPr>
          <a:xfrm>
            <a:off x="400050" y="533400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1" name="appendix-row-line-7">
            <a:extLst>
              <a:ext uri="{FF2B5EF4-FFF2-40B4-BE49-F238E27FC236}">
                <a16:creationId xmlns:a16="http://schemas.microsoft.com/office/drawing/2014/main" id="{2B275E66-B63F-47BD-A337-BFAC891C9840}"/>
              </a:ext>
            </a:extLst>
          </p:cNvPr>
          <p:cNvSpPr>
            <a:spLocks noGrp="1"/>
          </p:cNvSpPr>
          <p:nvPr/>
        </p:nvSpPr>
        <p:spPr>
          <a:xfrm>
            <a:off x="400050" y="595312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2" name="appendix-col-line-0">
            <a:extLst>
              <a:ext uri="{FF2B5EF4-FFF2-40B4-BE49-F238E27FC236}">
                <a16:creationId xmlns:a16="http://schemas.microsoft.com/office/drawing/2014/main" id="{B9DEB2E9-665C-4328-AFE7-AB0BD8981213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3" name="appendix-cell-0-0">
            <a:extLst>
              <a:ext uri="{FF2B5EF4-FFF2-40B4-BE49-F238E27FC236}">
                <a16:creationId xmlns:a16="http://schemas.microsoft.com/office/drawing/2014/main" id="{D778C276-C728-418E-A1C3-980112CA1F1E}"/>
              </a:ext>
            </a:extLst>
          </p:cNvPr>
          <p:cNvSpPr>
            <a:spLocks noGrp="1"/>
          </p:cNvSpPr>
          <p:nvPr/>
        </p:nvSpPr>
        <p:spPr>
          <a:xfrm>
            <a:off x="485775" y="1657350"/>
            <a:ext cx="1543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 label</a:t>
            </a:r>
          </a:p>
        </p:txBody>
      </p:sp>
      <p:sp>
        <p:nvSpPr>
          <p:cNvPr id="14" name="appendix-cell-1-0">
            <a:extLst>
              <a:ext uri="{FF2B5EF4-FFF2-40B4-BE49-F238E27FC236}">
                <a16:creationId xmlns:a16="http://schemas.microsoft.com/office/drawing/2014/main" id="{916589D4-53D4-4317-92CD-E677A559778A}"/>
              </a:ext>
            </a:extLst>
          </p:cNvPr>
          <p:cNvSpPr>
            <a:spLocks noGrp="1"/>
          </p:cNvSpPr>
          <p:nvPr/>
        </p:nvSpPr>
        <p:spPr>
          <a:xfrm>
            <a:off x="485775" y="2276475"/>
            <a:ext cx="1543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SCI-EXP-01</a:t>
            </a:r>
          </a:p>
        </p:txBody>
      </p:sp>
      <p:sp>
        <p:nvSpPr>
          <p:cNvPr id="15" name="appendix-cell-2-0">
            <a:extLst>
              <a:ext uri="{FF2B5EF4-FFF2-40B4-BE49-F238E27FC236}">
                <a16:creationId xmlns:a16="http://schemas.microsoft.com/office/drawing/2014/main" id="{62AE77F1-024A-40D0-94E5-C7A919066BCB}"/>
              </a:ext>
            </a:extLst>
          </p:cNvPr>
          <p:cNvSpPr>
            <a:spLocks noGrp="1"/>
          </p:cNvSpPr>
          <p:nvPr/>
        </p:nvSpPr>
        <p:spPr>
          <a:xfrm>
            <a:off x="485775" y="2895600"/>
            <a:ext cx="1543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SCI-EXP-02</a:t>
            </a:r>
          </a:p>
        </p:txBody>
      </p:sp>
      <p:sp>
        <p:nvSpPr>
          <p:cNvPr id="16" name="appendix-cell-3-0">
            <a:extLst>
              <a:ext uri="{FF2B5EF4-FFF2-40B4-BE49-F238E27FC236}">
                <a16:creationId xmlns:a16="http://schemas.microsoft.com/office/drawing/2014/main" id="{84B8BE6B-378D-4D62-B3A0-AB8ACE19DAED}"/>
              </a:ext>
            </a:extLst>
          </p:cNvPr>
          <p:cNvSpPr>
            <a:spLocks noGrp="1"/>
          </p:cNvSpPr>
          <p:nvPr/>
        </p:nvSpPr>
        <p:spPr>
          <a:xfrm>
            <a:off x="485775" y="3514725"/>
            <a:ext cx="1543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SCI-EXP-03</a:t>
            </a:r>
          </a:p>
        </p:txBody>
      </p:sp>
      <p:sp>
        <p:nvSpPr>
          <p:cNvPr id="17" name="appendix-cell-4-0">
            <a:extLst>
              <a:ext uri="{FF2B5EF4-FFF2-40B4-BE49-F238E27FC236}">
                <a16:creationId xmlns:a16="http://schemas.microsoft.com/office/drawing/2014/main" id="{27470BD9-89DE-42CA-A2C8-D56E80D77A73}"/>
              </a:ext>
            </a:extLst>
          </p:cNvPr>
          <p:cNvSpPr>
            <a:spLocks noGrp="1"/>
          </p:cNvSpPr>
          <p:nvPr/>
        </p:nvSpPr>
        <p:spPr>
          <a:xfrm>
            <a:off x="485775" y="4133850"/>
            <a:ext cx="1543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SCI-EXP-04</a:t>
            </a:r>
          </a:p>
        </p:txBody>
      </p:sp>
      <p:sp>
        <p:nvSpPr>
          <p:cNvPr id="18" name="appendix-cell-5-0">
            <a:extLst>
              <a:ext uri="{FF2B5EF4-FFF2-40B4-BE49-F238E27FC236}">
                <a16:creationId xmlns:a16="http://schemas.microsoft.com/office/drawing/2014/main" id="{CCDDAE71-DFD5-4661-B4A5-439BA1909A44}"/>
              </a:ext>
            </a:extLst>
          </p:cNvPr>
          <p:cNvSpPr>
            <a:spLocks noGrp="1"/>
          </p:cNvSpPr>
          <p:nvPr/>
        </p:nvSpPr>
        <p:spPr>
          <a:xfrm>
            <a:off x="485775" y="4752975"/>
            <a:ext cx="1543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SCI-EXP-05</a:t>
            </a:r>
          </a:p>
        </p:txBody>
      </p:sp>
      <p:sp>
        <p:nvSpPr>
          <p:cNvPr id="19" name="appendix-cell-6-0">
            <a:extLst>
              <a:ext uri="{FF2B5EF4-FFF2-40B4-BE49-F238E27FC236}">
                <a16:creationId xmlns:a16="http://schemas.microsoft.com/office/drawing/2014/main" id="{ED3F9C93-895A-4600-B230-0D98FE98AD2A}"/>
              </a:ext>
            </a:extLst>
          </p:cNvPr>
          <p:cNvSpPr>
            <a:spLocks noGrp="1"/>
          </p:cNvSpPr>
          <p:nvPr/>
        </p:nvSpPr>
        <p:spPr>
          <a:xfrm>
            <a:off x="485775" y="5372100"/>
            <a:ext cx="1543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SCI-EXP-06</a:t>
            </a:r>
          </a:p>
        </p:txBody>
      </p:sp>
      <p:sp>
        <p:nvSpPr>
          <p:cNvPr id="20" name="appendix-col-line-1">
            <a:extLst>
              <a:ext uri="{FF2B5EF4-FFF2-40B4-BE49-F238E27FC236}">
                <a16:creationId xmlns:a16="http://schemas.microsoft.com/office/drawing/2014/main" id="{CE31CB01-4843-4027-B2D9-7890CD40841A}"/>
              </a:ext>
            </a:extLst>
          </p:cNvPr>
          <p:cNvSpPr>
            <a:spLocks noGrp="1"/>
          </p:cNvSpPr>
          <p:nvPr/>
        </p:nvSpPr>
        <p:spPr>
          <a:xfrm>
            <a:off x="21145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21" name="appendix-cell-0-1">
            <a:extLst>
              <a:ext uri="{FF2B5EF4-FFF2-40B4-BE49-F238E27FC236}">
                <a16:creationId xmlns:a16="http://schemas.microsoft.com/office/drawing/2014/main" id="{A292938A-6FAD-47FF-ADDB-9910225A2C7E}"/>
              </a:ext>
            </a:extLst>
          </p:cNvPr>
          <p:cNvSpPr>
            <a:spLocks noGrp="1"/>
          </p:cNvSpPr>
          <p:nvPr/>
        </p:nvSpPr>
        <p:spPr>
          <a:xfrm>
            <a:off x="2200275" y="1657350"/>
            <a:ext cx="39243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Canonical experiment route</a:t>
            </a:r>
          </a:p>
        </p:txBody>
      </p:sp>
      <p:sp>
        <p:nvSpPr>
          <p:cNvPr id="22" name="appendix-cell-1-1">
            <a:extLst>
              <a:ext uri="{FF2B5EF4-FFF2-40B4-BE49-F238E27FC236}">
                <a16:creationId xmlns:a16="http://schemas.microsoft.com/office/drawing/2014/main" id="{3D822C52-CFAF-4FF1-B28F-47C25CD608B9}"/>
              </a:ext>
            </a:extLst>
          </p:cNvPr>
          <p:cNvSpPr>
            <a:spLocks noGrp="1"/>
          </p:cNvSpPr>
          <p:nvPr/>
        </p:nvSpPr>
        <p:spPr>
          <a:xfrm>
            <a:off x="2200275" y="2276475"/>
            <a:ext cx="39243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EXP-006–008, 013, 015–016; 019–026</a:t>
            </a:r>
          </a:p>
        </p:txBody>
      </p:sp>
      <p:sp>
        <p:nvSpPr>
          <p:cNvPr id="23" name="appendix-cell-2-1">
            <a:extLst>
              <a:ext uri="{FF2B5EF4-FFF2-40B4-BE49-F238E27FC236}">
                <a16:creationId xmlns:a16="http://schemas.microsoft.com/office/drawing/2014/main" id="{8AF41E35-DE42-48F4-AEC0-A6F0CD2EC3E7}"/>
              </a:ext>
            </a:extLst>
          </p:cNvPr>
          <p:cNvSpPr>
            <a:spLocks noGrp="1"/>
          </p:cNvSpPr>
          <p:nvPr/>
        </p:nvSpPr>
        <p:spPr>
          <a:xfrm>
            <a:off x="2200275" y="2895600"/>
            <a:ext cx="39243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EXP-009, 016–017, 022, 027, 035</a:t>
            </a:r>
          </a:p>
        </p:txBody>
      </p:sp>
      <p:sp>
        <p:nvSpPr>
          <p:cNvPr id="24" name="appendix-cell-3-1">
            <a:extLst>
              <a:ext uri="{FF2B5EF4-FFF2-40B4-BE49-F238E27FC236}">
                <a16:creationId xmlns:a16="http://schemas.microsoft.com/office/drawing/2014/main" id="{ABF53858-8AB2-4DD1-A804-A0C76C060F74}"/>
              </a:ext>
            </a:extLst>
          </p:cNvPr>
          <p:cNvSpPr>
            <a:spLocks noGrp="1"/>
          </p:cNvSpPr>
          <p:nvPr/>
        </p:nvSpPr>
        <p:spPr>
          <a:xfrm>
            <a:off x="2200275" y="3514725"/>
            <a:ext cx="39243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EXP-025–028, 036</a:t>
            </a:r>
          </a:p>
        </p:txBody>
      </p:sp>
      <p:sp>
        <p:nvSpPr>
          <p:cNvPr id="25" name="appendix-cell-4-1">
            <a:extLst>
              <a:ext uri="{FF2B5EF4-FFF2-40B4-BE49-F238E27FC236}">
                <a16:creationId xmlns:a16="http://schemas.microsoft.com/office/drawing/2014/main" id="{9C1350B8-0AA3-4EE1-9B6D-6F78650C8987}"/>
              </a:ext>
            </a:extLst>
          </p:cNvPr>
          <p:cNvSpPr>
            <a:spLocks noGrp="1"/>
          </p:cNvSpPr>
          <p:nvPr/>
        </p:nvSpPr>
        <p:spPr>
          <a:xfrm>
            <a:off x="2200275" y="4133850"/>
            <a:ext cx="39243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EXP-019–020, 025–027</a:t>
            </a:r>
          </a:p>
        </p:txBody>
      </p:sp>
      <p:sp>
        <p:nvSpPr>
          <p:cNvPr id="26" name="appendix-cell-5-1">
            <a:extLst>
              <a:ext uri="{FF2B5EF4-FFF2-40B4-BE49-F238E27FC236}">
                <a16:creationId xmlns:a16="http://schemas.microsoft.com/office/drawing/2014/main" id="{1BF9B86C-6752-4C0E-B7BD-6C84B8A67446}"/>
              </a:ext>
            </a:extLst>
          </p:cNvPr>
          <p:cNvSpPr>
            <a:spLocks noGrp="1"/>
          </p:cNvSpPr>
          <p:nvPr/>
        </p:nvSpPr>
        <p:spPr>
          <a:xfrm>
            <a:off x="2200275" y="4752975"/>
            <a:ext cx="39243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 active medical EXP</a:t>
            </a:r>
          </a:p>
        </p:txBody>
      </p:sp>
      <p:sp>
        <p:nvSpPr>
          <p:cNvPr id="27" name="appendix-cell-6-1">
            <a:extLst>
              <a:ext uri="{FF2B5EF4-FFF2-40B4-BE49-F238E27FC236}">
                <a16:creationId xmlns:a16="http://schemas.microsoft.com/office/drawing/2014/main" id="{D7AE7380-992B-46F3-A73F-181F448F57E9}"/>
              </a:ext>
            </a:extLst>
          </p:cNvPr>
          <p:cNvSpPr>
            <a:spLocks noGrp="1"/>
          </p:cNvSpPr>
          <p:nvPr/>
        </p:nvSpPr>
        <p:spPr>
          <a:xfrm>
            <a:off x="2200275" y="5372100"/>
            <a:ext cx="39243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EXP-026–027, 031–032, 035–036</a:t>
            </a:r>
          </a:p>
        </p:txBody>
      </p:sp>
      <p:sp>
        <p:nvSpPr>
          <p:cNvPr id="28" name="appendix-col-line-2">
            <a:extLst>
              <a:ext uri="{FF2B5EF4-FFF2-40B4-BE49-F238E27FC236}">
                <a16:creationId xmlns:a16="http://schemas.microsoft.com/office/drawing/2014/main" id="{094CF050-D161-4B1C-96A8-A6EF77614719}"/>
              </a:ext>
            </a:extLst>
          </p:cNvPr>
          <p:cNvSpPr>
            <a:spLocks noGrp="1"/>
          </p:cNvSpPr>
          <p:nvPr/>
        </p:nvSpPr>
        <p:spPr>
          <a:xfrm>
            <a:off x="621030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29" name="appendix-cell-0-2">
            <a:extLst>
              <a:ext uri="{FF2B5EF4-FFF2-40B4-BE49-F238E27FC236}">
                <a16:creationId xmlns:a16="http://schemas.microsoft.com/office/drawing/2014/main" id="{F3373CE1-FF91-497C-82AA-77D60A37339B}"/>
              </a:ext>
            </a:extLst>
          </p:cNvPr>
          <p:cNvSpPr>
            <a:spLocks noGrp="1"/>
          </p:cNvSpPr>
          <p:nvPr/>
        </p:nvSpPr>
        <p:spPr>
          <a:xfrm>
            <a:off x="6296025" y="1657350"/>
            <a:ext cx="2305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Study</a:t>
            </a:r>
          </a:p>
        </p:txBody>
      </p:sp>
      <p:sp>
        <p:nvSpPr>
          <p:cNvPr id="30" name="appendix-cell-1-2">
            <a:extLst>
              <a:ext uri="{FF2B5EF4-FFF2-40B4-BE49-F238E27FC236}">
                <a16:creationId xmlns:a16="http://schemas.microsoft.com/office/drawing/2014/main" id="{D0A38EF1-5A1C-4989-9525-288B4B86BFFB}"/>
              </a:ext>
            </a:extLst>
          </p:cNvPr>
          <p:cNvSpPr>
            <a:spLocks noGrp="1"/>
          </p:cNvSpPr>
          <p:nvPr/>
        </p:nvSpPr>
        <p:spPr>
          <a:xfrm>
            <a:off x="6296025" y="2276475"/>
            <a:ext cx="2305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Selective intervention</a:t>
            </a:r>
          </a:p>
        </p:txBody>
      </p:sp>
      <p:sp>
        <p:nvSpPr>
          <p:cNvPr id="31" name="appendix-cell-2-2">
            <a:extLst>
              <a:ext uri="{FF2B5EF4-FFF2-40B4-BE49-F238E27FC236}">
                <a16:creationId xmlns:a16="http://schemas.microsoft.com/office/drawing/2014/main" id="{243DD7C0-99E2-4C21-9C1E-9032FE51D29D}"/>
              </a:ext>
            </a:extLst>
          </p:cNvPr>
          <p:cNvSpPr>
            <a:spLocks noGrp="1"/>
          </p:cNvSpPr>
          <p:nvPr/>
        </p:nvSpPr>
        <p:spPr>
          <a:xfrm>
            <a:off x="6296025" y="2895600"/>
            <a:ext cx="2305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Governed reuse</a:t>
            </a:r>
          </a:p>
        </p:txBody>
      </p:sp>
      <p:sp>
        <p:nvSpPr>
          <p:cNvPr id="32" name="appendix-cell-3-2">
            <a:extLst>
              <a:ext uri="{FF2B5EF4-FFF2-40B4-BE49-F238E27FC236}">
                <a16:creationId xmlns:a16="http://schemas.microsoft.com/office/drawing/2014/main" id="{5BCBF368-0C92-40D0-B880-44565FF1AF0F}"/>
              </a:ext>
            </a:extLst>
          </p:cNvPr>
          <p:cNvSpPr>
            <a:spLocks noGrp="1"/>
          </p:cNvSpPr>
          <p:nvPr/>
        </p:nvSpPr>
        <p:spPr>
          <a:xfrm>
            <a:off x="6296025" y="3514725"/>
            <a:ext cx="2305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Longitudinal reuse</a:t>
            </a:r>
          </a:p>
        </p:txBody>
      </p:sp>
      <p:sp>
        <p:nvSpPr>
          <p:cNvPr id="33" name="appendix-cell-4-2">
            <a:extLst>
              <a:ext uri="{FF2B5EF4-FFF2-40B4-BE49-F238E27FC236}">
                <a16:creationId xmlns:a16="http://schemas.microsoft.com/office/drawing/2014/main" id="{595C98D9-39CD-45B1-A3D6-0536C2315CBB}"/>
              </a:ext>
            </a:extLst>
          </p:cNvPr>
          <p:cNvSpPr>
            <a:spLocks noGrp="1"/>
          </p:cNvSpPr>
          <p:nvPr/>
        </p:nvSpPr>
        <p:spPr>
          <a:xfrm>
            <a:off x="6296025" y="4133850"/>
            <a:ext cx="2305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 B transfer</a:t>
            </a:r>
          </a:p>
        </p:txBody>
      </p:sp>
      <p:sp>
        <p:nvSpPr>
          <p:cNvPr id="34" name="appendix-cell-5-2">
            <a:extLst>
              <a:ext uri="{FF2B5EF4-FFF2-40B4-BE49-F238E27FC236}">
                <a16:creationId xmlns:a16="http://schemas.microsoft.com/office/drawing/2014/main" id="{2AD39E3B-80FC-4C54-923C-C6D7691F24BF}"/>
              </a:ext>
            </a:extLst>
          </p:cNvPr>
          <p:cNvSpPr>
            <a:spLocks noGrp="1"/>
          </p:cNvSpPr>
          <p:nvPr/>
        </p:nvSpPr>
        <p:spPr>
          <a:xfrm>
            <a:off x="6296025" y="4752975"/>
            <a:ext cx="2305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 A transfer</a:t>
            </a:r>
          </a:p>
        </p:txBody>
      </p:sp>
      <p:sp>
        <p:nvSpPr>
          <p:cNvPr id="35" name="appendix-cell-6-2">
            <a:extLst>
              <a:ext uri="{FF2B5EF4-FFF2-40B4-BE49-F238E27FC236}">
                <a16:creationId xmlns:a16="http://schemas.microsoft.com/office/drawing/2014/main" id="{D23306B3-D07E-49C1-AC8E-14655892873C}"/>
              </a:ext>
            </a:extLst>
          </p:cNvPr>
          <p:cNvSpPr>
            <a:spLocks noGrp="1"/>
          </p:cNvSpPr>
          <p:nvPr/>
        </p:nvSpPr>
        <p:spPr>
          <a:xfrm>
            <a:off x="6296025" y="5372100"/>
            <a:ext cx="2305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Effort/ablation</a:t>
            </a:r>
          </a:p>
        </p:txBody>
      </p:sp>
      <p:sp>
        <p:nvSpPr>
          <p:cNvPr id="36" name="appendix-col-line-3">
            <a:extLst>
              <a:ext uri="{FF2B5EF4-FFF2-40B4-BE49-F238E27FC236}">
                <a16:creationId xmlns:a16="http://schemas.microsoft.com/office/drawing/2014/main" id="{8E5B225A-BE14-470E-9B75-A11B9ACEFCA7}"/>
              </a:ext>
            </a:extLst>
          </p:cNvPr>
          <p:cNvSpPr>
            <a:spLocks noGrp="1"/>
          </p:cNvSpPr>
          <p:nvPr/>
        </p:nvSpPr>
        <p:spPr>
          <a:xfrm>
            <a:off x="868680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37" name="appendix-cell-0-3">
            <a:extLst>
              <a:ext uri="{FF2B5EF4-FFF2-40B4-BE49-F238E27FC236}">
                <a16:creationId xmlns:a16="http://schemas.microsoft.com/office/drawing/2014/main" id="{05E5DCF9-AB02-4E23-A584-3EB83E041BE9}"/>
              </a:ext>
            </a:extLst>
          </p:cNvPr>
          <p:cNvSpPr>
            <a:spLocks noGrp="1"/>
          </p:cNvSpPr>
          <p:nvPr/>
        </p:nvSpPr>
        <p:spPr>
          <a:xfrm>
            <a:off x="8772525" y="1657350"/>
            <a:ext cx="29337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Gate</a:t>
            </a:r>
          </a:p>
        </p:txBody>
      </p:sp>
      <p:sp>
        <p:nvSpPr>
          <p:cNvPr id="38" name="appendix-cell-1-3">
            <a:extLst>
              <a:ext uri="{FF2B5EF4-FFF2-40B4-BE49-F238E27FC236}">
                <a16:creationId xmlns:a16="http://schemas.microsoft.com/office/drawing/2014/main" id="{4B8776F2-A0DE-4324-A6DD-2938B083C7C8}"/>
              </a:ext>
            </a:extLst>
          </p:cNvPr>
          <p:cNvSpPr>
            <a:spLocks noGrp="1"/>
          </p:cNvSpPr>
          <p:nvPr/>
        </p:nvSpPr>
        <p:spPr>
          <a:xfrm>
            <a:off x="8772525" y="2276475"/>
            <a:ext cx="29337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Mechanism evidence only</a:t>
            </a:r>
          </a:p>
        </p:txBody>
      </p:sp>
      <p:sp>
        <p:nvSpPr>
          <p:cNvPr id="39" name="appendix-cell-2-3">
            <a:extLst>
              <a:ext uri="{FF2B5EF4-FFF2-40B4-BE49-F238E27FC236}">
                <a16:creationId xmlns:a16="http://schemas.microsoft.com/office/drawing/2014/main" id="{1E645A47-3FD4-4011-B289-B674CFE024AA}"/>
              </a:ext>
            </a:extLst>
          </p:cNvPr>
          <p:cNvSpPr>
            <a:spLocks noGrp="1"/>
          </p:cNvSpPr>
          <p:nvPr/>
        </p:nvSpPr>
        <p:spPr>
          <a:xfrm>
            <a:off x="8772525" y="2895600"/>
            <a:ext cx="29337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 beneficial-reuse claim</a:t>
            </a:r>
          </a:p>
        </p:txBody>
      </p:sp>
      <p:sp>
        <p:nvSpPr>
          <p:cNvPr id="40" name="appendix-cell-3-3">
            <a:extLst>
              <a:ext uri="{FF2B5EF4-FFF2-40B4-BE49-F238E27FC236}">
                <a16:creationId xmlns:a16="http://schemas.microsoft.com/office/drawing/2014/main" id="{360E4BE3-DBB2-42A9-AB3B-2A2BE2B960F8}"/>
              </a:ext>
            </a:extLst>
          </p:cNvPr>
          <p:cNvSpPr>
            <a:spLocks noGrp="1"/>
          </p:cNvSpPr>
          <p:nvPr/>
        </p:nvSpPr>
        <p:spPr>
          <a:xfrm>
            <a:off x="8772525" y="3514725"/>
            <a:ext cx="29337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Human protocol required</a:t>
            </a:r>
          </a:p>
        </p:txBody>
      </p:sp>
      <p:sp>
        <p:nvSpPr>
          <p:cNvPr id="41" name="appendix-cell-4-3">
            <a:extLst>
              <a:ext uri="{FF2B5EF4-FFF2-40B4-BE49-F238E27FC236}">
                <a16:creationId xmlns:a16="http://schemas.microsoft.com/office/drawing/2014/main" id="{194BA897-7B20-44E3-9D92-14236F5BE5AD}"/>
              </a:ext>
            </a:extLst>
          </p:cNvPr>
          <p:cNvSpPr>
            <a:spLocks noGrp="1"/>
          </p:cNvSpPr>
          <p:nvPr/>
        </p:nvSpPr>
        <p:spPr>
          <a:xfrm>
            <a:off x="8772525" y="4133850"/>
            <a:ext cx="29337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Authorized second context</a:t>
            </a:r>
          </a:p>
        </p:txBody>
      </p:sp>
      <p:sp>
        <p:nvSpPr>
          <p:cNvPr id="42" name="appendix-cell-5-3">
            <a:extLst>
              <a:ext uri="{FF2B5EF4-FFF2-40B4-BE49-F238E27FC236}">
                <a16:creationId xmlns:a16="http://schemas.microsoft.com/office/drawing/2014/main" id="{265A7BBA-5945-4423-94F8-DB9D4258AA08}"/>
              </a:ext>
            </a:extLst>
          </p:cNvPr>
          <p:cNvSpPr>
            <a:spLocks noGrp="1"/>
          </p:cNvSpPr>
          <p:nvPr/>
        </p:nvSpPr>
        <p:spPr>
          <a:xfrm>
            <a:off x="8772525" y="4752975"/>
            <a:ext cx="29337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G1–G6 all pass</a:t>
            </a:r>
          </a:p>
        </p:txBody>
      </p:sp>
      <p:sp>
        <p:nvSpPr>
          <p:cNvPr id="43" name="appendix-cell-6-3">
            <a:extLst>
              <a:ext uri="{FF2B5EF4-FFF2-40B4-BE49-F238E27FC236}">
                <a16:creationId xmlns:a16="http://schemas.microsoft.com/office/drawing/2014/main" id="{D447D0E3-492E-497C-8E3A-D42AFD3A4D98}"/>
              </a:ext>
            </a:extLst>
          </p:cNvPr>
          <p:cNvSpPr>
            <a:spLocks noGrp="1"/>
          </p:cNvSpPr>
          <p:nvPr/>
        </p:nvSpPr>
        <p:spPr>
          <a:xfrm>
            <a:off x="8772525" y="5372100"/>
            <a:ext cx="29337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Independent labels + usability</a:t>
            </a:r>
          </a:p>
        </p:txBody>
      </p:sp>
      <p:sp>
        <p:nvSpPr>
          <p:cNvPr id="44" name="appendix-col-line-4">
            <a:extLst>
              <a:ext uri="{FF2B5EF4-FFF2-40B4-BE49-F238E27FC236}">
                <a16:creationId xmlns:a16="http://schemas.microsoft.com/office/drawing/2014/main" id="{7669A333-1129-4FF8-BBA9-F42E16FE3A00}"/>
              </a:ext>
            </a:extLst>
          </p:cNvPr>
          <p:cNvSpPr>
            <a:spLocks noGrp="1"/>
          </p:cNvSpPr>
          <p:nvPr/>
        </p:nvSpPr>
        <p:spPr>
          <a:xfrm>
            <a:off x="117919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799473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appendix-title">
            <a:extLst>
              <a:ext uri="{FF2B5EF4-FFF2-40B4-BE49-F238E27FC236}">
                <a16:creationId xmlns:a16="http://schemas.microsoft.com/office/drawing/2014/main" id="{BB6AECF0-C367-4072-B1A2-D1CDB0CA6F11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11391900" cy="609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27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Appendix · Package status and release gates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74E2E067-72CE-41D8-B470-4BE62C6652C7}"/>
              </a:ext>
            </a:extLst>
          </p:cNvPr>
          <p:cNvSpPr>
            <a:spLocks noGrp="1"/>
          </p:cNvSpPr>
          <p:nvPr/>
        </p:nvSpPr>
        <p:spPr>
          <a:xfrm>
            <a:off x="10763250" y="6400800"/>
            <a:ext cx="1028700" cy="20955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lnSpc>
                <a:spcPct val="110000"/>
              </a:lnSpc>
              <a:spcAft>
                <a:spcPts val="0"/>
              </a:spcAft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A9</a:t>
            </a:r>
          </a:p>
        </p:txBody>
      </p:sp>
      <p:sp>
        <p:nvSpPr>
          <p:cNvPr id="3" name="appendix-subtitle">
            <a:extLst>
              <a:ext uri="{FF2B5EF4-FFF2-40B4-BE49-F238E27FC236}">
                <a16:creationId xmlns:a16="http://schemas.microsoft.com/office/drawing/2014/main" id="{5CF6FD4A-514E-47B9-AA69-2F60DF2705AF}"/>
              </a:ext>
            </a:extLst>
          </p:cNvPr>
          <p:cNvSpPr>
            <a:spLocks noGrp="1"/>
          </p:cNvSpPr>
          <p:nvPr/>
        </p:nvSpPr>
        <p:spPr>
          <a:xfrm>
            <a:off x="400050" y="1000125"/>
            <a:ext cx="11334750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670"/>
                </a:solidFill>
                <a:latin typeface="Arial"/>
                <a:ea typeface="Arial"/>
                <a:cs typeface="Arial"/>
              </a:rPr>
              <a:t>Built artifacts are not automatically reviewed, rehearsed, delivered, or accepted.</a:t>
            </a:r>
          </a:p>
        </p:txBody>
      </p:sp>
      <p:sp>
        <p:nvSpPr>
          <p:cNvPr id="4" name="appendix-row-line-0">
            <a:extLst>
              <a:ext uri="{FF2B5EF4-FFF2-40B4-BE49-F238E27FC236}">
                <a16:creationId xmlns:a16="http://schemas.microsoft.com/office/drawing/2014/main" id="{0EA238F7-3644-4140-A38E-A0D6A5FFA60B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5" name="appendix-row-line-1">
            <a:extLst>
              <a:ext uri="{FF2B5EF4-FFF2-40B4-BE49-F238E27FC236}">
                <a16:creationId xmlns:a16="http://schemas.microsoft.com/office/drawing/2014/main" id="{0ED5FD2E-0AA8-416C-B274-DF64CE483D31}"/>
              </a:ext>
            </a:extLst>
          </p:cNvPr>
          <p:cNvSpPr>
            <a:spLocks noGrp="1"/>
          </p:cNvSpPr>
          <p:nvPr/>
        </p:nvSpPr>
        <p:spPr>
          <a:xfrm>
            <a:off x="400050" y="223837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6" name="appendix-row-line-2">
            <a:extLst>
              <a:ext uri="{FF2B5EF4-FFF2-40B4-BE49-F238E27FC236}">
                <a16:creationId xmlns:a16="http://schemas.microsoft.com/office/drawing/2014/main" id="{0E301523-FB1C-4B00-B233-AFE758EE256D}"/>
              </a:ext>
            </a:extLst>
          </p:cNvPr>
          <p:cNvSpPr>
            <a:spLocks noGrp="1"/>
          </p:cNvSpPr>
          <p:nvPr/>
        </p:nvSpPr>
        <p:spPr>
          <a:xfrm>
            <a:off x="400050" y="285750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7" name="appendix-row-line-3">
            <a:extLst>
              <a:ext uri="{FF2B5EF4-FFF2-40B4-BE49-F238E27FC236}">
                <a16:creationId xmlns:a16="http://schemas.microsoft.com/office/drawing/2014/main" id="{D55C71D3-3740-4F12-B410-82E10B6CE8EB}"/>
              </a:ext>
            </a:extLst>
          </p:cNvPr>
          <p:cNvSpPr>
            <a:spLocks noGrp="1"/>
          </p:cNvSpPr>
          <p:nvPr/>
        </p:nvSpPr>
        <p:spPr>
          <a:xfrm>
            <a:off x="400050" y="347662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8" name="appendix-row-line-4">
            <a:extLst>
              <a:ext uri="{FF2B5EF4-FFF2-40B4-BE49-F238E27FC236}">
                <a16:creationId xmlns:a16="http://schemas.microsoft.com/office/drawing/2014/main" id="{83408BEC-6940-40A8-BF6A-89284358CACA}"/>
              </a:ext>
            </a:extLst>
          </p:cNvPr>
          <p:cNvSpPr>
            <a:spLocks noGrp="1"/>
          </p:cNvSpPr>
          <p:nvPr/>
        </p:nvSpPr>
        <p:spPr>
          <a:xfrm>
            <a:off x="400050" y="409575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9" name="appendix-row-line-5">
            <a:extLst>
              <a:ext uri="{FF2B5EF4-FFF2-40B4-BE49-F238E27FC236}">
                <a16:creationId xmlns:a16="http://schemas.microsoft.com/office/drawing/2014/main" id="{AB5EDBE8-0E89-4056-984A-99AD358D487A}"/>
              </a:ext>
            </a:extLst>
          </p:cNvPr>
          <p:cNvSpPr>
            <a:spLocks noGrp="1"/>
          </p:cNvSpPr>
          <p:nvPr/>
        </p:nvSpPr>
        <p:spPr>
          <a:xfrm>
            <a:off x="400050" y="471487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0" name="appendix-row-line-6">
            <a:extLst>
              <a:ext uri="{FF2B5EF4-FFF2-40B4-BE49-F238E27FC236}">
                <a16:creationId xmlns:a16="http://schemas.microsoft.com/office/drawing/2014/main" id="{D957B5E0-CE87-498A-AB07-65C55887A100}"/>
              </a:ext>
            </a:extLst>
          </p:cNvPr>
          <p:cNvSpPr>
            <a:spLocks noGrp="1"/>
          </p:cNvSpPr>
          <p:nvPr/>
        </p:nvSpPr>
        <p:spPr>
          <a:xfrm>
            <a:off x="400050" y="5334000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1" name="appendix-row-line-7">
            <a:extLst>
              <a:ext uri="{FF2B5EF4-FFF2-40B4-BE49-F238E27FC236}">
                <a16:creationId xmlns:a16="http://schemas.microsoft.com/office/drawing/2014/main" id="{AF6B8A19-9917-464C-9FBB-A0F9A829A72F}"/>
              </a:ext>
            </a:extLst>
          </p:cNvPr>
          <p:cNvSpPr>
            <a:spLocks noGrp="1"/>
          </p:cNvSpPr>
          <p:nvPr/>
        </p:nvSpPr>
        <p:spPr>
          <a:xfrm>
            <a:off x="400050" y="5953125"/>
            <a:ext cx="11391900" cy="952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2" name="appendix-col-line-0">
            <a:extLst>
              <a:ext uri="{FF2B5EF4-FFF2-40B4-BE49-F238E27FC236}">
                <a16:creationId xmlns:a16="http://schemas.microsoft.com/office/drawing/2014/main" id="{F8461205-C779-4CCE-91C8-581B1EBC6BB1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13" name="appendix-cell-0-0">
            <a:extLst>
              <a:ext uri="{FF2B5EF4-FFF2-40B4-BE49-F238E27FC236}">
                <a16:creationId xmlns:a16="http://schemas.microsoft.com/office/drawing/2014/main" id="{48625381-6DEE-41C7-B0C0-615625CA9762}"/>
              </a:ext>
            </a:extLst>
          </p:cNvPr>
          <p:cNvSpPr>
            <a:spLocks noGrp="1"/>
          </p:cNvSpPr>
          <p:nvPr/>
        </p:nvSpPr>
        <p:spPr>
          <a:xfrm>
            <a:off x="485775" y="1657350"/>
            <a:ext cx="3448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Artifact/gate</a:t>
            </a:r>
          </a:p>
        </p:txBody>
      </p:sp>
      <p:sp>
        <p:nvSpPr>
          <p:cNvPr id="14" name="appendix-cell-1-0">
            <a:extLst>
              <a:ext uri="{FF2B5EF4-FFF2-40B4-BE49-F238E27FC236}">
                <a16:creationId xmlns:a16="http://schemas.microsoft.com/office/drawing/2014/main" id="{AB9A12F2-CD3F-40F8-A4E0-3293882BFA77}"/>
              </a:ext>
            </a:extLst>
          </p:cNvPr>
          <p:cNvSpPr>
            <a:spLocks noGrp="1"/>
          </p:cNvSpPr>
          <p:nvPr/>
        </p:nvSpPr>
        <p:spPr>
          <a:xfrm>
            <a:off x="485775" y="2276475"/>
            <a:ext cx="3448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PPTX + PDF + notes</a:t>
            </a:r>
          </a:p>
        </p:txBody>
      </p:sp>
      <p:sp>
        <p:nvSpPr>
          <p:cNvPr id="15" name="appendix-cell-2-0">
            <a:extLst>
              <a:ext uri="{FF2B5EF4-FFF2-40B4-BE49-F238E27FC236}">
                <a16:creationId xmlns:a16="http://schemas.microsoft.com/office/drawing/2014/main" id="{C2941BDE-FD77-4697-898B-0DB6FA82A35F}"/>
              </a:ext>
            </a:extLst>
          </p:cNvPr>
          <p:cNvSpPr>
            <a:spLocks noGrp="1"/>
          </p:cNvSpPr>
          <p:nvPr/>
        </p:nvSpPr>
        <p:spPr>
          <a:xfrm>
            <a:off x="485775" y="2895600"/>
            <a:ext cx="3448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Zoom review ledger</a:t>
            </a:r>
          </a:p>
        </p:txBody>
      </p:sp>
      <p:sp>
        <p:nvSpPr>
          <p:cNvPr id="16" name="appendix-cell-3-0">
            <a:extLst>
              <a:ext uri="{FF2B5EF4-FFF2-40B4-BE49-F238E27FC236}">
                <a16:creationId xmlns:a16="http://schemas.microsoft.com/office/drawing/2014/main" id="{AE24CA60-05FC-4C38-859A-F9C45EE9F511}"/>
              </a:ext>
            </a:extLst>
          </p:cNvPr>
          <p:cNvSpPr>
            <a:spLocks noGrp="1"/>
          </p:cNvSpPr>
          <p:nvPr/>
        </p:nvSpPr>
        <p:spPr>
          <a:xfrm>
            <a:off x="485775" y="3514725"/>
            <a:ext cx="3448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Live rehearsal</a:t>
            </a:r>
          </a:p>
        </p:txBody>
      </p:sp>
      <p:sp>
        <p:nvSpPr>
          <p:cNvPr id="17" name="appendix-cell-4-0">
            <a:extLst>
              <a:ext uri="{FF2B5EF4-FFF2-40B4-BE49-F238E27FC236}">
                <a16:creationId xmlns:a16="http://schemas.microsoft.com/office/drawing/2014/main" id="{AAE89590-96D8-448A-AEF7-CBAF76C12862}"/>
              </a:ext>
            </a:extLst>
          </p:cNvPr>
          <p:cNvSpPr>
            <a:spLocks noGrp="1"/>
          </p:cNvSpPr>
          <p:nvPr/>
        </p:nvSpPr>
        <p:spPr>
          <a:xfrm>
            <a:off x="485775" y="4133850"/>
            <a:ext cx="3448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Drive delivery/access</a:t>
            </a:r>
          </a:p>
        </p:txBody>
      </p:sp>
      <p:sp>
        <p:nvSpPr>
          <p:cNvPr id="18" name="appendix-cell-5-0">
            <a:extLst>
              <a:ext uri="{FF2B5EF4-FFF2-40B4-BE49-F238E27FC236}">
                <a16:creationId xmlns:a16="http://schemas.microsoft.com/office/drawing/2014/main" id="{CD21BA01-D23F-42A2-A3CA-0A163862AD44}"/>
              </a:ext>
            </a:extLst>
          </p:cNvPr>
          <p:cNvSpPr>
            <a:spLocks noGrp="1"/>
          </p:cNvSpPr>
          <p:nvPr/>
        </p:nvSpPr>
        <p:spPr>
          <a:xfrm>
            <a:off x="485775" y="4752975"/>
            <a:ext cx="3448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Supervisor acceptance</a:t>
            </a:r>
          </a:p>
        </p:txBody>
      </p:sp>
      <p:sp>
        <p:nvSpPr>
          <p:cNvPr id="19" name="appendix-cell-6-0">
            <a:extLst>
              <a:ext uri="{FF2B5EF4-FFF2-40B4-BE49-F238E27FC236}">
                <a16:creationId xmlns:a16="http://schemas.microsoft.com/office/drawing/2014/main" id="{BF0EDE1C-E67A-45F0-AB37-52CC2668CF41}"/>
              </a:ext>
            </a:extLst>
          </p:cNvPr>
          <p:cNvSpPr>
            <a:spLocks noGrp="1"/>
          </p:cNvSpPr>
          <p:nvPr/>
        </p:nvSpPr>
        <p:spPr>
          <a:xfrm>
            <a:off x="485775" y="5372100"/>
            <a:ext cx="344805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Final closure</a:t>
            </a:r>
          </a:p>
        </p:txBody>
      </p:sp>
      <p:sp>
        <p:nvSpPr>
          <p:cNvPr id="20" name="appendix-col-line-1">
            <a:extLst>
              <a:ext uri="{FF2B5EF4-FFF2-40B4-BE49-F238E27FC236}">
                <a16:creationId xmlns:a16="http://schemas.microsoft.com/office/drawing/2014/main" id="{AE13A0E5-E822-403F-B58D-DD6CFAA19295}"/>
              </a:ext>
            </a:extLst>
          </p:cNvPr>
          <p:cNvSpPr>
            <a:spLocks noGrp="1"/>
          </p:cNvSpPr>
          <p:nvPr/>
        </p:nvSpPr>
        <p:spPr>
          <a:xfrm>
            <a:off x="40195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21" name="appendix-cell-0-1">
            <a:extLst>
              <a:ext uri="{FF2B5EF4-FFF2-40B4-BE49-F238E27FC236}">
                <a16:creationId xmlns:a16="http://schemas.microsoft.com/office/drawing/2014/main" id="{50FAC3D3-DF42-41FB-8BAB-7EA78AF2CF60}"/>
              </a:ext>
            </a:extLst>
          </p:cNvPr>
          <p:cNvSpPr>
            <a:spLocks noGrp="1"/>
          </p:cNvSpPr>
          <p:nvPr/>
        </p:nvSpPr>
        <p:spPr>
          <a:xfrm>
            <a:off x="4105275" y="1657350"/>
            <a:ext cx="29718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Current state</a:t>
            </a:r>
          </a:p>
        </p:txBody>
      </p:sp>
      <p:sp>
        <p:nvSpPr>
          <p:cNvPr id="22" name="appendix-cell-1-1">
            <a:extLst>
              <a:ext uri="{FF2B5EF4-FFF2-40B4-BE49-F238E27FC236}">
                <a16:creationId xmlns:a16="http://schemas.microsoft.com/office/drawing/2014/main" id="{6C186B93-0DC7-41D4-B01F-8E834AA916B9}"/>
              </a:ext>
            </a:extLst>
          </p:cNvPr>
          <p:cNvSpPr>
            <a:spLocks noGrp="1"/>
          </p:cNvSpPr>
          <p:nvPr/>
        </p:nvSpPr>
        <p:spPr>
          <a:xfrm>
            <a:off x="4105275" y="2276475"/>
            <a:ext cx="29718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Built locally; automated QA passed</a:t>
            </a:r>
          </a:p>
        </p:txBody>
      </p:sp>
      <p:sp>
        <p:nvSpPr>
          <p:cNvPr id="23" name="appendix-cell-2-1">
            <a:extLst>
              <a:ext uri="{FF2B5EF4-FFF2-40B4-BE49-F238E27FC236}">
                <a16:creationId xmlns:a16="http://schemas.microsoft.com/office/drawing/2014/main" id="{77593A06-6589-43B3-AADE-51A23BE2863C}"/>
              </a:ext>
            </a:extLst>
          </p:cNvPr>
          <p:cNvSpPr>
            <a:spLocks noGrp="1"/>
          </p:cNvSpPr>
          <p:nvPr/>
        </p:nvSpPr>
        <p:spPr>
          <a:xfrm>
            <a:off x="4105275" y="2895600"/>
            <a:ext cx="29718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1,195 machine-preliminary rows</a:t>
            </a:r>
          </a:p>
        </p:txBody>
      </p:sp>
      <p:sp>
        <p:nvSpPr>
          <p:cNvPr id="24" name="appendix-cell-3-1">
            <a:extLst>
              <a:ext uri="{FF2B5EF4-FFF2-40B4-BE49-F238E27FC236}">
                <a16:creationId xmlns:a16="http://schemas.microsoft.com/office/drawing/2014/main" id="{C4ED3444-9A67-430B-94F5-D94879643B57}"/>
              </a:ext>
            </a:extLst>
          </p:cNvPr>
          <p:cNvSpPr>
            <a:spLocks noGrp="1"/>
          </p:cNvSpPr>
          <p:nvPr/>
        </p:nvSpPr>
        <p:spPr>
          <a:xfrm>
            <a:off x="4105275" y="3514725"/>
            <a:ext cx="29718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NOT RUN</a:t>
            </a:r>
          </a:p>
        </p:txBody>
      </p:sp>
      <p:sp>
        <p:nvSpPr>
          <p:cNvPr id="25" name="appendix-cell-4-1">
            <a:extLst>
              <a:ext uri="{FF2B5EF4-FFF2-40B4-BE49-F238E27FC236}">
                <a16:creationId xmlns:a16="http://schemas.microsoft.com/office/drawing/2014/main" id="{E7201E36-D9A9-49E7-93C8-5AD470E738BB}"/>
              </a:ext>
            </a:extLst>
          </p:cNvPr>
          <p:cNvSpPr>
            <a:spLocks noGrp="1"/>
          </p:cNvSpPr>
          <p:nvPr/>
        </p:nvSpPr>
        <p:spPr>
          <a:xfrm>
            <a:off x="4105275" y="4133850"/>
            <a:ext cx="29718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NOT SHARED / NOT TESTED</a:t>
            </a:r>
          </a:p>
        </p:txBody>
      </p:sp>
      <p:sp>
        <p:nvSpPr>
          <p:cNvPr id="26" name="appendix-cell-5-1">
            <a:extLst>
              <a:ext uri="{FF2B5EF4-FFF2-40B4-BE49-F238E27FC236}">
                <a16:creationId xmlns:a16="http://schemas.microsoft.com/office/drawing/2014/main" id="{181931BE-5D46-4F9A-B996-6E7127E8914C}"/>
              </a:ext>
            </a:extLst>
          </p:cNvPr>
          <p:cNvSpPr>
            <a:spLocks noGrp="1"/>
          </p:cNvSpPr>
          <p:nvPr/>
        </p:nvSpPr>
        <p:spPr>
          <a:xfrm>
            <a:off x="4105275" y="4752975"/>
            <a:ext cx="29718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0/19</a:t>
            </a:r>
          </a:p>
        </p:txBody>
      </p:sp>
      <p:sp>
        <p:nvSpPr>
          <p:cNvPr id="27" name="appendix-cell-6-1">
            <a:extLst>
              <a:ext uri="{FF2B5EF4-FFF2-40B4-BE49-F238E27FC236}">
                <a16:creationId xmlns:a16="http://schemas.microsoft.com/office/drawing/2014/main" id="{DEAD49FE-7441-40D9-944B-947EEAFE34F6}"/>
              </a:ext>
            </a:extLst>
          </p:cNvPr>
          <p:cNvSpPr>
            <a:spLocks noGrp="1"/>
          </p:cNvSpPr>
          <p:nvPr/>
        </p:nvSpPr>
        <p:spPr>
          <a:xfrm>
            <a:off x="4105275" y="5372100"/>
            <a:ext cx="29718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BLOCKED</a:t>
            </a:r>
          </a:p>
        </p:txBody>
      </p:sp>
      <p:sp>
        <p:nvSpPr>
          <p:cNvPr id="28" name="appendix-col-line-2">
            <a:extLst>
              <a:ext uri="{FF2B5EF4-FFF2-40B4-BE49-F238E27FC236}">
                <a16:creationId xmlns:a16="http://schemas.microsoft.com/office/drawing/2014/main" id="{2CD136F5-B364-4885-BD25-B813AF008403}"/>
              </a:ext>
            </a:extLst>
          </p:cNvPr>
          <p:cNvSpPr>
            <a:spLocks noGrp="1"/>
          </p:cNvSpPr>
          <p:nvPr/>
        </p:nvSpPr>
        <p:spPr>
          <a:xfrm>
            <a:off x="716280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  <p:sp>
        <p:nvSpPr>
          <p:cNvPr id="29" name="appendix-cell-0-2">
            <a:extLst>
              <a:ext uri="{FF2B5EF4-FFF2-40B4-BE49-F238E27FC236}">
                <a16:creationId xmlns:a16="http://schemas.microsoft.com/office/drawing/2014/main" id="{73620A3C-F984-4A51-9A20-18A26C83A3A1}"/>
              </a:ext>
            </a:extLst>
          </p:cNvPr>
          <p:cNvSpPr>
            <a:spLocks noGrp="1"/>
          </p:cNvSpPr>
          <p:nvPr/>
        </p:nvSpPr>
        <p:spPr>
          <a:xfrm>
            <a:off x="7248525" y="1657350"/>
            <a:ext cx="44577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Release condition</a:t>
            </a:r>
          </a:p>
        </p:txBody>
      </p:sp>
      <p:sp>
        <p:nvSpPr>
          <p:cNvPr id="30" name="appendix-cell-1-2">
            <a:extLst>
              <a:ext uri="{FF2B5EF4-FFF2-40B4-BE49-F238E27FC236}">
                <a16:creationId xmlns:a16="http://schemas.microsoft.com/office/drawing/2014/main" id="{72163DAC-21AA-4E21-A49E-8DD43087B0A5}"/>
              </a:ext>
            </a:extLst>
          </p:cNvPr>
          <p:cNvSpPr>
            <a:spLocks noGrp="1"/>
          </p:cNvSpPr>
          <p:nvPr/>
        </p:nvSpPr>
        <p:spPr>
          <a:xfrm>
            <a:off x="7248525" y="2276475"/>
            <a:ext cx="44577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PowerPoint visual, link and claim checks passed</a:t>
            </a:r>
          </a:p>
        </p:txBody>
      </p:sp>
      <p:sp>
        <p:nvSpPr>
          <p:cNvPr id="31" name="appendix-cell-2-2">
            <a:extLst>
              <a:ext uri="{FF2B5EF4-FFF2-40B4-BE49-F238E27FC236}">
                <a16:creationId xmlns:a16="http://schemas.microsoft.com/office/drawing/2014/main" id="{B9E3C9D1-1C8D-4629-979E-995FD1426390}"/>
              </a:ext>
            </a:extLst>
          </p:cNvPr>
          <p:cNvSpPr>
            <a:spLocks noGrp="1"/>
          </p:cNvSpPr>
          <p:nvPr/>
        </p:nvSpPr>
        <p:spPr>
          <a:xfrm>
            <a:off x="7248525" y="2895600"/>
            <a:ext cx="44577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Two reviewers + adjudication</a:t>
            </a:r>
          </a:p>
        </p:txBody>
      </p:sp>
      <p:sp>
        <p:nvSpPr>
          <p:cNvPr id="32" name="appendix-cell-3-2">
            <a:extLst>
              <a:ext uri="{FF2B5EF4-FFF2-40B4-BE49-F238E27FC236}">
                <a16:creationId xmlns:a16="http://schemas.microsoft.com/office/drawing/2014/main" id="{3C2A1846-8CCD-40C9-9C61-7D4D0AC3FAA2}"/>
              </a:ext>
            </a:extLst>
          </p:cNvPr>
          <p:cNvSpPr>
            <a:spLocks noGrp="1"/>
          </p:cNvSpPr>
          <p:nvPr/>
        </p:nvSpPr>
        <p:spPr>
          <a:xfrm>
            <a:off x="7248525" y="3514725"/>
            <a:ext cx="44577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Dated human record and corrections</a:t>
            </a:r>
          </a:p>
        </p:txBody>
      </p:sp>
      <p:sp>
        <p:nvSpPr>
          <p:cNvPr id="33" name="appendix-cell-4-2">
            <a:extLst>
              <a:ext uri="{FF2B5EF4-FFF2-40B4-BE49-F238E27FC236}">
                <a16:creationId xmlns:a16="http://schemas.microsoft.com/office/drawing/2014/main" id="{B66171C7-F975-4EC8-B031-0879140F686B}"/>
              </a:ext>
            </a:extLst>
          </p:cNvPr>
          <p:cNvSpPr>
            <a:spLocks noGrp="1"/>
          </p:cNvSpPr>
          <p:nvPr/>
        </p:nvSpPr>
        <p:spPr>
          <a:xfrm>
            <a:off x="7248525" y="4133850"/>
            <a:ext cx="44577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Ali review + two recipient tests</a:t>
            </a:r>
          </a:p>
        </p:txBody>
      </p:sp>
      <p:sp>
        <p:nvSpPr>
          <p:cNvPr id="34" name="appendix-cell-5-2">
            <a:extLst>
              <a:ext uri="{FF2B5EF4-FFF2-40B4-BE49-F238E27FC236}">
                <a16:creationId xmlns:a16="http://schemas.microsoft.com/office/drawing/2014/main" id="{F667991A-E0B4-43E1-A246-12EF2253B519}"/>
              </a:ext>
            </a:extLst>
          </p:cNvPr>
          <p:cNvSpPr>
            <a:spLocks noGrp="1"/>
          </p:cNvSpPr>
          <p:nvPr/>
        </p:nvSpPr>
        <p:spPr>
          <a:xfrm>
            <a:off x="7248525" y="4752975"/>
            <a:ext cx="44577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Explicit dispositions and read-back</a:t>
            </a:r>
          </a:p>
        </p:txBody>
      </p:sp>
      <p:sp>
        <p:nvSpPr>
          <p:cNvPr id="35" name="appendix-cell-6-2">
            <a:extLst>
              <a:ext uri="{FF2B5EF4-FFF2-40B4-BE49-F238E27FC236}">
                <a16:creationId xmlns:a16="http://schemas.microsoft.com/office/drawing/2014/main" id="{11D4486C-435B-44CC-B356-07354FF347FC}"/>
              </a:ext>
            </a:extLst>
          </p:cNvPr>
          <p:cNvSpPr>
            <a:spLocks noGrp="1"/>
          </p:cNvSpPr>
          <p:nvPr/>
        </p:nvSpPr>
        <p:spPr>
          <a:xfrm>
            <a:off x="7248525" y="5372100"/>
            <a:ext cx="4457700" cy="542925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  <a:defRPr sz="12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Extraction + implementation + signed acceptance</a:t>
            </a:r>
          </a:p>
        </p:txBody>
      </p:sp>
      <p:sp>
        <p:nvSpPr>
          <p:cNvPr id="36" name="appendix-col-line-3">
            <a:extLst>
              <a:ext uri="{FF2B5EF4-FFF2-40B4-BE49-F238E27FC236}">
                <a16:creationId xmlns:a16="http://schemas.microsoft.com/office/drawing/2014/main" id="{F45BCD32-4DE1-4369-918E-19E4C93DD068}"/>
              </a:ext>
            </a:extLst>
          </p:cNvPr>
          <p:cNvSpPr>
            <a:spLocks noGrp="1"/>
          </p:cNvSpPr>
          <p:nvPr/>
        </p:nvSpPr>
        <p:spPr>
          <a:xfrm>
            <a:off x="11791950" y="1619250"/>
            <a:ext cx="9525" cy="4333875"/>
          </a:xfrm>
          <a:prstGeom prst="rect">
            <a:avLst/>
          </a:prstGeom>
          <a:solidFill>
            <a:srgbClr val="222222"/>
          </a:solidFill>
          <a:ln w="0">
            <a:solidFill>
              <a:srgbClr val="222222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84031650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2792</Words>
  <Application>Microsoft Office PowerPoint</Application>
  <DocSecurity>0</DocSecurity>
  <PresentationFormat>Widescreen</PresentationFormat>
  <Paragraphs>574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Ali Hamed</cp:lastModifiedBy>
  <cp:revision>1</cp:revision>
  <dcterms:created xsi:type="dcterms:W3CDTF">2026-08-03T07:57:05Z</dcterms:created>
  <dcterms:modified xsi:type="dcterms:W3CDTF">2026-08-03T08:02:28Z</dcterms:modified>
</cp:coreProperties>
</file>