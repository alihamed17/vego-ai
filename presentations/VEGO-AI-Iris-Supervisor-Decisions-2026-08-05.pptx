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b51cf19804b27" /><Relationship Type="http://schemas.openxmlformats.org/officeDocument/2006/relationships/extended-properties" Target="/docProps/app.xml" Id="R93a7cc18518d48a6" /><Relationship Type="http://schemas.openxmlformats.org/officeDocument/2006/relationships/officeDocument" Target="/ppt/presentation.xml" Id="R74e180c459c1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ac37da37f4e07"/>
  </p:sldMasterIdLst>
  <p:notesMasterIdLst>
    <p:notesMasterId xmlns:r="http://schemas.openxmlformats.org/officeDocument/2006/relationships" r:id="Rdc3a3a69f6e04669"/>
  </p:notesMasterIdLst>
  <p:sldIdLst>
    <p:sldId xmlns:r="http://schemas.openxmlformats.org/officeDocument/2006/relationships" id="256" r:id="Re7ced514852d470c"/>
    <p:sldId xmlns:r="http://schemas.openxmlformats.org/officeDocument/2006/relationships" id="257" r:id="Raaa12c7daad34c62"/>
    <p:sldId xmlns:r="http://schemas.openxmlformats.org/officeDocument/2006/relationships" id="258" r:id="Rc2a7e28a86ec4668"/>
    <p:sldId xmlns:r="http://schemas.openxmlformats.org/officeDocument/2006/relationships" id="259" r:id="Rced5af26f3bd4fb6"/>
    <p:sldId xmlns:r="http://schemas.openxmlformats.org/officeDocument/2006/relationships" id="260" r:id="Rd313c9ff3bec4918"/>
    <p:sldId xmlns:r="http://schemas.openxmlformats.org/officeDocument/2006/relationships" id="261" r:id="R903dc56c363f4da9"/>
    <p:sldId xmlns:r="http://schemas.openxmlformats.org/officeDocument/2006/relationships" id="262" r:id="R2e94a0f0975048f7"/>
    <p:sldId xmlns:r="http://schemas.openxmlformats.org/officeDocument/2006/relationships" id="263" r:id="Rcda6cec595174e05"/>
    <p:sldId xmlns:r="http://schemas.openxmlformats.org/officeDocument/2006/relationships" id="264" r:id="Rd7a6889446f64c65"/>
    <p:sldId xmlns:r="http://schemas.openxmlformats.org/officeDocument/2006/relationships" id="265" r:id="R0148f4a4141941d8"/>
    <p:sldId xmlns:r="http://schemas.openxmlformats.org/officeDocument/2006/relationships" id="266" r:id="R6bf8b33b6b574967"/>
    <p:sldId xmlns:r="http://schemas.openxmlformats.org/officeDocument/2006/relationships" id="267" r:id="R9ebf7f7978494882"/>
    <p:sldId xmlns:r="http://schemas.openxmlformats.org/officeDocument/2006/relationships" id="268" r:id="R3a1cf2b1bf324231"/>
    <p:sldId xmlns:r="http://schemas.openxmlformats.org/officeDocument/2006/relationships" id="269" r:id="R04086261facc4d0b"/>
    <p:sldId xmlns:r="http://schemas.openxmlformats.org/officeDocument/2006/relationships" id="270" r:id="R41043111db364fae"/>
    <p:sldId xmlns:r="http://schemas.openxmlformats.org/officeDocument/2006/relationships" id="271" r:id="R4f9d9b019ce54bb0"/>
    <p:sldId xmlns:r="http://schemas.openxmlformats.org/officeDocument/2006/relationships" id="272" r:id="Rca1a20f303ba4463"/>
    <p:sldId xmlns:r="http://schemas.openxmlformats.org/officeDocument/2006/relationships" id="273" r:id="R9ef9977a191142f3"/>
    <p:sldId xmlns:r="http://schemas.openxmlformats.org/officeDocument/2006/relationships" id="274" r:id="R4b00090ff7af4deb"/>
    <p:sldId xmlns:r="http://schemas.openxmlformats.org/officeDocument/2006/relationships" id="275" r:id="R9fc93084856a4981"/>
    <p:sldId xmlns:r="http://schemas.openxmlformats.org/officeDocument/2006/relationships" id="276" r:id="R107f63e4013749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efb53d49a422e" /><Relationship Type="http://schemas.openxmlformats.org/officeDocument/2006/relationships/slideMaster" Target="/ppt/slideMasters/slideMaster1.xml" Id="R57cac37da37f4e07" /><Relationship Type="http://schemas.openxmlformats.org/officeDocument/2006/relationships/notesMaster" Target="/ppt/notesMasters/notesMaster1.xml" Id="Rdc3a3a69f6e04669" /><Relationship Type="http://schemas.openxmlformats.org/officeDocument/2006/relationships/presProps" Target="/ppt/presProps.xml" Id="Re2c07438dd9a4d99" /><Relationship Type="http://schemas.openxmlformats.org/officeDocument/2006/relationships/tableStyles" Target="/ppt/tableStyles.xml" Id="Re87aae740fd142d1" /><Relationship Type="http://schemas.openxmlformats.org/officeDocument/2006/relationships/slide" Target="/ppt/slides/slide1.xml" Id="Re7ced514852d470c" /><Relationship Type="http://schemas.openxmlformats.org/officeDocument/2006/relationships/slide" Target="/ppt/slides/slide2.xml" Id="Raaa12c7daad34c62" /><Relationship Type="http://schemas.openxmlformats.org/officeDocument/2006/relationships/slide" Target="/ppt/slides/slide3.xml" Id="Rc2a7e28a86ec4668" /><Relationship Type="http://schemas.openxmlformats.org/officeDocument/2006/relationships/slide" Target="/ppt/slides/slide4.xml" Id="Rced5af26f3bd4fb6" /><Relationship Type="http://schemas.openxmlformats.org/officeDocument/2006/relationships/slide" Target="/ppt/slides/slide5.xml" Id="Rd313c9ff3bec4918" /><Relationship Type="http://schemas.openxmlformats.org/officeDocument/2006/relationships/slide" Target="/ppt/slides/slide6.xml" Id="R903dc56c363f4da9" /><Relationship Type="http://schemas.openxmlformats.org/officeDocument/2006/relationships/slide" Target="/ppt/slides/slide7.xml" Id="R2e94a0f0975048f7" /><Relationship Type="http://schemas.openxmlformats.org/officeDocument/2006/relationships/slide" Target="/ppt/slides/slide8.xml" Id="Rcda6cec595174e05" /><Relationship Type="http://schemas.openxmlformats.org/officeDocument/2006/relationships/slide" Target="/ppt/slides/slide9.xml" Id="Rd7a6889446f64c65" /><Relationship Type="http://schemas.openxmlformats.org/officeDocument/2006/relationships/slide" Target="/ppt/slides/slide10.xml" Id="R0148f4a4141941d8" /><Relationship Type="http://schemas.openxmlformats.org/officeDocument/2006/relationships/slide" Target="/ppt/slides/slide11.xml" Id="R6bf8b33b6b574967" /><Relationship Type="http://schemas.openxmlformats.org/officeDocument/2006/relationships/slide" Target="/ppt/slides/slide12.xml" Id="R9ebf7f7978494882" /><Relationship Type="http://schemas.openxmlformats.org/officeDocument/2006/relationships/slide" Target="/ppt/slides/slide13.xml" Id="R3a1cf2b1bf324231" /><Relationship Type="http://schemas.openxmlformats.org/officeDocument/2006/relationships/slide" Target="/ppt/slides/slide14.xml" Id="R04086261facc4d0b" /><Relationship Type="http://schemas.openxmlformats.org/officeDocument/2006/relationships/slide" Target="/ppt/slides/slide15.xml" Id="R41043111db364fae" /><Relationship Type="http://schemas.openxmlformats.org/officeDocument/2006/relationships/slide" Target="/ppt/slides/slide16.xml" Id="R4f9d9b019ce54bb0" /><Relationship Type="http://schemas.openxmlformats.org/officeDocument/2006/relationships/slide" Target="/ppt/slides/slide17.xml" Id="Rca1a20f303ba4463" /><Relationship Type="http://schemas.openxmlformats.org/officeDocument/2006/relationships/slide" Target="/ppt/slides/slide18.xml" Id="R9ef9977a191142f3" /><Relationship Type="http://schemas.openxmlformats.org/officeDocument/2006/relationships/slide" Target="/ppt/slides/slide19.xml" Id="R4b00090ff7af4deb" /><Relationship Type="http://schemas.openxmlformats.org/officeDocument/2006/relationships/slide" Target="/ppt/slides/slide20.xml" Id="R9fc93084856a4981" /><Relationship Type="http://schemas.openxmlformats.org/officeDocument/2006/relationships/slide" Target="/ppt/slides/slide21.xml" Id="R107f63e4013749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a222567a9c4d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44f8b686814471" /><Relationship Type="http://schemas.openxmlformats.org/officeDocument/2006/relationships/notesMaster" Target="/ppt/notesMasters/notesMaster1.xml" Id="Rd2b4bda56fcf40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cdd47f2834580" /><Relationship Type="http://schemas.openxmlformats.org/officeDocument/2006/relationships/notesMaster" Target="/ppt/notesMasters/notesMaster1.xml" Id="R14052c2791cb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3ae34a6db243da" /><Relationship Type="http://schemas.openxmlformats.org/officeDocument/2006/relationships/notesMaster" Target="/ppt/notesMasters/notesMaster1.xml" Id="R9cefe795cc7742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0586a03094a9f" /><Relationship Type="http://schemas.openxmlformats.org/officeDocument/2006/relationships/notesMaster" Target="/ppt/notesMasters/notesMaster1.xml" Id="R08bc98731da747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a22a85c524783" /><Relationship Type="http://schemas.openxmlformats.org/officeDocument/2006/relationships/notesMaster" Target="/ppt/notesMasters/notesMaster1.xml" Id="R8a2a26a5131349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623cc21f7c4439" /><Relationship Type="http://schemas.openxmlformats.org/officeDocument/2006/relationships/notesMaster" Target="/ppt/notesMasters/notesMaster1.xml" Id="Ra48816823cda45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b46c598f9943a1" /><Relationship Type="http://schemas.openxmlformats.org/officeDocument/2006/relationships/notesMaster" Target="/ppt/notesMasters/notesMaster1.xml" Id="R9cc18308ceeb48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8ac5039b034ed8" /><Relationship Type="http://schemas.openxmlformats.org/officeDocument/2006/relationships/notesMaster" Target="/ppt/notesMasters/notesMaster1.xml" Id="Rcde4e71607cc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aaa6b3ccbd420e" /><Relationship Type="http://schemas.openxmlformats.org/officeDocument/2006/relationships/notesMaster" Target="/ppt/notesMasters/notesMaster1.xml" Id="R07ea8169ec2c46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fd9c26e814333" /><Relationship Type="http://schemas.openxmlformats.org/officeDocument/2006/relationships/notesMaster" Target="/ppt/notesMasters/notesMaster1.xml" Id="Rfb78b9e9fc5f4c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b9b9f471ae4100" /><Relationship Type="http://schemas.openxmlformats.org/officeDocument/2006/relationships/notesMaster" Target="/ppt/notesMasters/notesMaster1.xml" Id="Rf4d7ba0e662748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5a752342a434b" /><Relationship Type="http://schemas.openxmlformats.org/officeDocument/2006/relationships/notesMaster" Target="/ppt/notesMasters/notesMaster1.xml" Id="R23bf8e2ab8344e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4624dd2b9346f9" /><Relationship Type="http://schemas.openxmlformats.org/officeDocument/2006/relationships/notesMaster" Target="/ppt/notesMasters/notesMaster1.xml" Id="R1dc6a25ae4b04d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78749ae7ea4713" /><Relationship Type="http://schemas.openxmlformats.org/officeDocument/2006/relationships/notesMaster" Target="/ppt/notesMasters/notesMaster1.xml" Id="R6ce54422b12448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f1edf850714f5d" /><Relationship Type="http://schemas.openxmlformats.org/officeDocument/2006/relationships/notesMaster" Target="/ppt/notesMasters/notesMaster1.xml" Id="Rfab48cd80f6642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369dd76cb6463e" /><Relationship Type="http://schemas.openxmlformats.org/officeDocument/2006/relationships/notesMaster" Target="/ppt/notesMasters/notesMaster1.xml" Id="Rda281cb7a4a24b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8e149c4f264cdb" /><Relationship Type="http://schemas.openxmlformats.org/officeDocument/2006/relationships/notesMaster" Target="/ppt/notesMasters/notesMaster1.xml" Id="Ra99e1206a86545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b99d0ba07944f0" /><Relationship Type="http://schemas.openxmlformats.org/officeDocument/2006/relationships/notesMaster" Target="/ppt/notesMasters/notesMaster1.xml" Id="R8889cba6fba942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21d4272cb94040" /><Relationship Type="http://schemas.openxmlformats.org/officeDocument/2006/relationships/notesMaster" Target="/ppt/notesMasters/notesMaster1.xml" Id="R0d22d2dcde3c4d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150ab3a0e3483e" /><Relationship Type="http://schemas.openxmlformats.org/officeDocument/2006/relationships/notesMaster" Target="/ppt/notesMasters/notesMaster1.xml" Id="R19cd8fa2661145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9de05ae124422f" /><Relationship Type="http://schemas.openxmlformats.org/officeDocument/2006/relationships/notesMaster" Target="/ppt/notesMasters/notesMaster1.xml" Id="Rb7e28e1ad5a0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 — State the purpose: approve or precisely correct the architecture and close with one task.</a:t>
            </a:r>
          </a:p>
          <a:p xmlns:a="http://schemas.openxmlformats.org/drawingml/2006/main">
            <a:r>
              <a:t>State that this is the weekly supervisor package, not the candidacy or Penina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docs/research/meetings/2026-08-05-supervisor-presentation-checklist.md</a:t>
            </a:r>
          </a:p>
          <a:p xmlns:a="http://schemas.openxmlformats.org/drawingml/2006/main">
            <a:r>
              <a:t>- docs/research/meetings/2026-08-05-supervisor-pre-read.md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0:30–1:10 — Emphasize the difference between capture, implementation, and acceptance.</a:t>
            </a:r>
          </a:p>
          <a:p xmlns:a="http://schemas.openxmlformats.org/drawingml/2006/main">
            <a:r>
              <a:t>Do not say 44/44 complete. State the current distribution: 6 awaiting, 22 partial, 5 open, 9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  <a:p xmlns:a="http://schemas.openxmlformats.org/drawingml/2006/main">
            <a:r>
              <a:t>- docs/research/phd-proposal/master-traceability-register.md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1:10–2:10 — Read the four conceptual slots; alternatives are wording variants, not additional RQs.</a:t>
            </a:r>
          </a:p>
          <a:p xmlns:a="http://schemas.openxmlformats.org/drawingml/2006/main">
            <a:r>
              <a:t>Request D-RQ-01 and D-RQ-02. Record exact corrections.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docs/research/phd-proposal/2026-08-05-rq-decision-pack.md</a:t>
            </a:r>
          </a:p>
          <a:p xmlns:a="http://schemas.openxmlformats.org/drawingml/2006/main">
            <a:r>
              <a:t>- docs/research/meetings/2026-07-29-iris-requirements-register.md (R-01, R-07, R-08)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2:10–3:05 — Connect each SQ to method, evidence, artifact, metrics, risk and fallback.</a:t>
            </a:r>
          </a:p>
          <a:p xmlns:a="http://schemas.openxmlformats.org/drawingml/2006/main">
            <a:r>
              <a:t>Request D-RQ-03. Outcomes remain planned until protocols and human evidence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docs/research/phd-proposal/three-study-contract.md</a:t>
            </a:r>
          </a:p>
          <a:p xmlns:a="http://schemas.openxmlformats.org/drawingml/2006/main">
            <a:r>
              <a:t>- docs/research/phd-proposal/2026-08-05-rq-decision-pack.md#4-study-mapping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3:05–3:35 — This slide prevents scope fragmentation and shows that prior work is not discarded.</a:t>
            </a:r>
          </a:p>
          <a:p xmlns:a="http://schemas.openxmlformats.org/drawingml/2006/main">
            <a:r>
              <a:t>Ask only whether the crosswalk logic is acceptable; do not reopen every legacy wording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docs/research/phd-proposal/legacy-rq-crosswalk.md</a:t>
            </a:r>
          </a:p>
          <a:p xmlns:a="http://schemas.openxmlformats.org/drawingml/2006/main">
            <a:r>
              <a:t>- docs/research/phd-proposal/legacy-decision-disposition.md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3:35–4:30 — Ask D-RQ-04, D-RQ-05 and, if time permits, D-RQ-06.</a:t>
            </a:r>
          </a:p>
          <a:p xmlns:a="http://schemas.openxmlformats.org/drawingml/2006/main">
            <a:r>
              <a:t>Make clear that the 26 August date is an internal proposed control, not a July 29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docs/research/phd-proposal/2026-08-05-rq-decision-pack.md#5-plan-a-and-plan-b-for-confirmation</a:t>
            </a:r>
          </a:p>
          <a:p xmlns:a="http://schemas.openxmlformats.org/drawingml/2006/main">
            <a:r>
              <a:t>- docs/research/governance/medical-readiness-scorecard.md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4:30–5:15 — Request D-RQ-08 only if time permits.</a:t>
            </a:r>
          </a:p>
          <a:p xmlns:a="http://schemas.openxmlformats.org/drawingml/2006/main">
            <a:r>
              <a:t>Do not call the literature review or novelty case complete; the structure and seed tranche are the only narrow completions.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docs/research/phd-proposal/literature-review-protocol.md</a:t>
            </a:r>
          </a:p>
          <a:p xmlns:a="http://schemas.openxmlformats.org/drawingml/2006/main">
            <a:r>
              <a:t>- docs/research/phd-proposal/master-traceability-register.md (R-15, R-16, A-02, A-03)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6:15–7:10 — The bar chart is the audited control-state distribution, not scientific performance.</a:t>
            </a:r>
          </a:p>
          <a:p xmlns:a="http://schemas.openxmlformats.org/drawingml/2006/main">
            <a:r>
              <a:t>Say explicitly: mechanism/readiness evidence exists; accuracy, generalization, effort reduction, and clinical benefit do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  <a:p xmlns:a="http://schemas.openxmlformats.org/drawingml/2006/main">
            <a:r>
              <a:t>- docs/research/phd-proposal/claim-register.md</a:t>
            </a:r>
          </a:p>
          <a:p xmlns:a="http://schemas.openxmlformats.org/drawingml/2006/main">
            <a:r>
              <a:t>- docs/research/governance/mimic-metadata-audit-2026-07-30.md</a:t>
            </a:r>
          </a:p>
          <a:p xmlns:a="http://schemas.openxmlformats.org/drawingml/2006/main">
            <a:r>
              <a:t>- reports/generated/exp005_label_review/ (current safe-label gate: 0/24)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7:10–8:00 — State 0/6, 25/26 observed tables and missing NOTEEVENTS/provenance.</a:t>
            </a:r>
          </a:p>
          <a:p xmlns:a="http://schemas.openxmlformats.org/drawingml/2006/main">
            <a:r>
              <a:t>Ask D-RQ-09 and the medical-owner portion of D-RQ-10 if time permits.</a:t>
            </a:r>
          </a:p>
          <a:p xmlns:a="http://schemas.openxmlformats.org/drawingml/2006/main">
            <a:r>
              <a:t>No online/commercial model and no row-level work are authorized.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docs/research/governance/medical-readiness-scorecard.md</a:t>
            </a:r>
          </a:p>
          <a:p xmlns:a="http://schemas.openxmlformats.org/drawingml/2006/main">
            <a:r>
              <a:t>- docs/research/governance/mimic-metadata-audit-2026-07-30.md</a:t>
            </a:r>
          </a:p>
          <a:p xmlns:a="http://schemas.openxmlformats.org/drawingml/2006/main">
            <a:r>
              <a:t>- docs/research/governance/phd-data-boundary.md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8:00–8:45 — Calendar recurrence is confirmed; weekly execution quality is not yet evidenced.</a:t>
            </a:r>
          </a:p>
          <a:p xmlns:a="http://schemas.openxmlformats.org/drawingml/2006/main">
            <a:r>
              <a:t>Drive sharing, official candidacy rules, Penina dates and Iris availability require explicit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docs/research/phd-proposal/resource-raci-raid-register.md</a:t>
            </a:r>
          </a:p>
          <a:p xmlns:a="http://schemas.openxmlformats.org/drawingml/2006/main">
            <a:r>
              <a:t>- docs/research/phd-proposal/university-process-verification-checklist.md</a:t>
            </a:r>
          </a:p>
          <a:p xmlns:a="http://schemas.openxmlformats.org/drawingml/2006/main">
            <a:r>
              <a:t>- docs/research/phd-proposal/drive-workspace-manifest.md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8:45–10:00 — Pause after each decision and capture exact wording, approver and rationale.</a:t>
            </a:r>
          </a:p>
          <a:p xmlns:a="http://schemas.openxmlformats.org/drawingml/2006/main">
            <a:r>
              <a:t>D-RQ-06, 08, 09 and owner assignment D-RQ-10 remain available in the appendix/pre-read.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docs/research/phd-proposal/2026-08-05-rq-decision-pack.md#7-decisions-requested</a:t>
            </a:r>
          </a:p>
          <a:p xmlns:a="http://schemas.openxmlformats.org/drawingml/2006/main">
            <a:r>
              <a:t>- docs/research/meetings/2026-08-05-supervisor-presentation-checklist.md#decision-worksheet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10:00–11:00 — Read back exact decisions and corrections.</a:t>
            </a:r>
          </a:p>
          <a:p xmlns:a="http://schemas.openxmlformats.org/drawingml/2006/main">
            <a:r>
              <a:t>Do not close until one primary task has owner, due date, evidence and definition of done.</a:t>
            </a:r>
          </a:p>
          <a:p xmlns:a="http://schemas.openxmlformats.org/drawingml/2006/main">
            <a:r>
              <a:t>A deferred item remains open and is not converted into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docs/templates/weekly-supervisor-pre-read.md</a:t>
            </a:r>
          </a:p>
          <a:p xmlns:a="http://schemas.openxmlformats.org/drawingml/2006/main">
            <a:r>
              <a:t>- docs/research/phd-proposal/decision-change-log.md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 requirement-specific question arises.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 requirement-specific question arises.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equate an artifact draft with delivered or accepted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equate an artifact draft with delivered or accepted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Silence remains Deferred.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docs/research/phd-proposal/iris-requirements-closure-audit.md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claim state visible before discussing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docs/research/phd-proposal/claim-register.md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 — Do not show or read a direct quote. The ledger is a review interface, not a completed review.</a:t>
            </a:r>
          </a:p>
          <a:p xmlns:a="http://schemas.openxmlformats.org/drawingml/2006/main">
            <a:r>
              <a:t>Only S-0001–S-0006 have pre-existing high-confidence named Iris attribution.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docs/research/meetings/2026-07-29-iris-supervisor-provenance-manifest.md</a:t>
            </a:r>
          </a:p>
          <a:p xmlns:a="http://schemas.openxmlformats.org/drawingml/2006/main">
            <a:r>
              <a:t>- outputs/iris-closure-2026-08-01/Iris_Zoom_Review_Ledger_2026-07-29.xlsx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crosswalk to avoid creating duplicate canonical experiment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docs/research/phd-proposal/scientific-experiment-crosswalk.md</a:t>
            </a:r>
          </a:p>
          <a:p xmlns:a="http://schemas.openxmlformats.org/drawingml/2006/main">
            <a:r>
              <a:t>- experiments/registry.md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appendix with the exact release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docs/research/meetings/2026-08-05-supervisor-presentation-manifest.md</a:t>
            </a:r>
          </a:p>
          <a:p xmlns:a="http://schemas.openxmlformats.org/drawingml/2006/main">
            <a:r>
              <a:t>- docs/research/meetings/2026-08-05-supervisor-rehearsal-record.md</a:t>
            </a:r>
          </a:p>
          <a:p xmlns:a="http://schemas.openxmlformats.org/drawingml/2006/main">
            <a:r>
              <a:t>- docs/research/meetings/2026-08-05-supervisor-delivery-access-record.md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69d962fa7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8e99c6f19e4a3b" /><Relationship Type="http://schemas.openxmlformats.org/officeDocument/2006/relationships/slideLayout" Target="/ppt/slideLayouts/slideLayout1.xml" Id="R7eff8f86b93c44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ff8f86b93c44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77ffa01664679" /><Relationship Type="http://schemas.openxmlformats.org/officeDocument/2006/relationships/notesSlide" Target="/ppt/notesSlides/notesSlide1.xml" Id="R6bc6fd626d0648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406aa6bae4397" /><Relationship Type="http://schemas.openxmlformats.org/officeDocument/2006/relationships/notesSlide" Target="/ppt/notesSlides/notesSlide2.xml" Id="R0a8c998fcca9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88d89100461f" /><Relationship Type="http://schemas.openxmlformats.org/officeDocument/2006/relationships/notesSlide" Target="/ppt/notesSlides/notesSlide3.xml" Id="R2a1492d24c3343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e25e61b54945" /><Relationship Type="http://schemas.openxmlformats.org/officeDocument/2006/relationships/notesSlide" Target="/ppt/notesSlides/notesSlide4.xml" Id="Rcf0f822f80a349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39e0e76a1442d" /><Relationship Type="http://schemas.openxmlformats.org/officeDocument/2006/relationships/notesSlide" Target="/ppt/notesSlides/notesSlide5.xml" Id="R0f541656f6f746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5b0e7c6404777" /><Relationship Type="http://schemas.openxmlformats.org/officeDocument/2006/relationships/notesSlide" Target="/ppt/notesSlides/notesSlide6.xml" Id="R8affc73e5e6842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d864252274654" /><Relationship Type="http://schemas.openxmlformats.org/officeDocument/2006/relationships/notesSlide" Target="/ppt/notesSlides/notesSlide7.xml" Id="R230035217ee84f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25593fec44828" /><Relationship Type="http://schemas.openxmlformats.org/officeDocument/2006/relationships/chart" Target="/ppt/slides/charts/chart1.xml" Id="Rbc6a7359ea8d4379" /><Relationship Type="http://schemas.openxmlformats.org/officeDocument/2006/relationships/notesSlide" Target="/ppt/notesSlides/notesSlide8.xml" Id="R130a5fa0777444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b40f643da4f97" /><Relationship Type="http://schemas.openxmlformats.org/officeDocument/2006/relationships/notesSlide" Target="/ppt/notesSlides/notesSlide9.xml" Id="R6c4fe9717e5640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434b796614b93" /><Relationship Type="http://schemas.openxmlformats.org/officeDocument/2006/relationships/notesSlide" Target="/ppt/notesSlides/notesSlide10.xml" Id="Re7997e7a121d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415ce309e4b71" /><Relationship Type="http://schemas.openxmlformats.org/officeDocument/2006/relationships/notesSlide" Target="/ppt/notesSlides/notesSlide11.xml" Id="Rdc762d59d0e142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80146480b43b4" /><Relationship Type="http://schemas.openxmlformats.org/officeDocument/2006/relationships/notesSlide" Target="/ppt/notesSlides/notesSlide12.xml" Id="R5577bb912f994f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f3ade12c4f63" /><Relationship Type="http://schemas.openxmlformats.org/officeDocument/2006/relationships/notesSlide" Target="/ppt/notesSlides/notesSlide13.xml" Id="R7646a9cd51c942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b3dd5850c454d" /><Relationship Type="http://schemas.openxmlformats.org/officeDocument/2006/relationships/notesSlide" Target="/ppt/notesSlides/notesSlide14.xml" Id="Rfa6d227ca5cd46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7f40ecae64d28" /><Relationship Type="http://schemas.openxmlformats.org/officeDocument/2006/relationships/notesSlide" Target="/ppt/notesSlides/notesSlide15.xml" Id="Rab03a7995a8d46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700180f6f4323" /><Relationship Type="http://schemas.openxmlformats.org/officeDocument/2006/relationships/notesSlide" Target="/ppt/notesSlides/notesSlide16.xml" Id="R1ba8bba5b19f44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d2a51510548c7" /><Relationship Type="http://schemas.openxmlformats.org/officeDocument/2006/relationships/notesSlide" Target="/ppt/notesSlides/notesSlide17.xml" Id="R336665867d6a43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5da0116a4f60" /><Relationship Type="http://schemas.openxmlformats.org/officeDocument/2006/relationships/notesSlide" Target="/ppt/notesSlides/notesSlide18.xml" Id="Re3a44e15a9434e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cfde2de5d42f5" /><Relationship Type="http://schemas.openxmlformats.org/officeDocument/2006/relationships/notesSlide" Target="/ppt/notesSlides/notesSlide19.xml" Id="R637ebaa771b048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d6cfa647e4156" /><Relationship Type="http://schemas.openxmlformats.org/officeDocument/2006/relationships/notesSlide" Target="/ppt/notesSlides/notesSlide20.xml" Id="R67b96aec86424bb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ecfc99d14fe6" /><Relationship Type="http://schemas.openxmlformats.org/officeDocument/2006/relationships/notesSlide" Target="/ppt/notesSlides/notesSlide21.xml" Id="R27a5a9485e1046e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Controls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Verified</c:v>
              </c:pt>
              <c:pt idx="1">
                <c:v>Awaiting</c:v>
              </c:pt>
              <c:pt idx="2">
                <c:v>Partial</c:v>
              </c:pt>
              <c:pt idx="3">
                <c:v>Open</c:v>
              </c:pt>
              <c:pt idx="4">
                <c:v>Blocked</c:v>
              </c:pt>
            </c:str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6</c:v>
              </c:pt>
              <c:pt idx="2">
                <c:v>22</c:v>
              </c:pt>
              <c:pt idx="3">
                <c:v>5</c:v>
              </c:pt>
              <c:pt idx="4">
                <c:v>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5898E03-D4A6-4D46-B913-298511BD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VEGO-AI · SUPERVISOR DECISION CHECKPOINT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AA082B9-FE8D-49EB-829F-30A86499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38225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1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 the doctoral spine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protect the evidence boundary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B7AD96-DCAA-4494-9A22-8D1DE44E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7239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2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Iris Reinhartz-Berger · Arnon Sturm · Ali Hamed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5 August 2026 · weekly supervisor meeting</a:t>
            </a:r>
          </a:p>
        </p:txBody>
      </p:sp>
    </p:spTree>
    <p:extLst>
      <p:ext uri="{BB962C8B-B14F-4D97-AF65-F5344CB8AC3E}">
        <p14:creationId xmlns:p14="http://schemas.microsoft.com/office/powerpoint/2010/main" val="569702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EE55D3-D831-4513-B328-10F6CCF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9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known controls are captured; acceptance remains open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13931C-DAA4-4B6A-8275-80B670E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4E73E00-3E78-4667-8568-022297D6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The package is traceable and evidence-linked, but human and external gates still control completion.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6BA393CD-402B-41DD-9F99-470843B4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FFB"/>
          </a:solidFill>
          <a:ln xmlns:a="http://schemas.openxmlformats.org/drawingml/2006/main" w="0">
            <a:solidFill>
              <a:srgbClr val="D8EFFB"/>
            </a:solidFill>
            <a:prstDash val="solid"/>
          </a:ln>
        </p:spPr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7AB837FA-A4A3-4275-ABC6-6A24EF88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44/44</a:t>
            </a:r>
          </a:p>
        </p:txBody>
      </p:sp>
      <p:sp>
        <p:nvSpPr>
          <p:cNvPr id="6" name="metric-copy-1">
            <a:extLst xmlns:a="http://schemas.openxmlformats.org/drawingml/2006/main">
              <a:ext uri="{FF2B5EF4-FFF2-40B4-BE49-F238E27FC236}">
                <a16:creationId xmlns:a16="http://schemas.microsoft.com/office/drawing/2014/main" id="{804EE8AF-67DF-4B62-894F-332BFA4B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00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controls captured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19 requirements · 15 actions · 10 questions</a:t>
            </a:r>
          </a:p>
        </p:txBody>
      </p:sp>
      <p:sp>
        <p:nvSpPr>
          <p:cNvPr id="7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01E44F4E-56F0-4B42-BDD7-F4D311CE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C995E951-9607-4641-8077-195417C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0375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4C95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metric-copy-2">
            <a:extLst xmlns:a="http://schemas.openxmlformats.org/drawingml/2006/main">
              <a:ext uri="{FF2B5EF4-FFF2-40B4-BE49-F238E27FC236}">
                <a16:creationId xmlns:a16="http://schemas.microsoft.com/office/drawing/2014/main" id="{6BA9B471-6474-4EFD-B39F-7FB69085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38625"/>
            <a:ext cx="300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narrowly verified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A-03 workbook seed and A-06 calendar recurrence</a:t>
            </a:r>
          </a:p>
        </p:txBody>
      </p:sp>
      <p:sp>
        <p:nvSpPr>
          <p:cNvPr id="10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A2F7BE83-9047-42C1-91B7-B38B9F9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metric-3">
            <a:extLst xmlns:a="http://schemas.openxmlformats.org/drawingml/2006/main">
              <a:ext uri="{FF2B5EF4-FFF2-40B4-BE49-F238E27FC236}">
                <a16:creationId xmlns:a16="http://schemas.microsoft.com/office/drawing/2014/main" id="{FA38B357-3945-4107-8358-0380223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0/19</a:t>
            </a:r>
          </a:p>
        </p:txBody>
      </p:sp>
      <p:sp>
        <p:nvSpPr>
          <p:cNvPr id="12" name="metric-copy-3">
            <a:extLst xmlns:a="http://schemas.openxmlformats.org/drawingml/2006/main">
              <a:ext uri="{FF2B5EF4-FFF2-40B4-BE49-F238E27FC236}">
                <a16:creationId xmlns:a16="http://schemas.microsoft.com/office/drawing/2014/main" id="{C32BA06F-4BA2-4919-B575-9857BC12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00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requirements accepted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Iris/Arnon decisions are not yet recorded</a:t>
            </a:r>
          </a:p>
        </p:txBody>
      </p:sp>
    </p:spTree>
    <p:extLst>
      <p:ext uri="{BB962C8B-B14F-4D97-AF65-F5344CB8AC3E}">
        <p14:creationId xmlns:p14="http://schemas.microsoft.com/office/powerpoint/2010/main" val="140032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294B51-CCBD-4278-8935-9539A88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8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doctoral spine connects intervention, governance, and transfer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14E0D1E-5207-4FCD-B38E-8D74822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left-panel">
            <a:extLst xmlns:a="http://schemas.openxmlformats.org/drawingml/2006/main">
              <a:ext uri="{FF2B5EF4-FFF2-40B4-BE49-F238E27FC236}">
                <a16:creationId xmlns:a16="http://schemas.microsoft.com/office/drawing/2014/main" id="{99C764C3-2B21-4B07-BEB3-93BFDCC1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right-panel">
            <a:extLst xmlns:a="http://schemas.openxmlformats.org/drawingml/2006/main">
              <a:ext uri="{FF2B5EF4-FFF2-40B4-BE49-F238E27FC236}">
                <a16:creationId xmlns:a16="http://schemas.microsoft.com/office/drawing/2014/main" id="{F089B530-A090-4750-960C-D8324B34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left-copy">
            <a:extLst xmlns:a="http://schemas.openxmlformats.org/drawingml/2006/main">
              <a:ext uri="{FF2B5EF4-FFF2-40B4-BE49-F238E27FC236}">
                <a16:creationId xmlns:a16="http://schemas.microsoft.com/office/drawing/2014/main" id="{E65E07C2-44F8-4861-BC01-131631E9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Umbrella research question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can reusable human judgment be captured, governed, and reused in agentic AI assessment?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Goal: auditable, reliable, and transferable human–AI co-reasoning.</a:t>
            </a:r>
          </a:p>
        </p:txBody>
      </p:sp>
      <p:sp>
        <p:nvSpPr>
          <p:cNvPr id="6" name="right-copy">
            <a:extLst xmlns:a="http://schemas.openxmlformats.org/drawingml/2006/main">
              <a:ext uri="{FF2B5EF4-FFF2-40B4-BE49-F238E27FC236}">
                <a16:creationId xmlns:a16="http://schemas.microsoft.com/office/drawing/2014/main" id="{476BB6B1-4242-4893-9068-D9979A67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577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Exactly three subquestions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SQ1 · When should the system request human judgment?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SQ2 · How should judgment be governed and safely reused?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SQ3 · What quality, traceability, effort, and transfer effects result?</a:t>
            </a:r>
          </a:p>
        </p:txBody>
      </p:sp>
    </p:spTree>
    <p:extLst>
      <p:ext uri="{BB962C8B-B14F-4D97-AF65-F5344CB8AC3E}">
        <p14:creationId xmlns:p14="http://schemas.microsoft.com/office/powerpoint/2010/main" val="1060303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8066B-2233-4E84-8A77-53C657D2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subquestion has one study, artifact, and fallback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E4E2A0-834B-4D5F-8A58-C15F56D4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point-1">
            <a:extLst xmlns:a="http://schemas.openxmlformats.org/drawingml/2006/main">
              <a:ext uri="{FF2B5EF4-FFF2-40B4-BE49-F238E27FC236}">
                <a16:creationId xmlns:a16="http://schemas.microsoft.com/office/drawing/2014/main" id="{EFC4E2C1-C0E2-4B44-87EA-A808C11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86375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2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Study 1 · Intervention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Design science + trigger, timing, dosage, routing, burden, timeout and conformance tests.</a:t>
            </a:r>
          </a:p>
        </p:txBody>
      </p:sp>
      <p:sp>
        <p:nvSpPr>
          <p:cNvPr id="4" name="point-2">
            <a:extLst xmlns:a="http://schemas.openxmlformats.org/drawingml/2006/main">
              <a:ext uri="{FF2B5EF4-FFF2-40B4-BE49-F238E27FC236}">
                <a16:creationId xmlns:a16="http://schemas.microsoft.com/office/drawing/2014/main" id="{6952B0FA-C116-4C54-BEC0-8A8CC42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5286375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2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Study 2 · Judgment lifecycle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Provenance, validation, conflict, authority, expiry, retrieval and unsafe-reuse tests.</a:t>
            </a:r>
          </a:p>
        </p:txBody>
      </p:sp>
      <p:sp>
        <p:nvSpPr>
          <p:cNvPr id="5" name="point-3">
            <a:extLst xmlns:a="http://schemas.openxmlformats.org/drawingml/2006/main">
              <a:ext uri="{FF2B5EF4-FFF2-40B4-BE49-F238E27FC236}">
                <a16:creationId xmlns:a16="http://schemas.microsoft.com/office/drawing/2014/main" id="{0881FDBC-992E-46D9-B8A0-EB37747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286375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2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Study 3 · Evaluation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Blinded reviewers, adjudication, paired outcomes, effort/usability and transfer limits.</a:t>
            </a:r>
          </a:p>
        </p:txBody>
      </p:sp>
      <p:sp>
        <p:nvSpPr>
          <p:cNvPr id="6" name="point-4">
            <a:extLst xmlns:a="http://schemas.openxmlformats.org/drawingml/2006/main">
              <a:ext uri="{FF2B5EF4-FFF2-40B4-BE49-F238E27FC236}">
                <a16:creationId xmlns:a16="http://schemas.microsoft.com/office/drawing/2014/main" id="{5291999F-C647-484A-B839-B263AC8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43350"/>
            <a:ext cx="5286375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2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C956C"/>
                </a:solidFill>
                <a:latin typeface="Arial"/>
                <a:ea typeface="Arial"/>
                <a:cs typeface="Arial"/>
              </a:rPr>
              <a:t>Common fallback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All three questions remain answerable under Plan B; medicine is not the only completion path.</a:t>
            </a:r>
          </a:p>
        </p:txBody>
      </p:sp>
    </p:spTree>
    <p:extLst>
      <p:ext uri="{BB962C8B-B14F-4D97-AF65-F5344CB8AC3E}">
        <p14:creationId xmlns:p14="http://schemas.microsoft.com/office/powerpoint/2010/main" val="1310431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E05029-4053-4462-A842-A76D6E03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Legacy questions are absorbed—not silently deleted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AEC28C-434E-42D1-AAFD-8D464AF1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left-panel">
            <a:extLst xmlns:a="http://schemas.openxmlformats.org/drawingml/2006/main">
              <a:ext uri="{FF2B5EF4-FFF2-40B4-BE49-F238E27FC236}">
                <a16:creationId xmlns:a16="http://schemas.microsoft.com/office/drawing/2014/main" id="{193FFBFB-022F-4C33-B52C-2DB36CD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right-panel">
            <a:extLst xmlns:a="http://schemas.openxmlformats.org/drawingml/2006/main">
              <a:ext uri="{FF2B5EF4-FFF2-40B4-BE49-F238E27FC236}">
                <a16:creationId xmlns:a16="http://schemas.microsoft.com/office/drawing/2014/main" id="{C6E4332E-0373-444C-ACD7-2167BF0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left-copy">
            <a:extLst xmlns:a="http://schemas.openxmlformats.org/drawingml/2006/main">
              <a:ext uri="{FF2B5EF4-FFF2-40B4-BE49-F238E27FC236}">
                <a16:creationId xmlns:a16="http://schemas.microsoft.com/office/drawing/2014/main" id="{32E1FAAE-5A5A-4AF6-8D42-96627CBE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preserved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earlier five- or six-question set keeps a recorded disposition.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Useful constructs remain as study variables, evaluation measures, or supporting questions.</a:t>
            </a:r>
          </a:p>
        </p:txBody>
      </p:sp>
      <p:sp>
        <p:nvSpPr>
          <p:cNvPr id="6" name="right-copy">
            <a:extLst xmlns:a="http://schemas.openxmlformats.org/drawingml/2006/main">
              <a:ext uri="{FF2B5EF4-FFF2-40B4-BE49-F238E27FC236}">
                <a16:creationId xmlns:a16="http://schemas.microsoft.com/office/drawing/2014/main" id="{2C9331F6-0557-4779-823C-D50F97B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577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changes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umbrella RQ and three SQs become the proposal spine.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Duplicate, evaluation-only, or out-of-scope wording is retired transparently.</a:t>
            </a:r>
          </a:p>
        </p:txBody>
      </p:sp>
    </p:spTree>
    <p:extLst>
      <p:ext uri="{BB962C8B-B14F-4D97-AF65-F5344CB8AC3E}">
        <p14:creationId xmlns:p14="http://schemas.microsoft.com/office/powerpoint/2010/main" val="1635595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48CBDD-465D-4FCA-8BF5-18F0393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2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B protects doctoral completion; Plan A is conditional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E3F842-E984-455A-9C8E-8704D6FC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left-panel">
            <a:extLst xmlns:a="http://schemas.openxmlformats.org/drawingml/2006/main">
              <a:ext uri="{FF2B5EF4-FFF2-40B4-BE49-F238E27FC236}">
                <a16:creationId xmlns:a16="http://schemas.microsoft.com/office/drawing/2014/main" id="{78265576-5727-477F-8CE4-B02276C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D8EFFB"/>
          </a:solidFill>
          <a:ln xmlns:a="http://schemas.openxmlformats.org/drawingml/2006/main" w="0">
            <a:solidFill>
              <a:srgbClr val="D8EFFB"/>
            </a:solidFill>
            <a:prstDash val="solid"/>
          </a:ln>
        </p:spPr>
      </p:sp>
      <p:sp>
        <p:nvSpPr>
          <p:cNvPr id="4" name="right-panel">
            <a:extLst xmlns:a="http://schemas.openxmlformats.org/drawingml/2006/main">
              <a:ext uri="{FF2B5EF4-FFF2-40B4-BE49-F238E27FC236}">
                <a16:creationId xmlns:a16="http://schemas.microsoft.com/office/drawing/2014/main" id="{CE74ED2B-CCCD-420D-93DE-FF944845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left-copy">
            <a:extLst xmlns:a="http://schemas.openxmlformats.org/drawingml/2006/main">
              <a:ext uri="{FF2B5EF4-FFF2-40B4-BE49-F238E27FC236}">
                <a16:creationId xmlns:a16="http://schemas.microsoft.com/office/drawing/2014/main" id="{B0EE7040-7995-4306-B2DF-F7E6B2F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Plan B · committed fallback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 Studies 1–3 in software/modeling plus an authorized non-medical replication.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RQs, doctoral scale, evaluation, and publication outputs.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Executable without clinician, medical data, VDI, or ethics dependencies.</a:t>
            </a:r>
          </a:p>
        </p:txBody>
      </p:sp>
      <p:sp>
        <p:nvSpPr>
          <p:cNvPr id="6" name="right-copy">
            <a:extLst xmlns:a="http://schemas.openxmlformats.org/drawingml/2006/main">
              <a:ext uri="{FF2B5EF4-FFF2-40B4-BE49-F238E27FC236}">
                <a16:creationId xmlns:a16="http://schemas.microsoft.com/office/drawing/2014/main" id="{2CC60413-A8D8-4381-83CE-2E10BCF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5775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A · staged extension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 bounded medical transfer only after G1–G6 pass.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If any critical gate is not evidenced by 26 August, Plan B becomes the September baseline.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4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date and rule remain proposed until D-RQ-04–06 are decided.</a:t>
            </a:r>
          </a:p>
        </p:txBody>
      </p:sp>
    </p:spTree>
    <p:extLst>
      <p:ext uri="{BB962C8B-B14F-4D97-AF65-F5344CB8AC3E}">
        <p14:creationId xmlns:p14="http://schemas.microsoft.com/office/powerpoint/2010/main" val="492277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4A483E-D47E-44ED-9133-A634ABB7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 system ready; review remains open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BC18EC-A481-4F64-82D1-648AAF60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table-subtitle">
            <a:extLst xmlns:a="http://schemas.openxmlformats.org/drawingml/2006/main">
              <a:ext uri="{FF2B5EF4-FFF2-40B4-BE49-F238E27FC236}">
                <a16:creationId xmlns:a16="http://schemas.microsoft.com/office/drawing/2014/main" id="{A5BAA13D-6EE8-424E-8513-73C1CA1E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3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One paper per row; authors’ evidence remains separate from Ali’s synthesis.</a:t>
            </a:r>
          </a:p>
        </p:txBody>
      </p:sp>
      <p:graphicFrame>
        <p:nvGraphicFramePr>
          <p:cNvPr id="8" name="evidenc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476625"/>
                <a:gridCol w="1952625"/>
                <a:gridCol w="3533775"/>
              </a:tblGrid>
              <a:tr h="682625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Artifact now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proof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Search protocol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Databases, concepts, dates, screening fields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Prepared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Execute and date queries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Workbook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Six tabs + controlled fields + six seeds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Verified narrow 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Verify every seed and DOI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Screening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Inclusion/exclusion fields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 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Deduplicate and screen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Synthesis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Taxonomy and gap views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 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Compare claims, limits and contradictions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Novelty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Candidate linked lifecycle contribution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Preliminary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Supervisor-reviewed corpus evidence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503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0B1462-2540-4100-B5DF-8C15C911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5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evidence supports mechanisms—not outcome claims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652AC80-FADC-4074-A932-A04784F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card-one">
            <a:extLst xmlns:a="http://schemas.openxmlformats.org/drawingml/2006/main">
              <a:ext uri="{FF2B5EF4-FFF2-40B4-BE49-F238E27FC236}">
                <a16:creationId xmlns:a16="http://schemas.microsoft.com/office/drawing/2014/main" id="{A5E034E0-3886-419E-B8D7-96C05DA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8EFFB"/>
          </a:solidFill>
          <a:ln xmlns:a="http://schemas.openxmlformats.org/drawingml/2006/main" w="0">
            <a:solidFill>
              <a:srgbClr val="D8EFFB"/>
            </a:solidFill>
            <a:prstDash val="solid"/>
          </a:ln>
        </p:spPr>
      </p:sp>
      <p:sp>
        <p:nvSpPr>
          <p:cNvPr id="4" name="card-two">
            <a:extLst xmlns:a="http://schemas.openxmlformats.org/drawingml/2006/main">
              <a:ext uri="{FF2B5EF4-FFF2-40B4-BE49-F238E27FC236}">
                <a16:creationId xmlns:a16="http://schemas.microsoft.com/office/drawing/2014/main" id="{6B899C89-6161-4011-A4CC-9835151E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0375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card-three">
            <a:extLst xmlns:a="http://schemas.openxmlformats.org/drawingml/2006/main">
              <a:ext uri="{FF2B5EF4-FFF2-40B4-BE49-F238E27FC236}">
                <a16:creationId xmlns:a16="http://schemas.microsoft.com/office/drawing/2014/main" id="{DDCE05F5-BE69-4F2A-AF91-2CD16EC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953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exp005-card">
            <a:extLst xmlns:a="http://schemas.openxmlformats.org/drawingml/2006/main">
              <a:ext uri="{FF2B5EF4-FFF2-40B4-BE49-F238E27FC236}">
                <a16:creationId xmlns:a16="http://schemas.microsoft.com/office/drawing/2014/main" id="{A86D6813-BF69-48B8-9D30-9A49717B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381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1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0/24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EXP-005 safe labels</a:t>
            </a:r>
          </a:p>
        </p:txBody>
      </p:sp>
      <p:sp>
        <p:nvSpPr>
          <p:cNvPr id="7" name="medical-card">
            <a:extLst xmlns:a="http://schemas.openxmlformats.org/drawingml/2006/main">
              <a:ext uri="{FF2B5EF4-FFF2-40B4-BE49-F238E27FC236}">
                <a16:creationId xmlns:a16="http://schemas.microsoft.com/office/drawing/2014/main" id="{2BA5AA61-2EB8-490B-A583-04CFDD0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4381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1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0/6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 readiness gates</a:t>
            </a:r>
          </a:p>
        </p:txBody>
      </p:sp>
      <p:sp>
        <p:nvSpPr>
          <p:cNvPr id="8" name="mimic-card">
            <a:extLst xmlns:a="http://schemas.openxmlformats.org/drawingml/2006/main">
              <a:ext uri="{FF2B5EF4-FFF2-40B4-BE49-F238E27FC236}">
                <a16:creationId xmlns:a16="http://schemas.microsoft.com/office/drawing/2014/main" id="{ABB0BE4A-C592-4DF7-93D4-66446B7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381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15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25/26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MIMIC tables; provenance unresolved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6a7359ea8d4379"/>
          </a:graphicData>
        </a:graphic>
      </p:graphicFrame>
    </p:spTree>
    <p:extLst>
      <p:ext uri="{BB962C8B-B14F-4D97-AF65-F5344CB8AC3E}">
        <p14:creationId xmlns:p14="http://schemas.microsoft.com/office/powerpoint/2010/main" val="1213711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61F43B-43E1-4387-BF31-9A7FCE8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 work remains no-go until all six gates pass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B64381-215A-41B2-8706-6FF5FE2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table-subtitle">
            <a:extLst xmlns:a="http://schemas.openxmlformats.org/drawingml/2006/main">
              <a:ext uri="{FF2B5EF4-FFF2-40B4-BE49-F238E27FC236}">
                <a16:creationId xmlns:a16="http://schemas.microsoft.com/office/drawing/2014/main" id="{AD111659-B8C2-47D3-A7EC-E0E6C7B7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3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The current MIMIC work is metadata/schema familiarization only; no patient rows were inspected.</a:t>
            </a:r>
          </a:p>
        </p:txBody>
      </p:sp>
      <p:graphicFrame>
        <p:nvGraphicFramePr>
          <p:cNvPr id="8" name="evidenc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95750"/>
                <a:gridCol w="1428750"/>
                <a:gridCol w="4152900"/>
              </a:tblGrid>
              <a:tr h="585107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Required proof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Current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Consequence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G1 Use 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Workflow, owner, unit, I/O, success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medical design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G2 People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Clinician, custodian, ethics, VDI admin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accountable route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G3 Authorization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Named-user project permission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row access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G4 Ethics/privacy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Written project determination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derived data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G5 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VDI, storage, logging, offline 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processing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G6 Protocol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Cohort/outcome/mapping/leakage/statistics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experiment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932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6AB89A-4896-44BC-9201-88865302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schedule advances while external rules remain open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D91260-D11A-4CD7-98E6-A5452F9A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15" name="timeline-line"/>
          <p:cNvCxnSpPr/>
          <p:nvPr/>
        </p:nvCxnSpPr>
        <p:spPr>
          <a:xfrm xmlns:a="http://schemas.openxmlformats.org/drawingml/2006/main">
            <a:off x="742950" y="3286125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3FA28B08-61E1-49E1-9C9D-7DD9784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date-1">
            <a:extLst xmlns:a="http://schemas.openxmlformats.org/drawingml/2006/main">
              <a:ext uri="{FF2B5EF4-FFF2-40B4-BE49-F238E27FC236}">
                <a16:creationId xmlns:a16="http://schemas.microsoft.com/office/drawing/2014/main" id="{FD430E78-CA9F-4D8D-A2A2-CAA39E78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 AUG</a:t>
            </a:r>
          </a:p>
        </p:txBody>
      </p:sp>
      <p:sp>
        <p:nvSpPr>
          <p:cNvPr id="6" name="milestone-1">
            <a:extLst xmlns:a="http://schemas.openxmlformats.org/drawingml/2006/main">
              <a:ext uri="{FF2B5EF4-FFF2-40B4-BE49-F238E27FC236}">
                <a16:creationId xmlns:a16="http://schemas.microsoft.com/office/drawing/2014/main" id="{F2C3F70A-84A3-44D8-8041-EE734DD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857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Architecture decision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RQ/study/Plan A–B/claim decisions plus one next task.</a:t>
            </a:r>
          </a:p>
        </p:txBody>
      </p:sp>
      <p:sp>
        <p:nvSpPr>
          <p:cNvPr id="7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8679CC00-810F-4297-8E08-67AB0D4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2C94C"/>
            </a:solidFill>
            <a:prstDash val="solid"/>
          </a:ln>
        </p:spPr>
      </p:sp>
      <p:sp>
        <p:nvSpPr>
          <p:cNvPr id="8" name="date-2">
            <a:extLst xmlns:a="http://schemas.openxmlformats.org/drawingml/2006/main">
              <a:ext uri="{FF2B5EF4-FFF2-40B4-BE49-F238E27FC236}">
                <a16:creationId xmlns:a16="http://schemas.microsoft.com/office/drawing/2014/main" id="{A502517F-D727-488B-9135-1A5F26B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26 AUG</a:t>
            </a:r>
          </a:p>
        </p:txBody>
      </p:sp>
      <p:sp>
        <p:nvSpPr>
          <p:cNvPr id="9" name="milestone-2">
            <a:extLst xmlns:a="http://schemas.openxmlformats.org/drawingml/2006/main">
              <a:ext uri="{FF2B5EF4-FFF2-40B4-BE49-F238E27FC236}">
                <a16:creationId xmlns:a16="http://schemas.microsoft.com/office/drawing/2014/main" id="{9E9C1C99-167C-4CE8-9108-AD2FD84A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 go/no-go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6/6 permits consideration; 0–5/6 activates Plan B.</a:t>
            </a:r>
          </a:p>
        </p:txBody>
      </p:sp>
      <p:sp>
        <p:nvSpPr>
          <p:cNvPr id="1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77BF8096-60E6-492F-A5D7-EF1E2EEB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11" name="date-3">
            <a:extLst xmlns:a="http://schemas.openxmlformats.org/drawingml/2006/main">
              <a:ext uri="{FF2B5EF4-FFF2-40B4-BE49-F238E27FC236}">
                <a16:creationId xmlns:a16="http://schemas.microsoft.com/office/drawing/2014/main" id="{2AD06669-221E-4602-9199-C89F87C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C956C"/>
                </a:solidFill>
                <a:latin typeface="Arial"/>
                <a:ea typeface="Arial"/>
                <a:cs typeface="Arial"/>
              </a:rPr>
              <a:t>SEP–OCT</a:t>
            </a:r>
          </a:p>
        </p:txBody>
      </p:sp>
      <p:sp>
        <p:nvSpPr>
          <p:cNvPr id="12" name="milestone-3">
            <a:extLst xmlns:a="http://schemas.openxmlformats.org/drawingml/2006/main">
              <a:ext uri="{FF2B5EF4-FFF2-40B4-BE49-F238E27FC236}">
                <a16:creationId xmlns:a16="http://schemas.microsoft.com/office/drawing/2014/main" id="{B2827F8E-27FC-47DF-850D-99CB8B1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28575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 convergence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Working targets only until Graduate Studies confirms policy and dates.</a:t>
            </a:r>
          </a:p>
        </p:txBody>
      </p:sp>
    </p:spTree>
    <p:extLst>
      <p:ext uri="{BB962C8B-B14F-4D97-AF65-F5344CB8AC3E}">
        <p14:creationId xmlns:p14="http://schemas.microsoft.com/office/powerpoint/2010/main" val="1222821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39543-7C2D-44C3-9BFF-97CDF17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 six decisions before discussing optional details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97228D-814C-42E0-A049-96DF278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able-subtitle">
            <a:extLst xmlns:a="http://schemas.openxmlformats.org/drawingml/2006/main">
              <a:ext uri="{FF2B5EF4-FFF2-40B4-BE49-F238E27FC236}">
                <a16:creationId xmlns:a16="http://schemas.microsoft.com/office/drawing/2014/main" id="{F36785A4-64A1-42CD-9231-E844C8DA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34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Allowed outcomes: Approve · Approve with correction · Defer · Reject. Silence is Defer.</a:t>
            </a:r>
          </a:p>
        </p:txBody>
      </p:sp>
      <p:graphicFrame>
        <p:nvGraphicFramePr>
          <p:cNvPr id="8" name="evidenc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5200650"/>
              </a:tblGrid>
              <a:tr h="585107"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Required outcome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now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D-RQ-01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Umbrella-RQ wording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Locks the proposal spine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D-RQ-02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Exactly three SQs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Prevents renewed fragmentation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D-RQ-03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Three-study mapping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Locks method direction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D-RQ-04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Plan A/B definitions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Protects feasibility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D-RQ-05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RQ answerable in Plan 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Protects completion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D-RQ-07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Five-state evidence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Prevents overclaiming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487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3EABC5AF-07B1-4FBF-AB55-0A2B7CE4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4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MEETING CLOSE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513D067-899A-472F-8A9F-CAF93AF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4775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2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back every decision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Then select exactly one next task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2BA72FB0-2E6E-43CA-B1AB-8970A49A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Owner · due date and timezone · evidence path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Definition of done · dependency · fallback · claim boundary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4D27BC-7D25-4FED-9AD0-7C141B8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9469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9346FF31-54F2-4B69-B7C3-2EC1074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Requirements R-01–R-10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B7F712-C591-41F1-8D34-768CA05D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CA8CB40B-A97A-4496-83F1-70AAB98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Every baseline control is reachable from the deck; status remains evidence-bound.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8663F0B0-4934-4DB1-B397-402B255D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9DA32216-A66C-49D6-8CF0-C71C8308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3239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3BD9C9B7-4335-417A-89A7-ABEC8A75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7227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9971D837-2F5B-44ED-A046-DA81E42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1216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0902FB91-B093-40CC-8440-978AB61D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520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661916C4-8C86-4671-BFE1-376F9078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919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429029A1-DFD1-4B0E-95DD-35161D86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3182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B9CC4178-5A39-4914-BFD1-0D23EDE7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717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row-line-8">
            <a:extLst xmlns:a="http://schemas.openxmlformats.org/drawingml/2006/main">
              <a:ext uri="{FF2B5EF4-FFF2-40B4-BE49-F238E27FC236}">
                <a16:creationId xmlns:a16="http://schemas.microsoft.com/office/drawing/2014/main" id="{FE2A91F0-621E-4EA4-8F09-26EAB4CE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1159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row-line-9">
            <a:extLst xmlns:a="http://schemas.openxmlformats.org/drawingml/2006/main">
              <a:ext uri="{FF2B5EF4-FFF2-40B4-BE49-F238E27FC236}">
                <a16:creationId xmlns:a16="http://schemas.microsoft.com/office/drawing/2014/main" id="{2D628886-9718-44C3-A1AA-C0969F7B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514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4" name="appendix-row-line-10">
            <a:extLst xmlns:a="http://schemas.openxmlformats.org/drawingml/2006/main">
              <a:ext uri="{FF2B5EF4-FFF2-40B4-BE49-F238E27FC236}">
                <a16:creationId xmlns:a16="http://schemas.microsoft.com/office/drawing/2014/main" id="{E45C0908-7B32-46B5-AEB8-DB3126BB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9136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5" name="appendix-row-line-11">
            <a:extLst xmlns:a="http://schemas.openxmlformats.org/drawingml/2006/main">
              <a:ext uri="{FF2B5EF4-FFF2-40B4-BE49-F238E27FC236}">
                <a16:creationId xmlns:a16="http://schemas.microsoft.com/office/drawing/2014/main" id="{B4D61C34-5FDB-4B2F-AAC0-0B8658D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6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FFEA48E1-7D36-490F-83D4-1ED37E1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7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66FB31E1-271C-4010-BB96-8872164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8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4E043AF2-0221-4400-8397-2B109DE5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51339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R-01</a:t>
            </a:r>
          </a:p>
        </p:txBody>
      </p:sp>
      <p:sp>
        <p:nvSpPr>
          <p:cNvPr id="19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6BB2D293-BF61-4150-B350-5E8D5D74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45327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R-02</a:t>
            </a:r>
          </a:p>
        </p:txBody>
      </p:sp>
      <p:sp>
        <p:nvSpPr>
          <p:cNvPr id="20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BBA4E1F1-E143-47D2-BF34-7382C14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39316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R-03</a:t>
            </a:r>
          </a:p>
        </p:txBody>
      </p:sp>
      <p:sp>
        <p:nvSpPr>
          <p:cNvPr id="21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4EC848A3-F611-4050-8A7C-D3DADF8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33305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R-04</a:t>
            </a:r>
          </a:p>
        </p:txBody>
      </p:sp>
      <p:sp>
        <p:nvSpPr>
          <p:cNvPr id="22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DADBFE6E-E0AF-44DA-9BC5-1FDA1C1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27293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R-05</a:t>
            </a:r>
          </a:p>
        </p:txBody>
      </p:sp>
      <p:sp>
        <p:nvSpPr>
          <p:cNvPr id="23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8EC4C703-42E9-486D-865E-8461563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21282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R-06</a:t>
            </a:r>
          </a:p>
        </p:txBody>
      </p:sp>
      <p:sp>
        <p:nvSpPr>
          <p:cNvPr id="24" name="appendix-cell-7-0">
            <a:extLst xmlns:a="http://schemas.openxmlformats.org/drawingml/2006/main">
              <a:ext uri="{FF2B5EF4-FFF2-40B4-BE49-F238E27FC236}">
                <a16:creationId xmlns:a16="http://schemas.microsoft.com/office/drawing/2014/main" id="{899C60D6-F1E9-4319-9E2D-B1AC640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15270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R-07</a:t>
            </a:r>
          </a:p>
        </p:txBody>
      </p:sp>
      <p:sp>
        <p:nvSpPr>
          <p:cNvPr id="25" name="appendix-cell-8-0">
            <a:extLst xmlns:a="http://schemas.openxmlformats.org/drawingml/2006/main">
              <a:ext uri="{FF2B5EF4-FFF2-40B4-BE49-F238E27FC236}">
                <a16:creationId xmlns:a16="http://schemas.microsoft.com/office/drawing/2014/main" id="{F1693894-76CF-4378-B8DC-FB6B0F3D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09259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R-08</a:t>
            </a:r>
          </a:p>
        </p:txBody>
      </p:sp>
      <p:sp>
        <p:nvSpPr>
          <p:cNvPr id="26" name="appendix-cell-9-0">
            <a:extLst xmlns:a="http://schemas.openxmlformats.org/drawingml/2006/main">
              <a:ext uri="{FF2B5EF4-FFF2-40B4-BE49-F238E27FC236}">
                <a16:creationId xmlns:a16="http://schemas.microsoft.com/office/drawing/2014/main" id="{D6B2DA24-A2E3-4B76-BFB8-EA7514A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03248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R-09</a:t>
            </a:r>
          </a:p>
        </p:txBody>
      </p:sp>
      <p:sp>
        <p:nvSpPr>
          <p:cNvPr id="27" name="appendix-cell-10-0">
            <a:extLst xmlns:a="http://schemas.openxmlformats.org/drawingml/2006/main">
              <a:ext uri="{FF2B5EF4-FFF2-40B4-BE49-F238E27FC236}">
                <a16:creationId xmlns:a16="http://schemas.microsoft.com/office/drawing/2014/main" id="{08FE9CA2-87D4-4FC2-AB11-FAC93552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97236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R-10</a:t>
            </a:r>
          </a:p>
        </p:txBody>
      </p:sp>
      <p:sp>
        <p:nvSpPr>
          <p:cNvPr id="28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B352D3D9-1281-4585-9D06-2987DEF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9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EC0EA1BD-D525-4F01-AD98-CFF9802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57350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0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FD222EA6-E3F9-4EF9-9968-301D9FE8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1339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umbrella RQ + exactly three SQs</a:t>
            </a:r>
          </a:p>
        </p:txBody>
      </p:sp>
      <p:sp>
        <p:nvSpPr>
          <p:cNvPr id="31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B598532C-2FDD-4F45-AC28-DFB76CFD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5327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SQ maps to one study contract</a:t>
            </a:r>
          </a:p>
        </p:txBody>
      </p:sp>
      <p:sp>
        <p:nvSpPr>
          <p:cNvPr id="32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2A10A96D-8A50-4655-9A9E-2ACF9424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839316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 contains all six required areas</a:t>
            </a:r>
          </a:p>
        </p:txBody>
      </p:sp>
      <p:sp>
        <p:nvSpPr>
          <p:cNvPr id="33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3A59F3FE-CEB8-4B3A-930C-91AE9FE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33305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Novelty, scale, feasibility, resources, schedule</a:t>
            </a:r>
          </a:p>
        </p:txBody>
      </p:sp>
      <p:sp>
        <p:nvSpPr>
          <p:cNvPr id="34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6E606D01-7E8C-4984-B720-3F4D12BA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7293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Concise candidacy presentation</a:t>
            </a:r>
          </a:p>
        </p:txBody>
      </p:sp>
      <p:sp>
        <p:nvSpPr>
          <p:cNvPr id="35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BF68862D-EE2B-4BED-A036-BCFCC825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21282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continues while administration proceeds</a:t>
            </a:r>
          </a:p>
        </p:txBody>
      </p:sp>
      <p:sp>
        <p:nvSpPr>
          <p:cNvPr id="36" name="appendix-cell-7-1">
            <a:extLst xmlns:a="http://schemas.openxmlformats.org/drawingml/2006/main">
              <a:ext uri="{FF2B5EF4-FFF2-40B4-BE49-F238E27FC236}">
                <a16:creationId xmlns:a16="http://schemas.microsoft.com/office/drawing/2014/main" id="{632F021F-0062-4A0C-B207-85F031F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415270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RQ answerable without medicine</a:t>
            </a:r>
          </a:p>
        </p:txBody>
      </p:sp>
      <p:sp>
        <p:nvSpPr>
          <p:cNvPr id="37" name="appendix-cell-8-1">
            <a:extLst xmlns:a="http://schemas.openxmlformats.org/drawingml/2006/main">
              <a:ext uri="{FF2B5EF4-FFF2-40B4-BE49-F238E27FC236}">
                <a16:creationId xmlns:a16="http://schemas.microsoft.com/office/drawing/2014/main" id="{BC9DC047-F587-45D7-A7C4-A440C10A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09259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current software evidence from medicine</a:t>
            </a:r>
          </a:p>
        </p:txBody>
      </p:sp>
      <p:sp>
        <p:nvSpPr>
          <p:cNvPr id="38" name="appendix-cell-9-1">
            <a:extLst xmlns:a="http://schemas.openxmlformats.org/drawingml/2006/main">
              <a:ext uri="{FF2B5EF4-FFF2-40B4-BE49-F238E27FC236}">
                <a16:creationId xmlns:a16="http://schemas.microsoft.com/office/drawing/2014/main" id="{DF766DF6-4FEA-4829-A508-30C97C39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203248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Medical people/data cannot block doctorate</a:t>
            </a:r>
          </a:p>
        </p:txBody>
      </p:sp>
      <p:sp>
        <p:nvSpPr>
          <p:cNvPr id="39" name="appendix-cell-10-1">
            <a:extLst xmlns:a="http://schemas.openxmlformats.org/drawingml/2006/main">
              <a:ext uri="{FF2B5EF4-FFF2-40B4-BE49-F238E27FC236}">
                <a16:creationId xmlns:a16="http://schemas.microsoft.com/office/drawing/2014/main" id="{33961B77-2211-4D46-95B8-2984672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597236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A/B dependencies and fallback</a:t>
            </a:r>
          </a:p>
        </p:txBody>
      </p:sp>
      <p:sp>
        <p:nvSpPr>
          <p:cNvPr id="40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BE715D6E-B549-412B-903E-FB342D8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41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BB1013C1-ABEC-4DDB-9B2F-D65D3CD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57350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</a:t>
            </a:r>
          </a:p>
        </p:txBody>
      </p:sp>
      <p:sp>
        <p:nvSpPr>
          <p:cNvPr id="42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6B6C856F-AD25-48DF-8207-D16413BA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51339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DE26A024-820E-4893-8ED0-D5B94B93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5327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24B60E9D-86B4-4563-9A3D-55597671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39316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2,4</a:t>
            </a:r>
          </a:p>
        </p:txBody>
      </p:sp>
      <p:sp>
        <p:nvSpPr>
          <p:cNvPr id="45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88642865-2719-46DB-9EB0-296D3B8A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33305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5,10</a:t>
            </a:r>
          </a:p>
        </p:txBody>
      </p:sp>
      <p:sp>
        <p:nvSpPr>
          <p:cNvPr id="46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3BD24394-21D2-4057-A0B8-98ADBB5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27293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1,10</a:t>
            </a:r>
          </a:p>
        </p:txBody>
      </p:sp>
      <p:sp>
        <p:nvSpPr>
          <p:cNvPr id="47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46A88A85-8D28-4504-BE65-3AADFF67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1282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2,12</a:t>
            </a:r>
          </a:p>
        </p:txBody>
      </p:sp>
      <p:sp>
        <p:nvSpPr>
          <p:cNvPr id="48" name="appendix-cell-7-2">
            <a:extLst xmlns:a="http://schemas.openxmlformats.org/drawingml/2006/main">
              <a:ext uri="{FF2B5EF4-FFF2-40B4-BE49-F238E27FC236}">
                <a16:creationId xmlns:a16="http://schemas.microsoft.com/office/drawing/2014/main" id="{A421CA8F-E2A7-469D-A799-1D369F8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15270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3,6</a:t>
            </a:r>
          </a:p>
        </p:txBody>
      </p:sp>
      <p:sp>
        <p:nvSpPr>
          <p:cNvPr id="49" name="appendix-cell-8-2">
            <a:extLst xmlns:a="http://schemas.openxmlformats.org/drawingml/2006/main">
              <a:ext uri="{FF2B5EF4-FFF2-40B4-BE49-F238E27FC236}">
                <a16:creationId xmlns:a16="http://schemas.microsoft.com/office/drawing/2014/main" id="{F30CA14D-8740-41DC-A36A-5BD18C4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09259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2,8,9</a:t>
            </a:r>
          </a:p>
        </p:txBody>
      </p:sp>
      <p:sp>
        <p:nvSpPr>
          <p:cNvPr id="50" name="appendix-cell-9-2">
            <a:extLst xmlns:a="http://schemas.openxmlformats.org/drawingml/2006/main">
              <a:ext uri="{FF2B5EF4-FFF2-40B4-BE49-F238E27FC236}">
                <a16:creationId xmlns:a16="http://schemas.microsoft.com/office/drawing/2014/main" id="{581193ED-74B7-4E22-8832-68B44D1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203248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6,9,10</a:t>
            </a:r>
          </a:p>
        </p:txBody>
      </p:sp>
      <p:sp>
        <p:nvSpPr>
          <p:cNvPr id="51" name="appendix-cell-10-2">
            <a:extLst xmlns:a="http://schemas.openxmlformats.org/drawingml/2006/main">
              <a:ext uri="{FF2B5EF4-FFF2-40B4-BE49-F238E27FC236}">
                <a16:creationId xmlns:a16="http://schemas.microsoft.com/office/drawing/2014/main" id="{CBA6194C-2349-4CA3-A2A7-24E479F6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97236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2129994E-C856-4A4B-B90F-20871EA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3" name="appendix-cell-0-3">
            <a:extLst xmlns:a="http://schemas.openxmlformats.org/drawingml/2006/main">
              <a:ext uri="{FF2B5EF4-FFF2-40B4-BE49-F238E27FC236}">
                <a16:creationId xmlns:a16="http://schemas.microsoft.com/office/drawing/2014/main" id="{47B3FBCF-B1F3-4073-80C4-3A8BD2D2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57350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54" name="appendix-cell-1-3">
            <a:extLst xmlns:a="http://schemas.openxmlformats.org/drawingml/2006/main">
              <a:ext uri="{FF2B5EF4-FFF2-40B4-BE49-F238E27FC236}">
                <a16:creationId xmlns:a16="http://schemas.microsoft.com/office/drawing/2014/main" id="{A2C688FE-0FF2-48C3-92F2-963B6F12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51339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Awaiting</a:t>
            </a:r>
          </a:p>
        </p:txBody>
      </p:sp>
      <p:sp>
        <p:nvSpPr>
          <p:cNvPr id="55" name="appendix-cell-2-3">
            <a:extLst xmlns:a="http://schemas.openxmlformats.org/drawingml/2006/main">
              <a:ext uri="{FF2B5EF4-FFF2-40B4-BE49-F238E27FC236}">
                <a16:creationId xmlns:a16="http://schemas.microsoft.com/office/drawing/2014/main" id="{61FC9A37-6952-4809-A40E-4945155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45327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Awaiting</a:t>
            </a:r>
          </a:p>
        </p:txBody>
      </p:sp>
      <p:sp>
        <p:nvSpPr>
          <p:cNvPr id="56" name="appendix-cell-3-3">
            <a:extLst xmlns:a="http://schemas.openxmlformats.org/drawingml/2006/main">
              <a:ext uri="{FF2B5EF4-FFF2-40B4-BE49-F238E27FC236}">
                <a16:creationId xmlns:a16="http://schemas.microsoft.com/office/drawing/2014/main" id="{29CA1D27-1857-4487-B8EB-3A75032B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39316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Awaiting</a:t>
            </a:r>
          </a:p>
        </p:txBody>
      </p:sp>
      <p:sp>
        <p:nvSpPr>
          <p:cNvPr id="57" name="appendix-cell-4-3">
            <a:extLst xmlns:a="http://schemas.openxmlformats.org/drawingml/2006/main">
              <a:ext uri="{FF2B5EF4-FFF2-40B4-BE49-F238E27FC236}">
                <a16:creationId xmlns:a16="http://schemas.microsoft.com/office/drawing/2014/main" id="{3A393481-A33E-42C1-BFCF-A4C27BF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3305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8" name="appendix-cell-5-3">
            <a:extLst xmlns:a="http://schemas.openxmlformats.org/drawingml/2006/main">
              <a:ext uri="{FF2B5EF4-FFF2-40B4-BE49-F238E27FC236}">
                <a16:creationId xmlns:a16="http://schemas.microsoft.com/office/drawing/2014/main" id="{345ABD3E-FC48-40E0-A992-89405D8E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27293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59" name="appendix-cell-6-3">
            <a:extLst xmlns:a="http://schemas.openxmlformats.org/drawingml/2006/main">
              <a:ext uri="{FF2B5EF4-FFF2-40B4-BE49-F238E27FC236}">
                <a16:creationId xmlns:a16="http://schemas.microsoft.com/office/drawing/2014/main" id="{C6A21CFE-D548-4859-BD44-6DF66AB9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21282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60" name="appendix-cell-7-3">
            <a:extLst xmlns:a="http://schemas.openxmlformats.org/drawingml/2006/main">
              <a:ext uri="{FF2B5EF4-FFF2-40B4-BE49-F238E27FC236}">
                <a16:creationId xmlns:a16="http://schemas.microsoft.com/office/drawing/2014/main" id="{82F7DBF1-4C2A-4CCD-8DE5-C40C833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15270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Awaiting</a:t>
            </a:r>
          </a:p>
        </p:txBody>
      </p:sp>
      <p:sp>
        <p:nvSpPr>
          <p:cNvPr id="61" name="appendix-cell-8-3">
            <a:extLst xmlns:a="http://schemas.openxmlformats.org/drawingml/2006/main">
              <a:ext uri="{FF2B5EF4-FFF2-40B4-BE49-F238E27FC236}">
                <a16:creationId xmlns:a16="http://schemas.microsoft.com/office/drawing/2014/main" id="{A131D0FF-E9E3-4345-AF31-7B06D1B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809259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Awaiting</a:t>
            </a:r>
          </a:p>
        </p:txBody>
      </p:sp>
      <p:sp>
        <p:nvSpPr>
          <p:cNvPr id="62" name="appendix-cell-9-3">
            <a:extLst xmlns:a="http://schemas.openxmlformats.org/drawingml/2006/main">
              <a:ext uri="{FF2B5EF4-FFF2-40B4-BE49-F238E27FC236}">
                <a16:creationId xmlns:a16="http://schemas.microsoft.com/office/drawing/2014/main" id="{9EF82AA0-1944-4A53-9DDF-E7DDD7C1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203248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63" name="appendix-cell-10-3">
            <a:extLst xmlns:a="http://schemas.openxmlformats.org/drawingml/2006/main">
              <a:ext uri="{FF2B5EF4-FFF2-40B4-BE49-F238E27FC236}">
                <a16:creationId xmlns:a16="http://schemas.microsoft.com/office/drawing/2014/main" id="{EAAE5A47-7292-4219-9C63-77A05503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97236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64" name="appendix-col-line-4">
            <a:extLst xmlns:a="http://schemas.openxmlformats.org/drawingml/2006/main">
              <a:ext uri="{FF2B5EF4-FFF2-40B4-BE49-F238E27FC236}">
                <a16:creationId xmlns:a16="http://schemas.microsoft.com/office/drawing/2014/main" id="{30DA9B88-C1CB-4CAB-A09B-BB0938F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2140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63B0FBEC-BF54-498B-98C1-5D9F5A57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Requirements R-11–R-19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F46CFB-16C7-431F-A9F7-A957B511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D0B977A1-F23B-4613-9D71-42141CA3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Medical, cadence, literature, workspace, schedule and Penina controls.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F260601E-19B6-4625-84F4-EAFC8145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83977214-65E1-498A-A638-9D66F60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263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D58D10A6-52EA-464E-90EE-FCEE98B6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4302F200-731B-4645-9C96-00250345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941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966F2D1D-34A5-44E9-9D4C-D554DC6B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A3CD9FB1-75A9-4EA0-A674-3939A7B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618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0389313F-2CF7-4FB4-A2F7-B4236048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9C1E2AA6-CD4A-4ECE-9B57-A94E4C2B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5296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row-line-8">
            <a:extLst xmlns:a="http://schemas.openxmlformats.org/drawingml/2006/main">
              <a:ext uri="{FF2B5EF4-FFF2-40B4-BE49-F238E27FC236}">
                <a16:creationId xmlns:a16="http://schemas.microsoft.com/office/drawing/2014/main" id="{7EBCC6AF-688A-440D-9E8C-AA6DCF43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row-line-9">
            <a:extLst xmlns:a="http://schemas.openxmlformats.org/drawingml/2006/main">
              <a:ext uri="{FF2B5EF4-FFF2-40B4-BE49-F238E27FC236}">
                <a16:creationId xmlns:a16="http://schemas.microsoft.com/office/drawing/2014/main" id="{799CE118-32A9-4CFD-A82C-EFCD695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973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4" name="appendix-row-line-10">
            <a:extLst xmlns:a="http://schemas.openxmlformats.org/drawingml/2006/main">
              <a:ext uri="{FF2B5EF4-FFF2-40B4-BE49-F238E27FC236}">
                <a16:creationId xmlns:a16="http://schemas.microsoft.com/office/drawing/2014/main" id="{4DB03B6B-07AF-4869-8774-25E2008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5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B05A1337-E366-45C3-B93F-EA06C99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6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A3C2F7A5-85EB-4700-9117-1487E473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7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3F96FB84-CF53-410D-81BC-4F6B7E32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R-11</a:t>
            </a:r>
          </a:p>
        </p:txBody>
      </p:sp>
      <p:sp>
        <p:nvSpPr>
          <p:cNvPr id="18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FCFACA1C-AD39-4268-8690-EB9B1BC5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24125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R-12</a:t>
            </a:r>
          </a:p>
        </p:txBody>
      </p:sp>
      <p:sp>
        <p:nvSpPr>
          <p:cNvPr id="19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1F9643E1-F490-407C-BDA4-D97B376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57513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R-13</a:t>
            </a:r>
          </a:p>
        </p:txBody>
      </p:sp>
      <p:sp>
        <p:nvSpPr>
          <p:cNvPr id="20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3093B735-929D-4A93-82AA-8E28DDF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90900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R-14</a:t>
            </a:r>
          </a:p>
        </p:txBody>
      </p:sp>
      <p:sp>
        <p:nvSpPr>
          <p:cNvPr id="21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AF4AD48F-0325-44A5-B059-04C8BD2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24288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R-15</a:t>
            </a:r>
          </a:p>
        </p:txBody>
      </p:sp>
      <p:sp>
        <p:nvSpPr>
          <p:cNvPr id="22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63AB781F-E7C0-472D-A49D-1A1C955C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57675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R-16</a:t>
            </a:r>
          </a:p>
        </p:txBody>
      </p:sp>
      <p:sp>
        <p:nvSpPr>
          <p:cNvPr id="23" name="appendix-cell-7-0">
            <a:extLst xmlns:a="http://schemas.openxmlformats.org/drawingml/2006/main">
              <a:ext uri="{FF2B5EF4-FFF2-40B4-BE49-F238E27FC236}">
                <a16:creationId xmlns:a16="http://schemas.microsoft.com/office/drawing/2014/main" id="{96075A21-F483-42D5-B55E-D5EBA51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91063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R-17</a:t>
            </a:r>
          </a:p>
        </p:txBody>
      </p:sp>
      <p:sp>
        <p:nvSpPr>
          <p:cNvPr id="24" name="appendix-cell-8-0">
            <a:extLst xmlns:a="http://schemas.openxmlformats.org/drawingml/2006/main">
              <a:ext uri="{FF2B5EF4-FFF2-40B4-BE49-F238E27FC236}">
                <a16:creationId xmlns:a16="http://schemas.microsoft.com/office/drawing/2014/main" id="{F50216AA-48D6-4BF4-A01B-B6FE92D4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24450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R-18</a:t>
            </a:r>
          </a:p>
        </p:txBody>
      </p:sp>
      <p:sp>
        <p:nvSpPr>
          <p:cNvPr id="25" name="appendix-cell-9-0">
            <a:extLst xmlns:a="http://schemas.openxmlformats.org/drawingml/2006/main">
              <a:ext uri="{FF2B5EF4-FFF2-40B4-BE49-F238E27FC236}">
                <a16:creationId xmlns:a16="http://schemas.microsoft.com/office/drawing/2014/main" id="{92F274DE-0A00-4C11-8136-04328A89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57838"/>
            <a:ext cx="8763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R-19</a:t>
            </a:r>
          </a:p>
        </p:txBody>
      </p:sp>
      <p:sp>
        <p:nvSpPr>
          <p:cNvPr id="26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6BF6156B-B565-4396-B15A-F5DFC99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7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7990824F-032D-47AB-A14C-A313A3F4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57350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8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3CCEAD36-C1CF-4649-84AD-19504F77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90738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Bounded medical familiarization</a:t>
            </a:r>
          </a:p>
        </p:txBody>
      </p:sp>
      <p:sp>
        <p:nvSpPr>
          <p:cNvPr id="29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48C502B0-000D-4570-BECB-73D67C58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524125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VDI/privacy/local-offline controls</a:t>
            </a:r>
          </a:p>
        </p:txBody>
      </p:sp>
      <p:sp>
        <p:nvSpPr>
          <p:cNvPr id="30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F7A1467D-08C1-4C96-9BAA-C958B6D2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57513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Short weekly task-focused cadence</a:t>
            </a:r>
          </a:p>
        </p:txBody>
      </p:sp>
      <p:sp>
        <p:nvSpPr>
          <p:cNvPr id="31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4B973686-EF6D-410A-BDD0-F76EC714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390900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package: RQs, literature, workbook</a:t>
            </a:r>
          </a:p>
        </p:txBody>
      </p:sp>
      <p:sp>
        <p:nvSpPr>
          <p:cNvPr id="32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76DCFCD8-2C74-4763-997F-B7A98773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824288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paper per row; synthesis separated</a:t>
            </a:r>
          </a:p>
        </p:txBody>
      </p:sp>
      <p:sp>
        <p:nvSpPr>
          <p:cNvPr id="33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FC04A453-C602-4280-993E-FFBC786B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57675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Living taxonomy and gap resource</a:t>
            </a:r>
          </a:p>
        </p:txBody>
      </p:sp>
      <p:sp>
        <p:nvSpPr>
          <p:cNvPr id="34" name="appendix-cell-7-1">
            <a:extLst xmlns:a="http://schemas.openxmlformats.org/drawingml/2006/main">
              <a:ext uri="{FF2B5EF4-FFF2-40B4-BE49-F238E27FC236}">
                <a16:creationId xmlns:a16="http://schemas.microsoft.com/office/drawing/2014/main" id="{04291D7C-0238-43AF-B63F-F2CBC7A3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691063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Working/source Drive separation</a:t>
            </a:r>
          </a:p>
        </p:txBody>
      </p:sp>
      <p:sp>
        <p:nvSpPr>
          <p:cNvPr id="35" name="appendix-cell-8-1">
            <a:extLst xmlns:a="http://schemas.openxmlformats.org/drawingml/2006/main">
              <a:ext uri="{FF2B5EF4-FFF2-40B4-BE49-F238E27FC236}">
                <a16:creationId xmlns:a16="http://schemas.microsoft.com/office/drawing/2014/main" id="{1FCF02DE-F941-4FAF-B50D-582B8019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124450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September draft / October target</a:t>
            </a:r>
          </a:p>
        </p:txBody>
      </p:sp>
      <p:sp>
        <p:nvSpPr>
          <p:cNvPr id="36" name="appendix-cell-9-1">
            <a:extLst xmlns:a="http://schemas.openxmlformats.org/drawingml/2006/main">
              <a:ext uri="{FF2B5EF4-FFF2-40B4-BE49-F238E27FC236}">
                <a16:creationId xmlns:a16="http://schemas.microsoft.com/office/drawing/2014/main" id="{349163EB-3311-489E-A1E5-8DC6A631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557838"/>
            <a:ext cx="640080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Penina work reused with provenance</a:t>
            </a:r>
          </a:p>
        </p:txBody>
      </p:sp>
      <p:sp>
        <p:nvSpPr>
          <p:cNvPr id="37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76E0F72B-26C4-407A-A6BF-BA838FC6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38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5984C8E6-79E3-4236-A853-039E29A7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57350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</a:t>
            </a:r>
          </a:p>
        </p:txBody>
      </p:sp>
      <p:sp>
        <p:nvSpPr>
          <p:cNvPr id="39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303D761A-F073-428E-BB0B-15EFD16B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90738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0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7E499EFE-61C6-492E-B3E1-E2DF11B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24125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1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2CF03ED1-F672-4571-8069-C9D330A5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57513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10,12</a:t>
            </a:r>
          </a:p>
        </p:txBody>
      </p:sp>
      <p:sp>
        <p:nvSpPr>
          <p:cNvPr id="42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0B0ED6BF-C230-4CB8-A786-3B06122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90900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3,4,7,10</a:t>
            </a:r>
          </a:p>
        </p:txBody>
      </p:sp>
      <p:sp>
        <p:nvSpPr>
          <p:cNvPr id="43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533F8EB4-078B-495E-A36E-E01F014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24288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4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024A7C8C-2FA1-4A78-84D3-EA89B78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57675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5" name="appendix-cell-7-2">
            <a:extLst xmlns:a="http://schemas.openxmlformats.org/drawingml/2006/main">
              <a:ext uri="{FF2B5EF4-FFF2-40B4-BE49-F238E27FC236}">
                <a16:creationId xmlns:a16="http://schemas.microsoft.com/office/drawing/2014/main" id="{AF8B5232-3848-4E7E-A4D3-9141D63E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91063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6" name="appendix-cell-8-2">
            <a:extLst xmlns:a="http://schemas.openxmlformats.org/drawingml/2006/main">
              <a:ext uri="{FF2B5EF4-FFF2-40B4-BE49-F238E27FC236}">
                <a16:creationId xmlns:a16="http://schemas.microsoft.com/office/drawing/2014/main" id="{027B7271-4682-4290-9F7B-DB3B6376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124450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7" name="appendix-cell-9-2">
            <a:extLst xmlns:a="http://schemas.openxmlformats.org/drawingml/2006/main">
              <a:ext uri="{FF2B5EF4-FFF2-40B4-BE49-F238E27FC236}">
                <a16:creationId xmlns:a16="http://schemas.microsoft.com/office/drawing/2014/main" id="{0DF563A4-D618-460F-8D3E-38D4679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57838"/>
            <a:ext cx="9715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10,A7</a:t>
            </a:r>
          </a:p>
        </p:txBody>
      </p:sp>
      <p:sp>
        <p:nvSpPr>
          <p:cNvPr id="48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DA1B3B90-6FF0-497F-9DB2-D348B82E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49" name="appendix-cell-0-3">
            <a:extLst xmlns:a="http://schemas.openxmlformats.org/drawingml/2006/main">
              <a:ext uri="{FF2B5EF4-FFF2-40B4-BE49-F238E27FC236}">
                <a16:creationId xmlns:a16="http://schemas.microsoft.com/office/drawing/2014/main" id="{3D7A6155-4CB4-45DE-971E-2776100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57350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50" name="appendix-cell-1-3">
            <a:extLst xmlns:a="http://schemas.openxmlformats.org/drawingml/2006/main">
              <a:ext uri="{FF2B5EF4-FFF2-40B4-BE49-F238E27FC236}">
                <a16:creationId xmlns:a16="http://schemas.microsoft.com/office/drawing/2014/main" id="{1C349C38-8680-4150-9136-35729D71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90738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1" name="appendix-cell-2-3">
            <a:extLst xmlns:a="http://schemas.openxmlformats.org/drawingml/2006/main">
              <a:ext uri="{FF2B5EF4-FFF2-40B4-BE49-F238E27FC236}">
                <a16:creationId xmlns:a16="http://schemas.microsoft.com/office/drawing/2014/main" id="{A996CB1E-E789-4903-8117-4AB735FA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4125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52" name="appendix-cell-3-3">
            <a:extLst xmlns:a="http://schemas.openxmlformats.org/drawingml/2006/main">
              <a:ext uri="{FF2B5EF4-FFF2-40B4-BE49-F238E27FC236}">
                <a16:creationId xmlns:a16="http://schemas.microsoft.com/office/drawing/2014/main" id="{8A56EAC6-D830-46AA-ABF5-65A75EFC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57513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3" name="appendix-cell-4-3">
            <a:extLst xmlns:a="http://schemas.openxmlformats.org/drawingml/2006/main">
              <a:ext uri="{FF2B5EF4-FFF2-40B4-BE49-F238E27FC236}">
                <a16:creationId xmlns:a16="http://schemas.microsoft.com/office/drawing/2014/main" id="{DF3FB4D3-026A-4E0D-AD45-845EAAF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4" name="appendix-cell-5-3">
            <a:extLst xmlns:a="http://schemas.openxmlformats.org/drawingml/2006/main">
              <a:ext uri="{FF2B5EF4-FFF2-40B4-BE49-F238E27FC236}">
                <a16:creationId xmlns:a16="http://schemas.microsoft.com/office/drawing/2014/main" id="{355D411D-F499-4293-8B63-17B19AC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24288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5" name="appendix-cell-6-3">
            <a:extLst xmlns:a="http://schemas.openxmlformats.org/drawingml/2006/main">
              <a:ext uri="{FF2B5EF4-FFF2-40B4-BE49-F238E27FC236}">
                <a16:creationId xmlns:a16="http://schemas.microsoft.com/office/drawing/2014/main" id="{CAD2944A-0495-473A-A24E-A4002156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57675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6" name="appendix-cell-7-3">
            <a:extLst xmlns:a="http://schemas.openxmlformats.org/drawingml/2006/main">
              <a:ext uri="{FF2B5EF4-FFF2-40B4-BE49-F238E27FC236}">
                <a16:creationId xmlns:a16="http://schemas.microsoft.com/office/drawing/2014/main" id="{F63FF7A5-CEE4-4698-8D40-2CB0617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691063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7" name="appendix-cell-8-3">
            <a:extLst xmlns:a="http://schemas.openxmlformats.org/drawingml/2006/main">
              <a:ext uri="{FF2B5EF4-FFF2-40B4-BE49-F238E27FC236}">
                <a16:creationId xmlns:a16="http://schemas.microsoft.com/office/drawing/2014/main" id="{BC70ACC3-4B4C-4535-BA98-AA8FE0A3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24450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8" name="appendix-cell-9-3">
            <a:extLst xmlns:a="http://schemas.openxmlformats.org/drawingml/2006/main">
              <a:ext uri="{FF2B5EF4-FFF2-40B4-BE49-F238E27FC236}">
                <a16:creationId xmlns:a16="http://schemas.microsoft.com/office/drawing/2014/main" id="{4884F45A-088C-490F-83C6-EBE97DE0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57838"/>
            <a:ext cx="2457450" cy="3571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9" name="appendix-col-line-4">
            <a:extLst xmlns:a="http://schemas.openxmlformats.org/drawingml/2006/main">
              <a:ext uri="{FF2B5EF4-FFF2-40B4-BE49-F238E27FC236}">
                <a16:creationId xmlns:a16="http://schemas.microsoft.com/office/drawing/2014/main" id="{BB241BCA-F61A-424B-806B-9858E24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7527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EFE939C9-5F6A-48FA-BAD8-05A0A3ED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Actions A-01–A-08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0739733-7461-4945-9CFF-2764B3FA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06942110-4025-470A-8566-49B3E8A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Two actions are narrowly verified; all other actions retain their current gate.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9B2C19D2-8774-4D37-AA00-552BCD93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A595612E-EF32-4D1F-84C5-545C9F0E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0792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BAF45918-B55F-4864-B5DC-C1005EB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233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46384792-CDC1-4F08-A2C9-70E2B77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3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A26C4F09-4EFA-4D54-8FF4-DBD4017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5417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9F5316DF-7177-4036-837E-098D45B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695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6BAAF080-6CD6-4647-A76C-8A833C6A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8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4E844F4F-5265-4FDA-ACD5-0FFD1A4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0042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row-line-8">
            <a:extLst xmlns:a="http://schemas.openxmlformats.org/drawingml/2006/main">
              <a:ext uri="{FF2B5EF4-FFF2-40B4-BE49-F238E27FC236}">
                <a16:creationId xmlns:a16="http://schemas.microsoft.com/office/drawing/2014/main" id="{CC324E61-505D-4F1F-BE41-FE1F5331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158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row-line-9">
            <a:extLst xmlns:a="http://schemas.openxmlformats.org/drawingml/2006/main">
              <a:ext uri="{FF2B5EF4-FFF2-40B4-BE49-F238E27FC236}">
                <a16:creationId xmlns:a16="http://schemas.microsoft.com/office/drawing/2014/main" id="{2A65C90C-253B-4133-9482-6D60CF7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4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8700098A-92CE-4A42-ABCC-4967B996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5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B8B24C59-211F-44A6-8F42-C6AC6A89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6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5B675900-196F-41B1-91AF-4AEF76FB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38892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A-01</a:t>
            </a:r>
          </a:p>
        </p:txBody>
      </p:sp>
      <p:sp>
        <p:nvSpPr>
          <p:cNvPr id="17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3B2AA12F-CBE2-4F62-97FF-14A7F76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20433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A-02</a:t>
            </a:r>
          </a:p>
        </p:txBody>
      </p:sp>
      <p:sp>
        <p:nvSpPr>
          <p:cNvPr id="18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127443E1-C857-4460-99E9-ADB5B42A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1975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A-03</a:t>
            </a:r>
          </a:p>
        </p:txBody>
      </p:sp>
      <p:sp>
        <p:nvSpPr>
          <p:cNvPr id="19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F703082F-50DE-4116-96AB-9FF4FF3F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83517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A-04</a:t>
            </a:r>
          </a:p>
        </p:txBody>
      </p:sp>
      <p:sp>
        <p:nvSpPr>
          <p:cNvPr id="20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52A2C1A7-B67A-4D5F-BDF0-04508081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65058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A-05</a:t>
            </a:r>
          </a:p>
        </p:txBody>
      </p:sp>
      <p:sp>
        <p:nvSpPr>
          <p:cNvPr id="21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48EEEF86-8E3D-4FC6-A83A-FCE3471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46600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A-06</a:t>
            </a:r>
          </a:p>
        </p:txBody>
      </p:sp>
      <p:sp>
        <p:nvSpPr>
          <p:cNvPr id="22" name="appendix-cell-7-0">
            <a:extLst xmlns:a="http://schemas.openxmlformats.org/drawingml/2006/main">
              <a:ext uri="{FF2B5EF4-FFF2-40B4-BE49-F238E27FC236}">
                <a16:creationId xmlns:a16="http://schemas.microsoft.com/office/drawing/2014/main" id="{00FBC35A-AB0F-483A-8AAC-9BF97FC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28142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A-07</a:t>
            </a:r>
          </a:p>
        </p:txBody>
      </p:sp>
      <p:sp>
        <p:nvSpPr>
          <p:cNvPr id="23" name="appendix-cell-8-0">
            <a:extLst xmlns:a="http://schemas.openxmlformats.org/drawingml/2006/main">
              <a:ext uri="{FF2B5EF4-FFF2-40B4-BE49-F238E27FC236}">
                <a16:creationId xmlns:a16="http://schemas.microsoft.com/office/drawing/2014/main" id="{9D9ACCA8-60BF-4289-BE04-386AF8B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09683"/>
            <a:ext cx="8763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A-08</a:t>
            </a:r>
          </a:p>
        </p:txBody>
      </p:sp>
      <p:sp>
        <p:nvSpPr>
          <p:cNvPr id="24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4B041136-6903-4315-90C7-C2A2264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5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427C8100-0724-477B-9020-5A3B3C29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57350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6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130C8543-1B48-422B-A585-331EAA48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138892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Draft RQs and study map</a:t>
            </a:r>
          </a:p>
        </p:txBody>
      </p:sp>
      <p:sp>
        <p:nvSpPr>
          <p:cNvPr id="27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46ABA0BC-08FF-43D6-8216-D2CFF71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20433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Begin literature review</a:t>
            </a:r>
          </a:p>
        </p:txBody>
      </p:sp>
      <p:sp>
        <p:nvSpPr>
          <p:cNvPr id="28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9AE82885-6EC0-42CB-A36B-D5044D95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101975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and seed literature matrix</a:t>
            </a:r>
          </a:p>
        </p:txBody>
      </p:sp>
      <p:sp>
        <p:nvSpPr>
          <p:cNvPr id="29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D4EAF703-33CE-4746-B06B-39221E7F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583517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working area and confirm access</a:t>
            </a:r>
          </a:p>
        </p:txBody>
      </p:sp>
      <p:sp>
        <p:nvSpPr>
          <p:cNvPr id="30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FF8C7E42-C32E-4B24-91D2-82CCDB97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65058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source resources viewer-only</a:t>
            </a:r>
          </a:p>
        </p:txBody>
      </p:sp>
      <p:sp>
        <p:nvSpPr>
          <p:cNvPr id="31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CF55C679-CAB8-4833-BDF8-9A6482C0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46600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Finalize Wednesday invitation</a:t>
            </a:r>
          </a:p>
        </p:txBody>
      </p:sp>
      <p:sp>
        <p:nvSpPr>
          <p:cNvPr id="32" name="appendix-cell-7-1">
            <a:extLst xmlns:a="http://schemas.openxmlformats.org/drawingml/2006/main">
              <a:ext uri="{FF2B5EF4-FFF2-40B4-BE49-F238E27FC236}">
                <a16:creationId xmlns:a16="http://schemas.microsoft.com/office/drawing/2014/main" id="{0279C906-F17E-496C-A1DC-326DA2A4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028142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one-task weekly cycle</a:t>
            </a:r>
          </a:p>
        </p:txBody>
      </p:sp>
      <p:sp>
        <p:nvSpPr>
          <p:cNvPr id="33" name="appendix-cell-8-1">
            <a:extLst xmlns:a="http://schemas.openxmlformats.org/drawingml/2006/main">
              <a:ext uri="{FF2B5EF4-FFF2-40B4-BE49-F238E27FC236}">
                <a16:creationId xmlns:a16="http://schemas.microsoft.com/office/drawing/2014/main" id="{507EACA6-EF32-40F4-96A2-45FD2715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509683"/>
            <a:ext cx="640080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Bounded medical-resource inspection</a:t>
            </a:r>
          </a:p>
        </p:txBody>
      </p:sp>
      <p:sp>
        <p:nvSpPr>
          <p:cNvPr id="34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F2DB9D75-7344-4EC8-AACF-82A01B2E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35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592B17DC-0EF6-47EE-B64D-DCCA6FE4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57350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</a:t>
            </a:r>
          </a:p>
        </p:txBody>
      </p:sp>
      <p:sp>
        <p:nvSpPr>
          <p:cNvPr id="36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05217B6B-CBB2-44B8-B355-50BCA5B4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38892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3,4</a:t>
            </a:r>
          </a:p>
        </p:txBody>
      </p:sp>
      <p:sp>
        <p:nvSpPr>
          <p:cNvPr id="37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42856341-40CC-4A91-B065-AD2526A2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20433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8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95ED308C-CF53-4494-AF23-F315BECC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01975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9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920BCA37-B92C-4C17-B15F-C948B58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83517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0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E45FC0E4-FFD5-4A09-962F-C396BBE3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65058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9,10</a:t>
            </a:r>
          </a:p>
        </p:txBody>
      </p:sp>
      <p:sp>
        <p:nvSpPr>
          <p:cNvPr id="41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E3230515-2545-428B-8738-BA8E266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46600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2" name="appendix-cell-7-2">
            <a:extLst xmlns:a="http://schemas.openxmlformats.org/drawingml/2006/main">
              <a:ext uri="{FF2B5EF4-FFF2-40B4-BE49-F238E27FC236}">
                <a16:creationId xmlns:a16="http://schemas.microsoft.com/office/drawing/2014/main" id="{FF804FA7-8017-4E37-961D-2F55690D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028142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appendix-cell-8-2">
            <a:extLst xmlns:a="http://schemas.openxmlformats.org/drawingml/2006/main">
              <a:ext uri="{FF2B5EF4-FFF2-40B4-BE49-F238E27FC236}">
                <a16:creationId xmlns:a16="http://schemas.microsoft.com/office/drawing/2014/main" id="{9DB2B250-16FF-4714-9EE2-491CF73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09683"/>
            <a:ext cx="9715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4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A203E2B3-DCA7-4F68-B548-0A1E602C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45" name="appendix-cell-0-3">
            <a:extLst xmlns:a="http://schemas.openxmlformats.org/drawingml/2006/main">
              <a:ext uri="{FF2B5EF4-FFF2-40B4-BE49-F238E27FC236}">
                <a16:creationId xmlns:a16="http://schemas.microsoft.com/office/drawing/2014/main" id="{BBB7C3BB-2CEE-4C54-A09F-F5311493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57350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46" name="appendix-cell-1-3">
            <a:extLst xmlns:a="http://schemas.openxmlformats.org/drawingml/2006/main">
              <a:ext uri="{FF2B5EF4-FFF2-40B4-BE49-F238E27FC236}">
                <a16:creationId xmlns:a16="http://schemas.microsoft.com/office/drawing/2014/main" id="{5C441BAC-0A88-4273-82D4-31FC2442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38892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47" name="appendix-cell-2-3">
            <a:extLst xmlns:a="http://schemas.openxmlformats.org/drawingml/2006/main">
              <a:ext uri="{FF2B5EF4-FFF2-40B4-BE49-F238E27FC236}">
                <a16:creationId xmlns:a16="http://schemas.microsoft.com/office/drawing/2014/main" id="{61CA18E5-A9DE-42B1-BA5F-A38CEE0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20433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48" name="appendix-cell-3-3">
            <a:extLst xmlns:a="http://schemas.openxmlformats.org/drawingml/2006/main">
              <a:ext uri="{FF2B5EF4-FFF2-40B4-BE49-F238E27FC236}">
                <a16:creationId xmlns:a16="http://schemas.microsoft.com/office/drawing/2014/main" id="{F0DF2CB1-7365-4D77-8D9A-745E2438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01975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49" name="appendix-cell-4-3">
            <a:extLst xmlns:a="http://schemas.openxmlformats.org/drawingml/2006/main">
              <a:ext uri="{FF2B5EF4-FFF2-40B4-BE49-F238E27FC236}">
                <a16:creationId xmlns:a16="http://schemas.microsoft.com/office/drawing/2014/main" id="{0FEC8DA3-AA90-4163-A2AF-F01D7B7F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83517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0" name="appendix-cell-5-3">
            <a:extLst xmlns:a="http://schemas.openxmlformats.org/drawingml/2006/main">
              <a:ext uri="{FF2B5EF4-FFF2-40B4-BE49-F238E27FC236}">
                <a16:creationId xmlns:a16="http://schemas.microsoft.com/office/drawing/2014/main" id="{A5186836-DD9E-4A97-A160-DCEB0D6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65058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1" name="appendix-cell-6-3">
            <a:extLst xmlns:a="http://schemas.openxmlformats.org/drawingml/2006/main">
              <a:ext uri="{FF2B5EF4-FFF2-40B4-BE49-F238E27FC236}">
                <a16:creationId xmlns:a16="http://schemas.microsoft.com/office/drawing/2014/main" id="{401BAD8D-7DE2-4168-951B-2FBB00D0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46600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52" name="appendix-cell-7-3">
            <a:extLst xmlns:a="http://schemas.openxmlformats.org/drawingml/2006/main">
              <a:ext uri="{FF2B5EF4-FFF2-40B4-BE49-F238E27FC236}">
                <a16:creationId xmlns:a16="http://schemas.microsoft.com/office/drawing/2014/main" id="{BEAD4714-4B97-4923-9B0D-679679F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028142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3" name="appendix-cell-8-3">
            <a:extLst xmlns:a="http://schemas.openxmlformats.org/drawingml/2006/main">
              <a:ext uri="{FF2B5EF4-FFF2-40B4-BE49-F238E27FC236}">
                <a16:creationId xmlns:a16="http://schemas.microsoft.com/office/drawing/2014/main" id="{BA6FA50A-1EC2-4A9B-A81A-DE3625D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09683"/>
            <a:ext cx="2457450" cy="4053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4" name="appendix-col-line-4">
            <a:extLst xmlns:a="http://schemas.openxmlformats.org/drawingml/2006/main">
              <a:ext uri="{FF2B5EF4-FFF2-40B4-BE49-F238E27FC236}">
                <a16:creationId xmlns:a16="http://schemas.microsoft.com/office/drawing/2014/main" id="{CE2B031E-48A3-4613-88AA-0529159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00654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223C7483-3366-430A-94B9-FFF3C7FD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Actions A-09–A-15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43AC75-9809-40B3-966F-EC47681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A15BC777-CF94-482E-8B13-522DE338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Blocked and partial actions retain their human, institutional, or evidence gates.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11E357FE-FE16-4458-8E2F-D140F9A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9ACE4F36-02AB-4FF3-BEE1-85EBEFB3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60984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DBF66B74-2269-4044-9D6A-D44DED5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2719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900769FA-4DC8-42CC-B39A-0CDBFC54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445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490EE6FC-FCDD-4EEC-8B2B-C972BB5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618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09D03EB1-77F9-4E46-AA6C-A75BB5D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7922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C929810B-92FA-49BE-AE64-192F3A43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9656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D2D43A20-733B-48E0-BFD6-221C75D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1391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row-line-8">
            <a:extLst xmlns:a="http://schemas.openxmlformats.org/drawingml/2006/main">
              <a:ext uri="{FF2B5EF4-FFF2-40B4-BE49-F238E27FC236}">
                <a16:creationId xmlns:a16="http://schemas.microsoft.com/office/drawing/2014/main" id="{10765CEE-3EA5-4F05-BF34-B313757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F009778F-AE27-4875-A64D-FB8115BA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4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4B236553-D1AA-4952-8FBE-37C2264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5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51E038BF-8EAE-48BF-AB12-AE5DB935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99084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A-09</a:t>
            </a:r>
          </a:p>
        </p:txBody>
      </p:sp>
      <p:sp>
        <p:nvSpPr>
          <p:cNvPr id="16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437ACDF8-D0D0-4904-86D5-A5714400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40819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A-10</a:t>
            </a:r>
          </a:p>
        </p:txBody>
      </p:sp>
      <p:sp>
        <p:nvSpPr>
          <p:cNvPr id="17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F07414FA-1D3A-47C3-98FB-6951AE05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82553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A-11</a:t>
            </a:r>
          </a:p>
        </p:txBody>
      </p:sp>
      <p:sp>
        <p:nvSpPr>
          <p:cNvPr id="18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9637914E-EED6-4A44-933A-85DDD32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24288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A-12</a:t>
            </a:r>
          </a:p>
        </p:txBody>
      </p:sp>
      <p:sp>
        <p:nvSpPr>
          <p:cNvPr id="19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2F22C81C-BAA9-4EA6-8CE2-D004FB5C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66022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A-13</a:t>
            </a:r>
          </a:p>
        </p:txBody>
      </p:sp>
      <p:sp>
        <p:nvSpPr>
          <p:cNvPr id="20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AF3EE747-A902-47CE-9E79-C33BFA6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07756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A-14</a:t>
            </a:r>
          </a:p>
        </p:txBody>
      </p:sp>
      <p:sp>
        <p:nvSpPr>
          <p:cNvPr id="21" name="appendix-cell-7-0">
            <a:extLst xmlns:a="http://schemas.openxmlformats.org/drawingml/2006/main">
              <a:ext uri="{FF2B5EF4-FFF2-40B4-BE49-F238E27FC236}">
                <a16:creationId xmlns:a16="http://schemas.microsoft.com/office/drawing/2014/main" id="{87D05425-D628-4E15-9236-143DB645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449491"/>
            <a:ext cx="8763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A-15</a:t>
            </a:r>
          </a:p>
        </p:txBody>
      </p:sp>
      <p:sp>
        <p:nvSpPr>
          <p:cNvPr id="22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5E2C4CDC-151C-49D1-8E3A-B1E430F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3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B63A39A4-E978-43EC-ACE3-D67567CD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57350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4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E38BDF9D-CB49-4CD0-BDAB-D2F6E896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199084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medical route and approvals</a:t>
            </a:r>
          </a:p>
        </p:txBody>
      </p:sp>
      <p:sp>
        <p:nvSpPr>
          <p:cNvPr id="25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C06F9D33-5C22-4F98-A48A-04E0581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40819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Draft Plan A/B and trigger</a:t>
            </a:r>
          </a:p>
        </p:txBody>
      </p:sp>
      <p:sp>
        <p:nvSpPr>
          <p:cNvPr id="26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BB8E2A43-B528-4BC0-9B64-A803F3A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82553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VDI and model constraints</a:t>
            </a:r>
          </a:p>
        </p:txBody>
      </p:sp>
      <p:sp>
        <p:nvSpPr>
          <p:cNvPr id="27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38CCE1A4-34FE-485F-AFC4-9A8FB992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824288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Produce developed proposal draft</a:t>
            </a:r>
          </a:p>
        </p:txBody>
      </p:sp>
      <p:sp>
        <p:nvSpPr>
          <p:cNvPr id="28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8D0A12DA-CE15-4767-A1A4-9657F63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66022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Prepare full submission</a:t>
            </a:r>
          </a:p>
        </p:txBody>
      </p:sp>
      <p:sp>
        <p:nvSpPr>
          <p:cNvPr id="29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28E03D5A-958F-4400-9B0B-1E55565B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7756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 university process</a:t>
            </a:r>
          </a:p>
        </p:txBody>
      </p:sp>
      <p:sp>
        <p:nvSpPr>
          <p:cNvPr id="30" name="appendix-cell-7-1">
            <a:extLst xmlns:a="http://schemas.openxmlformats.org/drawingml/2006/main">
              <a:ext uri="{FF2B5EF4-FFF2-40B4-BE49-F238E27FC236}">
                <a16:creationId xmlns:a16="http://schemas.microsoft.com/office/drawing/2014/main" id="{A966E24E-511B-464C-B83D-B6CB892D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449491"/>
            <a:ext cx="640080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Clarify partner meeting/status</a:t>
            </a:r>
          </a:p>
        </p:txBody>
      </p:sp>
      <p:sp>
        <p:nvSpPr>
          <p:cNvPr id="31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F680B813-217D-40C9-AA22-B13668C5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32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55D31E4E-9217-4191-BF86-3CB7CC25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57350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</a:t>
            </a:r>
          </a:p>
        </p:txBody>
      </p:sp>
      <p:sp>
        <p:nvSpPr>
          <p:cNvPr id="33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A5114E61-41B8-4065-8EBD-FBB0A41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9084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4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C69F481B-CC96-43B9-8D94-2D74C8AA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40819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D0E5E389-8888-4A16-87B3-D2B6DF9D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82553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6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2FA834EE-FB95-46BB-9999-0E989705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24288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7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ADFFC256-CB18-42AE-8599-293BA6B3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66022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8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F774B8D7-BFFA-45CE-897C-EBD5A37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907756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9" name="appendix-cell-7-2">
            <a:extLst xmlns:a="http://schemas.openxmlformats.org/drawingml/2006/main">
              <a:ext uri="{FF2B5EF4-FFF2-40B4-BE49-F238E27FC236}">
                <a16:creationId xmlns:a16="http://schemas.microsoft.com/office/drawing/2014/main" id="{073F0A45-5632-479B-9E57-1374DCC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49491"/>
            <a:ext cx="9715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9,10</a:t>
            </a:r>
          </a:p>
        </p:txBody>
      </p:sp>
      <p:sp>
        <p:nvSpPr>
          <p:cNvPr id="40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8FE6D569-53D3-40F1-8245-9553E3CE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41" name="appendix-cell-0-3">
            <a:extLst xmlns:a="http://schemas.openxmlformats.org/drawingml/2006/main">
              <a:ext uri="{FF2B5EF4-FFF2-40B4-BE49-F238E27FC236}">
                <a16:creationId xmlns:a16="http://schemas.microsoft.com/office/drawing/2014/main" id="{D9C0F646-9872-4BEF-A11F-27D4C81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57350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42" name="appendix-cell-1-3">
            <a:extLst xmlns:a="http://schemas.openxmlformats.org/drawingml/2006/main">
              <a:ext uri="{FF2B5EF4-FFF2-40B4-BE49-F238E27FC236}">
                <a16:creationId xmlns:a16="http://schemas.microsoft.com/office/drawing/2014/main" id="{0156F3CF-BCB2-44ED-AFFB-5C068A0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99084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43" name="appendix-cell-2-3">
            <a:extLst xmlns:a="http://schemas.openxmlformats.org/drawingml/2006/main">
              <a:ext uri="{FF2B5EF4-FFF2-40B4-BE49-F238E27FC236}">
                <a16:creationId xmlns:a16="http://schemas.microsoft.com/office/drawing/2014/main" id="{E600CAE4-6B45-49E8-AC0B-C2CA789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40819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44" name="appendix-cell-3-3">
            <a:extLst xmlns:a="http://schemas.openxmlformats.org/drawingml/2006/main">
              <a:ext uri="{FF2B5EF4-FFF2-40B4-BE49-F238E27FC236}">
                <a16:creationId xmlns:a16="http://schemas.microsoft.com/office/drawing/2014/main" id="{FEB0ADDF-85E2-456A-A445-1197D5A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82553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45" name="appendix-cell-4-3">
            <a:extLst xmlns:a="http://schemas.openxmlformats.org/drawingml/2006/main">
              <a:ext uri="{FF2B5EF4-FFF2-40B4-BE49-F238E27FC236}">
                <a16:creationId xmlns:a16="http://schemas.microsoft.com/office/drawing/2014/main" id="{C5CF526A-D857-4376-A988-8C2FAACA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24288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46" name="appendix-cell-5-3">
            <a:extLst xmlns:a="http://schemas.openxmlformats.org/drawingml/2006/main">
              <a:ext uri="{FF2B5EF4-FFF2-40B4-BE49-F238E27FC236}">
                <a16:creationId xmlns:a16="http://schemas.microsoft.com/office/drawing/2014/main" id="{FC230142-AF93-4E99-9EDE-34CCA2A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66022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7" name="appendix-cell-6-3">
            <a:extLst xmlns:a="http://schemas.openxmlformats.org/drawingml/2006/main">
              <a:ext uri="{FF2B5EF4-FFF2-40B4-BE49-F238E27FC236}">
                <a16:creationId xmlns:a16="http://schemas.microsoft.com/office/drawing/2014/main" id="{DA11789A-7165-4318-8A17-40A264AD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07756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48" name="appendix-cell-7-3">
            <a:extLst xmlns:a="http://schemas.openxmlformats.org/drawingml/2006/main">
              <a:ext uri="{FF2B5EF4-FFF2-40B4-BE49-F238E27FC236}">
                <a16:creationId xmlns:a16="http://schemas.microsoft.com/office/drawing/2014/main" id="{6D49DF68-E2F4-47E4-93EF-D104B94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449491"/>
            <a:ext cx="2457450" cy="465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49" name="appendix-col-line-4">
            <a:extLst xmlns:a="http://schemas.openxmlformats.org/drawingml/2006/main">
              <a:ext uri="{FF2B5EF4-FFF2-40B4-BE49-F238E27FC236}">
                <a16:creationId xmlns:a16="http://schemas.microsoft.com/office/drawing/2014/main" id="{389DF178-E222-47F2-83F5-0A536BC6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39367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7ABBB37B-803F-4ACE-9C92-46195C4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Questions Q-01–Q-10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D43553-2870-456C-9B1B-AD487A1B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1DC77137-CD52-4D57-AC26-C867D6E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Questions close only through an explicit accountable decision or authoritative evidence.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FA6EE180-4659-4A6D-B94B-A560FEAC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F0EF6677-5CF7-4E92-9A37-80FF34F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3239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10531BEA-7200-417D-B6AC-0DEFE041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7227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77E27C1C-2B20-4C06-A84C-8A9A7FF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1216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FC023110-3D9A-4EEA-844D-6811F0F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520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809A0CFD-0E02-4380-846A-65C23AA2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919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8605A0E2-F6B3-41D2-B2A7-0184A802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3182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32FC37D1-2B97-4BD1-B65D-DDA3B8E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717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row-line-8">
            <a:extLst xmlns:a="http://schemas.openxmlformats.org/drawingml/2006/main">
              <a:ext uri="{FF2B5EF4-FFF2-40B4-BE49-F238E27FC236}">
                <a16:creationId xmlns:a16="http://schemas.microsoft.com/office/drawing/2014/main" id="{96F56C43-740A-4FDE-9AA4-1F1AA187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1159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row-line-9">
            <a:extLst xmlns:a="http://schemas.openxmlformats.org/drawingml/2006/main">
              <a:ext uri="{FF2B5EF4-FFF2-40B4-BE49-F238E27FC236}">
                <a16:creationId xmlns:a16="http://schemas.microsoft.com/office/drawing/2014/main" id="{B2B65AB0-F812-4843-87E5-ABB16EBE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514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4" name="appendix-row-line-10">
            <a:extLst xmlns:a="http://schemas.openxmlformats.org/drawingml/2006/main">
              <a:ext uri="{FF2B5EF4-FFF2-40B4-BE49-F238E27FC236}">
                <a16:creationId xmlns:a16="http://schemas.microsoft.com/office/drawing/2014/main" id="{15C8478D-8D33-4B32-9F12-7423648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9136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5" name="appendix-row-line-11">
            <a:extLst xmlns:a="http://schemas.openxmlformats.org/drawingml/2006/main">
              <a:ext uri="{FF2B5EF4-FFF2-40B4-BE49-F238E27FC236}">
                <a16:creationId xmlns:a16="http://schemas.microsoft.com/office/drawing/2014/main" id="{CEED037C-0479-410B-8B15-5F1F4824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6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6AFFB1B4-93EE-466D-972C-760E1103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7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305AFC5A-1C6F-4284-954E-F0B6A18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8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F48DF983-66A8-4ED1-A348-A231641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51339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Q-01</a:t>
            </a:r>
          </a:p>
        </p:txBody>
      </p:sp>
      <p:sp>
        <p:nvSpPr>
          <p:cNvPr id="19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B75C696C-3A46-4752-A58C-5428870F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45327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Q-02</a:t>
            </a:r>
          </a:p>
        </p:txBody>
      </p:sp>
      <p:sp>
        <p:nvSpPr>
          <p:cNvPr id="20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CEB1C9AF-AD84-4709-9631-8A54DEC5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39316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Q-03</a:t>
            </a:r>
          </a:p>
        </p:txBody>
      </p:sp>
      <p:sp>
        <p:nvSpPr>
          <p:cNvPr id="21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864FBFA6-18B0-4E6E-B42D-47244B9D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33305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Q-04</a:t>
            </a:r>
          </a:p>
        </p:txBody>
      </p:sp>
      <p:sp>
        <p:nvSpPr>
          <p:cNvPr id="22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505ABE83-ADB5-4BB5-80ED-C7527597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27293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Q-05</a:t>
            </a:r>
          </a:p>
        </p:txBody>
      </p:sp>
      <p:sp>
        <p:nvSpPr>
          <p:cNvPr id="23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7897B25B-C89E-4E80-8D06-C4BA8F1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21282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Q-06</a:t>
            </a:r>
          </a:p>
        </p:txBody>
      </p:sp>
      <p:sp>
        <p:nvSpPr>
          <p:cNvPr id="24" name="appendix-cell-7-0">
            <a:extLst xmlns:a="http://schemas.openxmlformats.org/drawingml/2006/main">
              <a:ext uri="{FF2B5EF4-FFF2-40B4-BE49-F238E27FC236}">
                <a16:creationId xmlns:a16="http://schemas.microsoft.com/office/drawing/2014/main" id="{BD66AA01-AE2A-4FB2-B8F8-1027C9F4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15270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Q-07</a:t>
            </a:r>
          </a:p>
        </p:txBody>
      </p:sp>
      <p:sp>
        <p:nvSpPr>
          <p:cNvPr id="25" name="appendix-cell-8-0">
            <a:extLst xmlns:a="http://schemas.openxmlformats.org/drawingml/2006/main">
              <a:ext uri="{FF2B5EF4-FFF2-40B4-BE49-F238E27FC236}">
                <a16:creationId xmlns:a16="http://schemas.microsoft.com/office/drawing/2014/main" id="{0A8C4A60-4B7F-4E6E-9900-6BB4DB3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09259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Q-08</a:t>
            </a:r>
          </a:p>
        </p:txBody>
      </p:sp>
      <p:sp>
        <p:nvSpPr>
          <p:cNvPr id="26" name="appendix-cell-9-0">
            <a:extLst xmlns:a="http://schemas.openxmlformats.org/drawingml/2006/main">
              <a:ext uri="{FF2B5EF4-FFF2-40B4-BE49-F238E27FC236}">
                <a16:creationId xmlns:a16="http://schemas.microsoft.com/office/drawing/2014/main" id="{8372CEAC-A621-492F-8B2F-2C3B3E35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03248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Q-09</a:t>
            </a:r>
          </a:p>
        </p:txBody>
      </p:sp>
      <p:sp>
        <p:nvSpPr>
          <p:cNvPr id="27" name="appendix-cell-10-0">
            <a:extLst xmlns:a="http://schemas.openxmlformats.org/drawingml/2006/main">
              <a:ext uri="{FF2B5EF4-FFF2-40B4-BE49-F238E27FC236}">
                <a16:creationId xmlns:a16="http://schemas.microsoft.com/office/drawing/2014/main" id="{A055077E-DC92-44AD-BF0F-929E371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97236"/>
            <a:ext cx="8763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Q-10</a:t>
            </a:r>
          </a:p>
        </p:txBody>
      </p:sp>
      <p:sp>
        <p:nvSpPr>
          <p:cNvPr id="28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EFEE573B-EA61-4D42-9522-F9C1AE84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9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4CE3DA69-A860-45A8-96A3-B8E4690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57350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30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63245D26-9DFF-46D5-8169-B53EA343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1339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U-RQ and SQ wording</a:t>
            </a:r>
          </a:p>
        </p:txBody>
      </p:sp>
      <p:sp>
        <p:nvSpPr>
          <p:cNvPr id="31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CB8F604D-FDAB-4998-8139-6FB86C3B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5327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Whether/how medicine is used</a:t>
            </a:r>
          </a:p>
        </p:txBody>
      </p:sp>
      <p:sp>
        <p:nvSpPr>
          <p:cNvPr id="32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6472F1AB-2B21-460B-8720-8EE8394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839316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A/B boundary and trigger</a:t>
            </a:r>
          </a:p>
        </p:txBody>
      </p:sp>
      <p:sp>
        <p:nvSpPr>
          <p:cNvPr id="33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39587151-5A16-4C88-8E08-E2C5D8E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233305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 taxonomy and fields</a:t>
            </a:r>
          </a:p>
        </p:txBody>
      </p:sp>
      <p:sp>
        <p:nvSpPr>
          <p:cNvPr id="34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7D594783-F748-4A1D-98C2-7E8D965D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7293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MIMIC selection and governance</a:t>
            </a:r>
          </a:p>
        </p:txBody>
      </p:sp>
      <p:sp>
        <p:nvSpPr>
          <p:cNvPr id="35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D5FDE8EC-3676-4844-B47D-799EFF77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21282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Approved local/offline models</a:t>
            </a:r>
          </a:p>
        </p:txBody>
      </p:sp>
      <p:sp>
        <p:nvSpPr>
          <p:cNvPr id="36" name="appendix-cell-7-1">
            <a:extLst xmlns:a="http://schemas.openxmlformats.org/drawingml/2006/main">
              <a:ext uri="{FF2B5EF4-FFF2-40B4-BE49-F238E27FC236}">
                <a16:creationId xmlns:a16="http://schemas.microsoft.com/office/drawing/2014/main" id="{FBC9D638-DDCB-44BC-B063-C5A36762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415270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 and Drive permissions</a:t>
            </a:r>
          </a:p>
        </p:txBody>
      </p:sp>
      <p:sp>
        <p:nvSpPr>
          <p:cNvPr id="37" name="appendix-cell-8-1">
            <a:extLst xmlns:a="http://schemas.openxmlformats.org/drawingml/2006/main">
              <a:ext uri="{FF2B5EF4-FFF2-40B4-BE49-F238E27FC236}">
                <a16:creationId xmlns:a16="http://schemas.microsoft.com/office/drawing/2014/main" id="{D8CA2B18-4242-494E-B7A5-38E0C13A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09259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candidacy policy</a:t>
            </a:r>
          </a:p>
        </p:txBody>
      </p:sp>
      <p:sp>
        <p:nvSpPr>
          <p:cNvPr id="38" name="appendix-cell-9-1">
            <a:extLst xmlns:a="http://schemas.openxmlformats.org/drawingml/2006/main">
              <a:ext uri="{FF2B5EF4-FFF2-40B4-BE49-F238E27FC236}">
                <a16:creationId xmlns:a16="http://schemas.microsoft.com/office/drawing/2014/main" id="{9DB814DC-6E34-43D5-8DA2-4D0CA212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203248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Clalit use case and prerequisites</a:t>
            </a:r>
          </a:p>
        </p:txBody>
      </p:sp>
      <p:sp>
        <p:nvSpPr>
          <p:cNvPr id="39" name="appendix-cell-10-1">
            <a:extLst xmlns:a="http://schemas.openxmlformats.org/drawingml/2006/main">
              <a:ext uri="{FF2B5EF4-FFF2-40B4-BE49-F238E27FC236}">
                <a16:creationId xmlns:a16="http://schemas.microsoft.com/office/drawing/2014/main" id="{A35F4BB1-E43F-478B-ACA1-F8CD041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597236"/>
            <a:ext cx="640080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Partner meeting/mechanism/second partner</a:t>
            </a:r>
          </a:p>
        </p:txBody>
      </p:sp>
      <p:sp>
        <p:nvSpPr>
          <p:cNvPr id="40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3877AE50-AF4B-46B0-8C6D-B1C92EF0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41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C631F2AD-6F9E-4B0E-86B1-28DB269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57350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</a:t>
            </a:r>
          </a:p>
        </p:txBody>
      </p:sp>
      <p:sp>
        <p:nvSpPr>
          <p:cNvPr id="42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4C152BE9-935F-42C4-B9EE-8F17BAF2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51339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3,11</a:t>
            </a:r>
          </a:p>
        </p:txBody>
      </p:sp>
      <p:sp>
        <p:nvSpPr>
          <p:cNvPr id="43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05E864E0-EB86-476D-857E-03E01F72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5327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6,9</a:t>
            </a:r>
          </a:p>
        </p:txBody>
      </p:sp>
      <p:sp>
        <p:nvSpPr>
          <p:cNvPr id="44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0DA0AE33-DE7B-462C-B29D-B625A003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39316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6,11</a:t>
            </a:r>
          </a:p>
        </p:txBody>
      </p:sp>
      <p:sp>
        <p:nvSpPr>
          <p:cNvPr id="45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835B2525-AD0C-43C8-A6DD-A23EF98D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33305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6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5C0F3A00-3864-4C73-A4F9-E291C0E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27293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7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A98A65D7-26ED-42AF-BA33-5B46AE9D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1282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8" name="appendix-cell-7-2">
            <a:extLst xmlns:a="http://schemas.openxmlformats.org/drawingml/2006/main">
              <a:ext uri="{FF2B5EF4-FFF2-40B4-BE49-F238E27FC236}">
                <a16:creationId xmlns:a16="http://schemas.microsoft.com/office/drawing/2014/main" id="{0E0015AE-E224-4B16-B3B7-51CC668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15270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9" name="appendix-cell-8-2">
            <a:extLst xmlns:a="http://schemas.openxmlformats.org/drawingml/2006/main">
              <a:ext uri="{FF2B5EF4-FFF2-40B4-BE49-F238E27FC236}">
                <a16:creationId xmlns:a16="http://schemas.microsoft.com/office/drawing/2014/main" id="{5758DA2E-3234-4AAB-B630-6B89D6AD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09259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0" name="appendix-cell-9-2">
            <a:extLst xmlns:a="http://schemas.openxmlformats.org/drawingml/2006/main">
              <a:ext uri="{FF2B5EF4-FFF2-40B4-BE49-F238E27FC236}">
                <a16:creationId xmlns:a16="http://schemas.microsoft.com/office/drawing/2014/main" id="{51623743-650C-4141-B4A6-6B4DE8A8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203248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1" name="appendix-cell-10-2">
            <a:extLst xmlns:a="http://schemas.openxmlformats.org/drawingml/2006/main">
              <a:ext uri="{FF2B5EF4-FFF2-40B4-BE49-F238E27FC236}">
                <a16:creationId xmlns:a16="http://schemas.microsoft.com/office/drawing/2014/main" id="{2C31FA32-A1FB-4D72-A3E6-7C31BE7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97236"/>
            <a:ext cx="9715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2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17FE1B05-241E-443A-8540-B8414A2F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3" name="appendix-cell-0-3">
            <a:extLst xmlns:a="http://schemas.openxmlformats.org/drawingml/2006/main">
              <a:ext uri="{FF2B5EF4-FFF2-40B4-BE49-F238E27FC236}">
                <a16:creationId xmlns:a16="http://schemas.microsoft.com/office/drawing/2014/main" id="{7196F678-1E05-4002-9876-295412A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657350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54" name="appendix-cell-1-3">
            <a:extLst xmlns:a="http://schemas.openxmlformats.org/drawingml/2006/main">
              <a:ext uri="{FF2B5EF4-FFF2-40B4-BE49-F238E27FC236}">
                <a16:creationId xmlns:a16="http://schemas.microsoft.com/office/drawing/2014/main" id="{0744A36C-6945-4B4B-B44F-1A9C9B42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51339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5" name="appendix-cell-2-3">
            <a:extLst xmlns:a="http://schemas.openxmlformats.org/drawingml/2006/main">
              <a:ext uri="{FF2B5EF4-FFF2-40B4-BE49-F238E27FC236}">
                <a16:creationId xmlns:a16="http://schemas.microsoft.com/office/drawing/2014/main" id="{D5FCFAEF-FCCE-4021-9085-7362DFA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45327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56" name="appendix-cell-3-3">
            <a:extLst xmlns:a="http://schemas.openxmlformats.org/drawingml/2006/main">
              <a:ext uri="{FF2B5EF4-FFF2-40B4-BE49-F238E27FC236}">
                <a16:creationId xmlns:a16="http://schemas.microsoft.com/office/drawing/2014/main" id="{B4596B1E-BC11-493E-95F8-8DB3B926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39316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Awaiting</a:t>
            </a:r>
          </a:p>
        </p:txBody>
      </p:sp>
      <p:sp>
        <p:nvSpPr>
          <p:cNvPr id="57" name="appendix-cell-4-3">
            <a:extLst xmlns:a="http://schemas.openxmlformats.org/drawingml/2006/main">
              <a:ext uri="{FF2B5EF4-FFF2-40B4-BE49-F238E27FC236}">
                <a16:creationId xmlns:a16="http://schemas.microsoft.com/office/drawing/2014/main" id="{F5C82D81-A915-41A1-A63E-432DB8D0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3305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58" name="appendix-cell-5-3">
            <a:extLst xmlns:a="http://schemas.openxmlformats.org/drawingml/2006/main">
              <a:ext uri="{FF2B5EF4-FFF2-40B4-BE49-F238E27FC236}">
                <a16:creationId xmlns:a16="http://schemas.microsoft.com/office/drawing/2014/main" id="{173C37BB-6423-484B-A0F8-11A5970D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27293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59" name="appendix-cell-6-3">
            <a:extLst xmlns:a="http://schemas.openxmlformats.org/drawingml/2006/main">
              <a:ext uri="{FF2B5EF4-FFF2-40B4-BE49-F238E27FC236}">
                <a16:creationId xmlns:a16="http://schemas.microsoft.com/office/drawing/2014/main" id="{E0EED6D4-66DF-4EA2-9895-B3E43A91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21282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60" name="appendix-cell-7-3">
            <a:extLst xmlns:a="http://schemas.openxmlformats.org/drawingml/2006/main">
              <a:ext uri="{FF2B5EF4-FFF2-40B4-BE49-F238E27FC236}">
                <a16:creationId xmlns:a16="http://schemas.microsoft.com/office/drawing/2014/main" id="{C8D4B53B-5DF6-4EC0-AFF1-7F6C0FDA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15270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61" name="appendix-cell-8-3">
            <a:extLst xmlns:a="http://schemas.openxmlformats.org/drawingml/2006/main">
              <a:ext uri="{FF2B5EF4-FFF2-40B4-BE49-F238E27FC236}">
                <a16:creationId xmlns:a16="http://schemas.microsoft.com/office/drawing/2014/main" id="{8FAB1592-883D-411D-A13C-0C7F5D2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809259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62" name="appendix-cell-9-3">
            <a:extLst xmlns:a="http://schemas.openxmlformats.org/drawingml/2006/main">
              <a:ext uri="{FF2B5EF4-FFF2-40B4-BE49-F238E27FC236}">
                <a16:creationId xmlns:a16="http://schemas.microsoft.com/office/drawing/2014/main" id="{209272E3-0573-4896-9B31-D1BDCB23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203248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63" name="appendix-cell-10-3">
            <a:extLst xmlns:a="http://schemas.openxmlformats.org/drawingml/2006/main">
              <a:ext uri="{FF2B5EF4-FFF2-40B4-BE49-F238E27FC236}">
                <a16:creationId xmlns:a16="http://schemas.microsoft.com/office/drawing/2014/main" id="{7BB73608-F679-44F6-99C0-AB7C269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597236"/>
            <a:ext cx="2457450" cy="3177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64" name="appendix-col-line-4">
            <a:extLst xmlns:a="http://schemas.openxmlformats.org/drawingml/2006/main">
              <a:ext uri="{FF2B5EF4-FFF2-40B4-BE49-F238E27FC236}">
                <a16:creationId xmlns:a16="http://schemas.microsoft.com/office/drawing/2014/main" id="{F1E56B02-BE36-4E60-8881-626257CC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1254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1BA8FBEC-B05D-46B7-849F-FE2DBFD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Claim states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B172A6-1F18-4780-B267-0A3A96D6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A6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7DC4E619-FA03-4CB4-9D85-C2D86917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 stronger wording requires stronger evidence; planned work never becomes a result by repetition.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0889DF83-1F12-40C2-8209-F151DD06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1FF61227-F2B7-4D3F-A757-043BC3ED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156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41FD8547-7CD1-4415-AE60-78AC7BD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3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427635F5-072A-4B22-B784-8B838AD3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6188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ABEE104B-4E38-4882-A037-A0291EF5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8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1D4816A6-051D-4943-A880-737255E6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0813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7B1C8031-2E27-420C-937C-C9AA4F93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70C84E45-B645-4682-B602-2E05AB6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E2B683C0-5022-4348-A506-73B9E31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192405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3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4278A2AB-04FC-4813-A734-27454F4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79663"/>
            <a:ext cx="192405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14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D37ACA63-55A4-4EFE-B878-A6E8A20F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1975"/>
            <a:ext cx="192405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15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F677ECD3-8757-4DD8-B807-82BEF5CB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24288"/>
            <a:ext cx="192405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6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59B2C3D7-7746-4E0A-89AF-E356B0DF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46600"/>
            <a:ext cx="192405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17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E668BBDE-309C-4B08-B53B-DD9E5660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68913"/>
            <a:ext cx="192405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Partner-dependent</a:t>
            </a:r>
          </a:p>
        </p:txBody>
      </p:sp>
      <p:sp>
        <p:nvSpPr>
          <p:cNvPr id="18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64111298-65C0-447F-901A-AFF85CE2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9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970E45EE-EAD2-4BC0-8233-CE7C967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657350"/>
            <a:ext cx="39243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when</a:t>
            </a:r>
          </a:p>
        </p:txBody>
      </p:sp>
      <p:sp>
        <p:nvSpPr>
          <p:cNvPr id="20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568D75CE-6901-47C8-93D7-435359CE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79663"/>
            <a:ext cx="39243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Narrow artifact/integrity fact is locally verified</a:t>
            </a:r>
          </a:p>
        </p:txBody>
      </p:sp>
      <p:sp>
        <p:nvSpPr>
          <p:cNvPr id="21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3B3F5DA5-6E4A-449D-8DA4-CE13393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101975"/>
            <a:ext cx="39243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exists but validation is incomplete</a:t>
            </a:r>
          </a:p>
        </p:txBody>
      </p:sp>
      <p:sp>
        <p:nvSpPr>
          <p:cNvPr id="22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28DC1306-CB0F-4F98-8F66-CB5506D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24288"/>
            <a:ext cx="39243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Protocol or deliverable has not run</a:t>
            </a:r>
          </a:p>
        </p:txBody>
      </p:sp>
      <p:sp>
        <p:nvSpPr>
          <p:cNvPr id="23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E38E4358-90BE-406E-B685-6295E160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546600"/>
            <a:ext cx="39243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required prerequisite is absent</a:t>
            </a:r>
          </a:p>
        </p:txBody>
      </p:sp>
      <p:sp>
        <p:nvSpPr>
          <p:cNvPr id="24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529B86B5-844A-4E81-B2C7-F4B88833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268913"/>
            <a:ext cx="39243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people/access/approval control progress</a:t>
            </a:r>
          </a:p>
        </p:txBody>
      </p:sp>
      <p:sp>
        <p:nvSpPr>
          <p:cNvPr id="25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9417589A-73FC-4A9E-B1AF-6686F9C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6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C88B0C6E-C504-4D68-B70B-5CE949BA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57350"/>
            <a:ext cx="50292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 in this package</a:t>
            </a:r>
          </a:p>
        </p:txBody>
      </p:sp>
      <p:sp>
        <p:nvSpPr>
          <p:cNvPr id="27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40508876-3950-4364-AF1F-33DEF8FB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79663"/>
            <a:ext cx="50292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 controls captured; calendar accepted</a:t>
            </a:r>
          </a:p>
        </p:txBody>
      </p:sp>
      <p:sp>
        <p:nvSpPr>
          <p:cNvPr id="28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AC08FAAB-8FBD-45F4-9A7D-D8B92DC4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01975"/>
            <a:ext cx="50292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Novelty and doctoral adequacy</a:t>
            </a:r>
          </a:p>
        </p:txBody>
      </p:sp>
      <p:sp>
        <p:nvSpPr>
          <p:cNvPr id="29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7F4121D4-AE40-4B77-BED3-CDCB8EF1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24288"/>
            <a:ext cx="50292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Scientific experiments and proposal milestones</a:t>
            </a:r>
          </a:p>
        </p:txBody>
      </p:sp>
      <p:sp>
        <p:nvSpPr>
          <p:cNvPr id="30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42F12078-2E61-462A-A3CD-3A33054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546600"/>
            <a:ext cx="50292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EXP-005 labels; medical gates</a:t>
            </a:r>
          </a:p>
        </p:txBody>
      </p:sp>
      <p:sp>
        <p:nvSpPr>
          <p:cNvPr id="31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DEE3E829-FA4F-454A-989B-28AE097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268913"/>
            <a:ext cx="5029200" cy="6461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Clalit route and clinical feasibility</a:t>
            </a:r>
          </a:p>
        </p:txBody>
      </p:sp>
      <p:sp>
        <p:nvSpPr>
          <p:cNvPr id="32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48072D5B-2358-4F5E-B1EF-0E076571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0799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53BFED-FA78-4D5F-B1A5-B4A56F1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9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Bilingual alignment is complete; human review has not run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27B12C-D64C-48F5-83B9-62D7CFB0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A7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89622410-9DCE-4AB3-88E7-27161398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144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Machine alignment provides full chronology. It does not establish translation accuracy, speaker identity, or quotation readiness.</a:t>
            </a:r>
          </a:p>
        </p:txBody>
      </p:sp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3094BC48-B728-4351-BE87-48D16E6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8EFFB"/>
          </a:solidFill>
          <a:ln xmlns:a="http://schemas.openxmlformats.org/drawingml/2006/main" w="0">
            <a:solidFill>
              <a:srgbClr val="D8EFFB"/>
            </a:solidFill>
            <a:prstDash val="solid"/>
          </a:ln>
        </p:spPr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CFFD0823-2E97-4A28-A2F2-D389462C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1,195</a:t>
            </a:r>
          </a:p>
        </p:txBody>
      </p:sp>
      <p:sp>
        <p:nvSpPr>
          <p:cNvPr id="6" name="metric-copy-1">
            <a:extLst xmlns:a="http://schemas.openxmlformats.org/drawingml/2006/main">
              <a:ext uri="{FF2B5EF4-FFF2-40B4-BE49-F238E27FC236}">
                <a16:creationId xmlns:a16="http://schemas.microsoft.com/office/drawing/2014/main" id="{4D2068A1-9C6F-4FF9-9FB4-2BE65432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00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aligned segments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Hebrew ASR + machine English + transcript anchors</a:t>
            </a:r>
          </a:p>
        </p:txBody>
      </p:sp>
      <p:sp>
        <p:nvSpPr>
          <p:cNvPr id="7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7CAD8C69-9662-448E-87FE-C5F8730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054B6AC5-C3D2-41B3-B678-B855CAAC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0375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2C94C"/>
                </a:solidFill>
                <a:latin typeface="Arial"/>
                <a:ea typeface="Arial"/>
                <a:cs typeface="Arial"/>
              </a:rPr>
              <a:t>910</a:t>
            </a:r>
          </a:p>
        </p:txBody>
      </p:sp>
      <p:sp>
        <p:nvSpPr>
          <p:cNvPr id="9" name="metric-copy-2">
            <a:extLst xmlns:a="http://schemas.openxmlformats.org/drawingml/2006/main">
              <a:ext uri="{FF2B5EF4-FFF2-40B4-BE49-F238E27FC236}">
                <a16:creationId xmlns:a16="http://schemas.microsoft.com/office/drawing/2014/main" id="{595404C6-DFA8-48A2-B028-0DB4B4A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38625"/>
            <a:ext cx="300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currently control-linked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285 segments need explicit human disposition</a:t>
            </a:r>
          </a:p>
        </p:txBody>
      </p:sp>
      <p:sp>
        <p:nvSpPr>
          <p:cNvPr id="10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D18F86E4-DD0E-4E01-B0F8-A57A1A3F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metric-3">
            <a:extLst xmlns:a="http://schemas.openxmlformats.org/drawingml/2006/main">
              <a:ext uri="{FF2B5EF4-FFF2-40B4-BE49-F238E27FC236}">
                <a16:creationId xmlns:a16="http://schemas.microsoft.com/office/drawing/2014/main" id="{5E18ACEC-3E94-4E8A-84AE-62AA8018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metric-copy-3">
            <a:extLst xmlns:a="http://schemas.openxmlformats.org/drawingml/2006/main">
              <a:ext uri="{FF2B5EF4-FFF2-40B4-BE49-F238E27FC236}">
                <a16:creationId xmlns:a16="http://schemas.microsoft.com/office/drawing/2014/main" id="{1706166C-41BD-4622-9820-EF8DB22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000375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30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dual-reviewed rows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Reviewer A, Reviewer B and adjudication remain pending</a:t>
            </a:r>
          </a:p>
        </p:txBody>
      </p:sp>
    </p:spTree>
    <p:extLst>
      <p:ext uri="{BB962C8B-B14F-4D97-AF65-F5344CB8AC3E}">
        <p14:creationId xmlns:p14="http://schemas.microsoft.com/office/powerpoint/2010/main" val="10755772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D0327214-E478-46B1-9E8D-95B8217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Scientific experiments align to the three studies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48A052B-4467-4567-90C4-20D27BCD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A8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7DEB5409-8E36-458D-8634-B0FDB68D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These are protocols and crosswalks—not completed outcomes.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A1487039-E3AE-4713-9060-ACCE95C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7E6E44BD-B5EC-4BF2-A3E5-2FFC75C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0D2D6871-179B-4F9D-B11C-AD1DD899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F5EB9CA6-71AC-4DBB-9B17-B1C0B536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464ED57F-C76B-4282-B904-A058D805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AB1BCF20-7276-4635-A726-B607186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E6BD91CC-2F77-435A-9F64-1452219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2B275E66-B63F-47BD-A337-BFAC891C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B9DEB2E9-665C-4328-AFE7-AB0BD89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D778C276-C728-418E-A1C3-980112C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label</a:t>
            </a:r>
          </a:p>
        </p:txBody>
      </p:sp>
      <p:sp>
        <p:nvSpPr>
          <p:cNvPr id="14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916589D4-53D4-4317-92CD-E677A55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76475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SCI-EXP-01</a:t>
            </a:r>
          </a:p>
        </p:txBody>
      </p:sp>
      <p:sp>
        <p:nvSpPr>
          <p:cNvPr id="15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62AE77F1-024A-40D0-94E5-C7A9190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95600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SCI-EXP-02</a:t>
            </a:r>
          </a:p>
        </p:txBody>
      </p:sp>
      <p:sp>
        <p:nvSpPr>
          <p:cNvPr id="16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84B8BE6B-378D-4D62-B3A0-AB8ACE19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14725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SCI-EXP-03</a:t>
            </a:r>
          </a:p>
        </p:txBody>
      </p:sp>
      <p:sp>
        <p:nvSpPr>
          <p:cNvPr id="17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27470BD9-89DE-42CA-A2C8-D56E80D7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33850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SCI-EXP-04</a:t>
            </a:r>
          </a:p>
        </p:txBody>
      </p:sp>
      <p:sp>
        <p:nvSpPr>
          <p:cNvPr id="18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CCDDAE71-DFD5-4661-B4A5-439BA190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52975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SCI-EXP-05</a:t>
            </a:r>
          </a:p>
        </p:txBody>
      </p:sp>
      <p:sp>
        <p:nvSpPr>
          <p:cNvPr id="19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ED3F9C93-895A-4600-B230-0D98FE98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72100"/>
            <a:ext cx="1543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SCI-EXP-06</a:t>
            </a:r>
          </a:p>
        </p:txBody>
      </p:sp>
      <p:sp>
        <p:nvSpPr>
          <p:cNvPr id="20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CE31CB01-4843-4027-B2D9-7890CD4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1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A292938A-6FAD-47FF-ADDB-9910225A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657350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Canonical experiment route</a:t>
            </a:r>
          </a:p>
        </p:txBody>
      </p:sp>
      <p:sp>
        <p:nvSpPr>
          <p:cNvPr id="22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3D822C52-CFAF-4FF1-B28F-47C25CD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76475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EXP-006–008, 013–016</a:t>
            </a:r>
          </a:p>
        </p:txBody>
      </p:sp>
      <p:sp>
        <p:nvSpPr>
          <p:cNvPr id="23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8AF41E35-DE42-48F4-AEC0-A6F0CD2E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95600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EXP-017–018, 022</a:t>
            </a:r>
          </a:p>
        </p:txBody>
      </p:sp>
      <p:sp>
        <p:nvSpPr>
          <p:cNvPr id="24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ABF53858-8AB2-4DD1-A804-A0C76C06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14725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EXP-022, 026</a:t>
            </a:r>
          </a:p>
        </p:txBody>
      </p:sp>
      <p:sp>
        <p:nvSpPr>
          <p:cNvPr id="25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9C1350B8-0AA3-4EE1-9B6D-6F78650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33850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EXP-025</a:t>
            </a:r>
          </a:p>
        </p:txBody>
      </p:sp>
      <p:sp>
        <p:nvSpPr>
          <p:cNvPr id="26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1BF9B86C-6752-4C0E-B7BD-6C84B8A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52975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Conditional medical protocol</a:t>
            </a:r>
          </a:p>
        </p:txBody>
      </p:sp>
      <p:sp>
        <p:nvSpPr>
          <p:cNvPr id="27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D7AE7380-992B-46F3-A73F-181F448F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372100"/>
            <a:ext cx="39243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EXP-026–027</a:t>
            </a:r>
          </a:p>
        </p:txBody>
      </p:sp>
      <p:sp>
        <p:nvSpPr>
          <p:cNvPr id="28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094CF050-D161-4B1C-96A8-A6EF7761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9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F3373CE1-FF91-497C-82AA-77D60A3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57350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30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D0A38EF1-5A1C-4989-9525-288B4B8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76475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Selective intervention</a:t>
            </a:r>
          </a:p>
        </p:txBody>
      </p:sp>
      <p:sp>
        <p:nvSpPr>
          <p:cNvPr id="31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243DD7C0-99E2-4C21-9C1E-9032FE51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Governed reuse</a:t>
            </a:r>
          </a:p>
        </p:txBody>
      </p:sp>
      <p:sp>
        <p:nvSpPr>
          <p:cNvPr id="32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5BCBF368-0C92-40D0-B880-44565FF1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14725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Longitudinal reuse</a:t>
            </a:r>
          </a:p>
        </p:txBody>
      </p:sp>
      <p:sp>
        <p:nvSpPr>
          <p:cNvPr id="33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595C98D9-39CD-45B1-A3D6-0536C231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133850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B transfer</a:t>
            </a:r>
          </a:p>
        </p:txBody>
      </p:sp>
      <p:sp>
        <p:nvSpPr>
          <p:cNvPr id="34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2AD39E3B-80FC-4C54-923C-C6D7691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52975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A transfer</a:t>
            </a:r>
          </a:p>
        </p:txBody>
      </p:sp>
      <p:sp>
        <p:nvSpPr>
          <p:cNvPr id="35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D23306B3-D07E-49C1-AC8E-14655892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72100"/>
            <a:ext cx="2305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Effort/ablation</a:t>
            </a:r>
          </a:p>
        </p:txBody>
      </p:sp>
      <p:sp>
        <p:nvSpPr>
          <p:cNvPr id="36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8E5B225A-BE14-470E-9B75-A11B9AC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37" name="appendix-cell-0-3">
            <a:extLst xmlns:a="http://schemas.openxmlformats.org/drawingml/2006/main">
              <a:ext uri="{FF2B5EF4-FFF2-40B4-BE49-F238E27FC236}">
                <a16:creationId xmlns:a16="http://schemas.microsoft.com/office/drawing/2014/main" id="{05E5DCF9-AB02-4E23-A584-3EB83E0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657350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38" name="appendix-cell-1-3">
            <a:extLst xmlns:a="http://schemas.openxmlformats.org/drawingml/2006/main">
              <a:ext uri="{FF2B5EF4-FFF2-40B4-BE49-F238E27FC236}">
                <a16:creationId xmlns:a16="http://schemas.microsoft.com/office/drawing/2014/main" id="{4B8776F2-A0DE-4324-A6DD-2938B08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76475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Mechanism evidence only</a:t>
            </a:r>
          </a:p>
        </p:txBody>
      </p:sp>
      <p:sp>
        <p:nvSpPr>
          <p:cNvPr id="39" name="appendix-cell-2-3">
            <a:extLst xmlns:a="http://schemas.openxmlformats.org/drawingml/2006/main">
              <a:ext uri="{FF2B5EF4-FFF2-40B4-BE49-F238E27FC236}">
                <a16:creationId xmlns:a16="http://schemas.microsoft.com/office/drawing/2014/main" id="{1E645A47-3FD4-4011-B289-B674CFE0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95600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beneficial-reuse claim</a:t>
            </a:r>
          </a:p>
        </p:txBody>
      </p:sp>
      <p:sp>
        <p:nvSpPr>
          <p:cNvPr id="40" name="appendix-cell-3-3">
            <a:extLst xmlns:a="http://schemas.openxmlformats.org/drawingml/2006/main">
              <a:ext uri="{FF2B5EF4-FFF2-40B4-BE49-F238E27FC236}">
                <a16:creationId xmlns:a16="http://schemas.microsoft.com/office/drawing/2014/main" id="{360E4BE3-DBB2-42A9-AB3B-2A2BE2B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514725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protocol required</a:t>
            </a:r>
          </a:p>
        </p:txBody>
      </p:sp>
      <p:sp>
        <p:nvSpPr>
          <p:cNvPr id="41" name="appendix-cell-4-3">
            <a:extLst xmlns:a="http://schemas.openxmlformats.org/drawingml/2006/main">
              <a:ext uri="{FF2B5EF4-FFF2-40B4-BE49-F238E27FC236}">
                <a16:creationId xmlns:a16="http://schemas.microsoft.com/office/drawing/2014/main" id="{194BA897-7B20-44E3-9D92-14236F5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133850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Authorized second context</a:t>
            </a:r>
          </a:p>
        </p:txBody>
      </p:sp>
      <p:sp>
        <p:nvSpPr>
          <p:cNvPr id="42" name="appendix-cell-5-3">
            <a:extLst xmlns:a="http://schemas.openxmlformats.org/drawingml/2006/main">
              <a:ext uri="{FF2B5EF4-FFF2-40B4-BE49-F238E27FC236}">
                <a16:creationId xmlns:a16="http://schemas.microsoft.com/office/drawing/2014/main" id="{265A7BBA-5945-4423-94F8-DB9D4258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752975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G1–G6 all pass</a:t>
            </a:r>
          </a:p>
        </p:txBody>
      </p:sp>
      <p:sp>
        <p:nvSpPr>
          <p:cNvPr id="43" name="appendix-cell-6-3">
            <a:extLst xmlns:a="http://schemas.openxmlformats.org/drawingml/2006/main">
              <a:ext uri="{FF2B5EF4-FFF2-40B4-BE49-F238E27FC236}">
                <a16:creationId xmlns:a16="http://schemas.microsoft.com/office/drawing/2014/main" id="{D447D0E3-492E-497C-8E3A-D42AFD3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372100"/>
            <a:ext cx="2933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labels + usability</a:t>
            </a:r>
          </a:p>
        </p:txBody>
      </p:sp>
      <p:sp>
        <p:nvSpPr>
          <p:cNvPr id="44" name="appendix-col-line-4">
            <a:extLst xmlns:a="http://schemas.openxmlformats.org/drawingml/2006/main">
              <a:ext uri="{FF2B5EF4-FFF2-40B4-BE49-F238E27FC236}">
                <a16:creationId xmlns:a16="http://schemas.microsoft.com/office/drawing/2014/main" id="{7669A333-1129-4FF8-BBA9-F42E16F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99473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appendix-title">
            <a:extLst xmlns:a="http://schemas.openxmlformats.org/drawingml/2006/main">
              <a:ext uri="{FF2B5EF4-FFF2-40B4-BE49-F238E27FC236}">
                <a16:creationId xmlns:a16="http://schemas.microsoft.com/office/drawing/2014/main" id="{BB6AECF0-C367-4072-B1A2-D1CDB0C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391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Appendix · Package status and release gates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E2E067-72CE-41D8-B470-4BE62C66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spcAft>
                <a:spcPts val="0"/>
              </a:spcAft>
              <a:buNone/>
              <a:defRPr sz="1050">
                <a:solidFill>
                  <a:srgbClr val="5D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A9</a:t>
            </a:r>
          </a:p>
        </p:txBody>
      </p:sp>
      <p:sp>
        <p:nvSpPr>
          <p:cNvPr id="3" name="appendix-subtitle">
            <a:extLst xmlns:a="http://schemas.openxmlformats.org/drawingml/2006/main">
              <a:ext uri="{FF2B5EF4-FFF2-40B4-BE49-F238E27FC236}">
                <a16:creationId xmlns:a16="http://schemas.microsoft.com/office/drawing/2014/main" id="{5CF6FD4A-514E-47B9-AA69-2F60DF2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1334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0"/>
                </a:solidFill>
                <a:latin typeface="Arial"/>
                <a:ea typeface="Arial"/>
                <a:cs typeface="Arial"/>
              </a:rPr>
              <a:t>Built artifacts are not automatically reviewed, rehearsed, delivered, or accepted.</a:t>
            </a:r>
          </a:p>
        </p:txBody>
      </p:sp>
      <p:sp>
        <p:nvSpPr>
          <p:cNvPr id="4" name="appendix-row-line-0">
            <a:extLst xmlns:a="http://schemas.openxmlformats.org/drawingml/2006/main">
              <a:ext uri="{FF2B5EF4-FFF2-40B4-BE49-F238E27FC236}">
                <a16:creationId xmlns:a16="http://schemas.microsoft.com/office/drawing/2014/main" id="{0EA238F7-3644-4140-A38E-A0D6A5F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5" name="appendix-row-line-1">
            <a:extLst xmlns:a="http://schemas.openxmlformats.org/drawingml/2006/main">
              <a:ext uri="{FF2B5EF4-FFF2-40B4-BE49-F238E27FC236}">
                <a16:creationId xmlns:a16="http://schemas.microsoft.com/office/drawing/2014/main" id="{0ED5FD2E-0AA8-416C-B274-DF64CE48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6" name="appendix-row-line-2">
            <a:extLst xmlns:a="http://schemas.openxmlformats.org/drawingml/2006/main">
              <a:ext uri="{FF2B5EF4-FFF2-40B4-BE49-F238E27FC236}">
                <a16:creationId xmlns:a16="http://schemas.microsoft.com/office/drawing/2014/main" id="{0E301523-FB1C-4B00-B233-AFE758E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7" name="appendix-row-line-3">
            <a:extLst xmlns:a="http://schemas.openxmlformats.org/drawingml/2006/main">
              <a:ext uri="{FF2B5EF4-FFF2-40B4-BE49-F238E27FC236}">
                <a16:creationId xmlns:a16="http://schemas.microsoft.com/office/drawing/2014/main" id="{D55C71D3-3740-4F12-B410-82E10B6C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8" name="appendix-row-line-4">
            <a:extLst xmlns:a="http://schemas.openxmlformats.org/drawingml/2006/main">
              <a:ext uri="{FF2B5EF4-FFF2-40B4-BE49-F238E27FC236}">
                <a16:creationId xmlns:a16="http://schemas.microsoft.com/office/drawing/2014/main" id="{83408BEC-6940-40A8-BF6A-8928435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9" name="appendix-row-line-5">
            <a:extLst xmlns:a="http://schemas.openxmlformats.org/drawingml/2006/main">
              <a:ext uri="{FF2B5EF4-FFF2-40B4-BE49-F238E27FC236}">
                <a16:creationId xmlns:a16="http://schemas.microsoft.com/office/drawing/2014/main" id="{AB5EDBE8-0E89-4056-984A-99AD358D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0" name="appendix-row-line-6">
            <a:extLst xmlns:a="http://schemas.openxmlformats.org/drawingml/2006/main">
              <a:ext uri="{FF2B5EF4-FFF2-40B4-BE49-F238E27FC236}">
                <a16:creationId xmlns:a16="http://schemas.microsoft.com/office/drawing/2014/main" id="{D957B5E0-CE87-498A-AB07-65C55887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1" name="appendix-row-line-7">
            <a:extLst xmlns:a="http://schemas.openxmlformats.org/drawingml/2006/main">
              <a:ext uri="{FF2B5EF4-FFF2-40B4-BE49-F238E27FC236}">
                <a16:creationId xmlns:a16="http://schemas.microsoft.com/office/drawing/2014/main" id="{AF6B8A19-9917-464C-9FBB-A0F9A829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2" name="appendix-col-line-0">
            <a:extLst xmlns:a="http://schemas.openxmlformats.org/drawingml/2006/main">
              <a:ext uri="{FF2B5EF4-FFF2-40B4-BE49-F238E27FC236}">
                <a16:creationId xmlns:a16="http://schemas.microsoft.com/office/drawing/2014/main" id="{F8461205-C779-4CCE-91C8-581B1EBC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13" name="appendix-cell-0-0">
            <a:extLst xmlns:a="http://schemas.openxmlformats.org/drawingml/2006/main">
              <a:ext uri="{FF2B5EF4-FFF2-40B4-BE49-F238E27FC236}">
                <a16:creationId xmlns:a16="http://schemas.microsoft.com/office/drawing/2014/main" id="{48625381-6DEE-41C7-B0C0-615625CA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7350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Artifact/gate</a:t>
            </a:r>
          </a:p>
        </p:txBody>
      </p:sp>
      <p:sp>
        <p:nvSpPr>
          <p:cNvPr id="14" name="appendix-cell-1-0">
            <a:extLst xmlns:a="http://schemas.openxmlformats.org/drawingml/2006/main">
              <a:ext uri="{FF2B5EF4-FFF2-40B4-BE49-F238E27FC236}">
                <a16:creationId xmlns:a16="http://schemas.microsoft.com/office/drawing/2014/main" id="{AB9A12F2-CD3F-40F8-A4E0-3293882B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76475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PPTX + PDF + notes</a:t>
            </a:r>
          </a:p>
        </p:txBody>
      </p:sp>
      <p:sp>
        <p:nvSpPr>
          <p:cNvPr id="15" name="appendix-cell-2-0">
            <a:extLst xmlns:a="http://schemas.openxmlformats.org/drawingml/2006/main">
              <a:ext uri="{FF2B5EF4-FFF2-40B4-BE49-F238E27FC236}">
                <a16:creationId xmlns:a16="http://schemas.microsoft.com/office/drawing/2014/main" id="{C2941BDE-FD77-4697-898B-0DB6FA8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95600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Zoom review ledger</a:t>
            </a:r>
          </a:p>
        </p:txBody>
      </p:sp>
      <p:sp>
        <p:nvSpPr>
          <p:cNvPr id="16" name="appendix-cell-3-0">
            <a:extLst xmlns:a="http://schemas.openxmlformats.org/drawingml/2006/main">
              <a:ext uri="{FF2B5EF4-FFF2-40B4-BE49-F238E27FC236}">
                <a16:creationId xmlns:a16="http://schemas.microsoft.com/office/drawing/2014/main" id="{AE24CA60-05FC-4C38-859A-F9C45EE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14725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rehearsal</a:t>
            </a:r>
          </a:p>
        </p:txBody>
      </p:sp>
      <p:sp>
        <p:nvSpPr>
          <p:cNvPr id="17" name="appendix-cell-4-0">
            <a:extLst xmlns:a="http://schemas.openxmlformats.org/drawingml/2006/main">
              <a:ext uri="{FF2B5EF4-FFF2-40B4-BE49-F238E27FC236}">
                <a16:creationId xmlns:a16="http://schemas.microsoft.com/office/drawing/2014/main" id="{AAE89590-96D8-448A-AEF7-CBAF76C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33850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 delivery/access</a:t>
            </a:r>
          </a:p>
        </p:txBody>
      </p:sp>
      <p:sp>
        <p:nvSpPr>
          <p:cNvPr id="18" name="appendix-cell-5-0">
            <a:extLst xmlns:a="http://schemas.openxmlformats.org/drawingml/2006/main">
              <a:ext uri="{FF2B5EF4-FFF2-40B4-BE49-F238E27FC236}">
                <a16:creationId xmlns:a16="http://schemas.microsoft.com/office/drawing/2014/main" id="{CD21BA01-D23F-42A2-A3CA-0A163862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52975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Supervisor acceptance</a:t>
            </a:r>
          </a:p>
        </p:txBody>
      </p:sp>
      <p:sp>
        <p:nvSpPr>
          <p:cNvPr id="19" name="appendix-cell-6-0">
            <a:extLst xmlns:a="http://schemas.openxmlformats.org/drawingml/2006/main">
              <a:ext uri="{FF2B5EF4-FFF2-40B4-BE49-F238E27FC236}">
                <a16:creationId xmlns:a16="http://schemas.microsoft.com/office/drawing/2014/main" id="{BF0EDE1C-E67A-45F0-AB37-52CC2668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72100"/>
            <a:ext cx="34480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closure</a:t>
            </a:r>
          </a:p>
        </p:txBody>
      </p:sp>
      <p:sp>
        <p:nvSpPr>
          <p:cNvPr id="20" name="appendix-col-line-1">
            <a:extLst xmlns:a="http://schemas.openxmlformats.org/drawingml/2006/main">
              <a:ext uri="{FF2B5EF4-FFF2-40B4-BE49-F238E27FC236}">
                <a16:creationId xmlns:a16="http://schemas.microsoft.com/office/drawing/2014/main" id="{AE13A0E5-E822-403F-B58D-DD6CFAA1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1" name="appendix-cell-0-1">
            <a:extLst xmlns:a="http://schemas.openxmlformats.org/drawingml/2006/main">
              <a:ext uri="{FF2B5EF4-FFF2-40B4-BE49-F238E27FC236}">
                <a16:creationId xmlns:a16="http://schemas.microsoft.com/office/drawing/2014/main" id="{50FAC3D3-DF42-41FB-8BAB-7EA78AF2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657350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22" name="appendix-cell-1-1">
            <a:extLst xmlns:a="http://schemas.openxmlformats.org/drawingml/2006/main">
              <a:ext uri="{FF2B5EF4-FFF2-40B4-BE49-F238E27FC236}">
                <a16:creationId xmlns:a16="http://schemas.microsoft.com/office/drawing/2014/main" id="{6C186B93-0DC7-41D4-B01F-8E834AA9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76475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Built locally; automated QA passed</a:t>
            </a:r>
          </a:p>
        </p:txBody>
      </p:sp>
      <p:sp>
        <p:nvSpPr>
          <p:cNvPr id="23" name="appendix-cell-2-1">
            <a:extLst xmlns:a="http://schemas.openxmlformats.org/drawingml/2006/main">
              <a:ext uri="{FF2B5EF4-FFF2-40B4-BE49-F238E27FC236}">
                <a16:creationId xmlns:a16="http://schemas.microsoft.com/office/drawing/2014/main" id="{77593A06-6589-43B3-AADE-51A23BE2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95600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1,195 machine-preliminary rows</a:t>
            </a:r>
          </a:p>
        </p:txBody>
      </p:sp>
      <p:sp>
        <p:nvSpPr>
          <p:cNvPr id="24" name="appendix-cell-3-1">
            <a:extLst xmlns:a="http://schemas.openxmlformats.org/drawingml/2006/main">
              <a:ext uri="{FF2B5EF4-FFF2-40B4-BE49-F238E27FC236}">
                <a16:creationId xmlns:a16="http://schemas.microsoft.com/office/drawing/2014/main" id="{C4ED3444-9A67-430B-94F5-D9487964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14725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RUN</a:t>
            </a:r>
          </a:p>
        </p:txBody>
      </p:sp>
      <p:sp>
        <p:nvSpPr>
          <p:cNvPr id="25" name="appendix-cell-4-1">
            <a:extLst xmlns:a="http://schemas.openxmlformats.org/drawingml/2006/main">
              <a:ext uri="{FF2B5EF4-FFF2-40B4-BE49-F238E27FC236}">
                <a16:creationId xmlns:a16="http://schemas.microsoft.com/office/drawing/2014/main" id="{E7201E36-D9A9-49E7-93C8-5AD470E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33850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SHARED / NOT TESTED</a:t>
            </a:r>
          </a:p>
        </p:txBody>
      </p:sp>
      <p:sp>
        <p:nvSpPr>
          <p:cNvPr id="26" name="appendix-cell-5-1">
            <a:extLst xmlns:a="http://schemas.openxmlformats.org/drawingml/2006/main">
              <a:ext uri="{FF2B5EF4-FFF2-40B4-BE49-F238E27FC236}">
                <a16:creationId xmlns:a16="http://schemas.microsoft.com/office/drawing/2014/main" id="{181931BE-5D46-4F9A-B996-6E7127E8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752975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0/19</a:t>
            </a:r>
          </a:p>
        </p:txBody>
      </p:sp>
      <p:sp>
        <p:nvSpPr>
          <p:cNvPr id="27" name="appendix-cell-6-1">
            <a:extLst xmlns:a="http://schemas.openxmlformats.org/drawingml/2006/main">
              <a:ext uri="{FF2B5EF4-FFF2-40B4-BE49-F238E27FC236}">
                <a16:creationId xmlns:a16="http://schemas.microsoft.com/office/drawing/2014/main" id="{DEAD49FE-7441-40D9-944B-947EEAFE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372100"/>
            <a:ext cx="2971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28" name="appendix-col-line-2">
            <a:extLst xmlns:a="http://schemas.openxmlformats.org/drawingml/2006/main">
              <a:ext uri="{FF2B5EF4-FFF2-40B4-BE49-F238E27FC236}">
                <a16:creationId xmlns:a16="http://schemas.microsoft.com/office/drawing/2014/main" id="{2CD136F5-B364-4885-BD25-B813AF00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  <p:sp>
        <p:nvSpPr>
          <p:cNvPr id="29" name="appendix-cell-0-2">
            <a:extLst xmlns:a="http://schemas.openxmlformats.org/drawingml/2006/main">
              <a:ext uri="{FF2B5EF4-FFF2-40B4-BE49-F238E27FC236}">
                <a16:creationId xmlns:a16="http://schemas.microsoft.com/office/drawing/2014/main" id="{73620A3C-F984-4A51-9A20-18A26C83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57350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 condition</a:t>
            </a:r>
          </a:p>
        </p:txBody>
      </p:sp>
      <p:sp>
        <p:nvSpPr>
          <p:cNvPr id="30" name="appendix-cell-1-2">
            <a:extLst xmlns:a="http://schemas.openxmlformats.org/drawingml/2006/main">
              <a:ext uri="{FF2B5EF4-FFF2-40B4-BE49-F238E27FC236}">
                <a16:creationId xmlns:a16="http://schemas.microsoft.com/office/drawing/2014/main" id="{72163DAC-21AA-4E21-A49E-8DD43087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76475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PowerPoint visual, link and claim checks passed</a:t>
            </a:r>
          </a:p>
        </p:txBody>
      </p:sp>
      <p:sp>
        <p:nvSpPr>
          <p:cNvPr id="31" name="appendix-cell-2-2">
            <a:extLst xmlns:a="http://schemas.openxmlformats.org/drawingml/2006/main">
              <a:ext uri="{FF2B5EF4-FFF2-40B4-BE49-F238E27FC236}">
                <a16:creationId xmlns:a16="http://schemas.microsoft.com/office/drawing/2014/main" id="{B9E3C9D1-1C8D-4629-979E-995FD14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95600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reviewers + adjudication</a:t>
            </a:r>
          </a:p>
        </p:txBody>
      </p:sp>
      <p:sp>
        <p:nvSpPr>
          <p:cNvPr id="32" name="appendix-cell-3-2">
            <a:extLst xmlns:a="http://schemas.openxmlformats.org/drawingml/2006/main">
              <a:ext uri="{FF2B5EF4-FFF2-40B4-BE49-F238E27FC236}">
                <a16:creationId xmlns:a16="http://schemas.microsoft.com/office/drawing/2014/main" id="{3C2A1846-8CCD-40C9-9C61-7D4D0AC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14725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Dated human record and corrections</a:t>
            </a:r>
          </a:p>
        </p:txBody>
      </p:sp>
      <p:sp>
        <p:nvSpPr>
          <p:cNvPr id="33" name="appendix-cell-4-2">
            <a:extLst xmlns:a="http://schemas.openxmlformats.org/drawingml/2006/main">
              <a:ext uri="{FF2B5EF4-FFF2-40B4-BE49-F238E27FC236}">
                <a16:creationId xmlns:a16="http://schemas.microsoft.com/office/drawing/2014/main" id="{B66171C7-F975-4EC8-B031-0879140F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133850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 review + two recipient tests</a:t>
            </a:r>
          </a:p>
        </p:txBody>
      </p:sp>
      <p:sp>
        <p:nvSpPr>
          <p:cNvPr id="34" name="appendix-cell-5-2">
            <a:extLst xmlns:a="http://schemas.openxmlformats.org/drawingml/2006/main">
              <a:ext uri="{FF2B5EF4-FFF2-40B4-BE49-F238E27FC236}">
                <a16:creationId xmlns:a16="http://schemas.microsoft.com/office/drawing/2014/main" id="{F667991A-E0B4-43E1-A246-12EF225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752975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dispositions and read-back</a:t>
            </a:r>
          </a:p>
        </p:txBody>
      </p:sp>
      <p:sp>
        <p:nvSpPr>
          <p:cNvPr id="35" name="appendix-cell-6-2">
            <a:extLst xmlns:a="http://schemas.openxmlformats.org/drawingml/2006/main">
              <a:ext uri="{FF2B5EF4-FFF2-40B4-BE49-F238E27FC236}">
                <a16:creationId xmlns:a16="http://schemas.microsoft.com/office/drawing/2014/main" id="{11D4486C-435B-44CC-B356-07354FF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372100"/>
            <a:ext cx="44577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Extraction + implementation + signed acceptance</a:t>
            </a:r>
          </a:p>
        </p:txBody>
      </p:sp>
      <p:sp>
        <p:nvSpPr>
          <p:cNvPr id="36" name="appendix-col-line-3">
            <a:extLst xmlns:a="http://schemas.openxmlformats.org/drawingml/2006/main">
              <a:ext uri="{FF2B5EF4-FFF2-40B4-BE49-F238E27FC236}">
                <a16:creationId xmlns:a16="http://schemas.microsoft.com/office/drawing/2014/main" id="{F45BCD32-4DE1-4369-918E-19E4C93D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16192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0316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2026-08-01T10:06:07.8390000Z</dcterms:created>
  <dcterms:modified xsi:type="dcterms:W3CDTF">2026-08-01T10:06:07.8390000Z</dcterms:modified>
</coreProperties>
</file>